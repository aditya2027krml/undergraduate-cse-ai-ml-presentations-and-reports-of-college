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0"/>
  </p:notesMasterIdLst>
  <p:sldIdLst>
    <p:sldId id="256" r:id="rId2"/>
    <p:sldId id="261" r:id="rId3"/>
    <p:sldId id="262" r:id="rId4"/>
    <p:sldId id="266" r:id="rId5"/>
    <p:sldId id="268" r:id="rId6"/>
    <p:sldId id="264" r:id="rId7"/>
    <p:sldId id="265" r:id="rId8"/>
    <p:sldId id="267" r:id="rId9"/>
  </p:sldIdLst>
  <p:sldSz cx="9144000" cy="5143500" type="screen16x9"/>
  <p:notesSz cx="6858000" cy="9144000"/>
  <p:embeddedFontLst>
    <p:embeddedFont>
      <p:font typeface="Bell MT" pitchFamily="18" charset="0"/>
      <p:regular r:id="rId11"/>
      <p:bold r:id="rId12"/>
      <p:italic r:id="rId13"/>
    </p:embeddedFont>
    <p:embeddedFont>
      <p:font typeface="Libre Baskerville" charset="0"/>
      <p:regular r:id="rId14"/>
      <p:bold r:id="rId15"/>
      <p:italic r:id="rId16"/>
    </p:embeddedFont>
    <p:embeddedFont>
      <p:font typeface="MV Boli" pitchFamily="2" charset="0"/>
      <p:regular r:id="rId17"/>
    </p:embeddedFont>
    <p:embeddedFont>
      <p:font typeface="DM Sans"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BBCAFF8-5E91-4839-BDFC-35487B323E13}">
  <a:tblStyle styleId="{FBBCAFF8-5E91-4839-BDFC-35487B323E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4153231-1AEA-42AA-A113-9BCB8BEE630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9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3116de41c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3116de41c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34950" y="1432275"/>
            <a:ext cx="6330600" cy="16101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000" b="0">
                <a:latin typeface="Libre Baskerville"/>
                <a:ea typeface="Libre Baskerville"/>
                <a:cs typeface="Libre Baskerville"/>
                <a:sym typeface="Libre Baskervill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34950" y="3083025"/>
            <a:ext cx="2472300" cy="71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463650" y="4950"/>
            <a:ext cx="1680500" cy="5143500"/>
            <a:chOff x="7463650" y="4950"/>
            <a:chExt cx="1680500" cy="5143500"/>
          </a:xfrm>
        </p:grpSpPr>
        <p:sp>
          <p:nvSpPr>
            <p:cNvPr id="12" name="Google Shape;12;p2"/>
            <p:cNvSpPr/>
            <p:nvPr/>
          </p:nvSpPr>
          <p:spPr>
            <a:xfrm>
              <a:off x="7463650" y="4950"/>
              <a:ext cx="728700" cy="5143500"/>
            </a:xfrm>
            <a:prstGeom prst="rect">
              <a:avLst/>
            </a:prstGeom>
            <a:gradFill>
              <a:gsLst>
                <a:gs pos="0">
                  <a:schemeClr val="lt1"/>
                </a:gs>
                <a:gs pos="7400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678250" y="4950"/>
              <a:ext cx="465900" cy="5143500"/>
            </a:xfrm>
            <a:prstGeom prst="rect">
              <a:avLst/>
            </a:prstGeom>
            <a:gradFill>
              <a:gsLst>
                <a:gs pos="0">
                  <a:schemeClr val="dk2"/>
                </a:gs>
                <a:gs pos="46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93175"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8192175" y="4950"/>
              <a:ext cx="201000" cy="5143500"/>
            </a:xfrm>
            <a:prstGeom prst="rect">
              <a:avLst/>
            </a:prstGeom>
            <a:gradFill>
              <a:gsLst>
                <a:gs pos="0">
                  <a:schemeClr val="lt1"/>
                </a:gs>
                <a:gs pos="32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flipH="1">
            <a:off x="-25" y="0"/>
            <a:ext cx="65961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2475" y="4840800"/>
            <a:ext cx="9159300" cy="151200"/>
            <a:chOff x="2475" y="4840800"/>
            <a:chExt cx="9159300" cy="151200"/>
          </a:xfrm>
        </p:grpSpPr>
        <p:sp>
          <p:nvSpPr>
            <p:cNvPr id="18" name="Google Shape;18;p2"/>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19;p2"/>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20" name="Google Shape;20;p2"/>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5"/>
        <p:cNvGrpSpPr/>
        <p:nvPr/>
      </p:nvGrpSpPr>
      <p:grpSpPr>
        <a:xfrm>
          <a:off x="0" y="0"/>
          <a:ext cx="0" cy="0"/>
          <a:chOff x="0" y="0"/>
          <a:chExt cx="0" cy="0"/>
        </a:xfrm>
      </p:grpSpPr>
      <p:grpSp>
        <p:nvGrpSpPr>
          <p:cNvPr id="236" name="Google Shape;236;p22"/>
          <p:cNvGrpSpPr/>
          <p:nvPr/>
        </p:nvGrpSpPr>
        <p:grpSpPr>
          <a:xfrm>
            <a:off x="0" y="4950"/>
            <a:ext cx="486000" cy="5143500"/>
            <a:chOff x="0" y="4950"/>
            <a:chExt cx="486000" cy="5143500"/>
          </a:xfrm>
        </p:grpSpPr>
        <p:sp>
          <p:nvSpPr>
            <p:cNvPr id="237" name="Google Shape;237;p22"/>
            <p:cNvSpPr/>
            <p:nvPr/>
          </p:nvSpPr>
          <p:spPr>
            <a:xfrm flipH="1">
              <a:off x="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2"/>
            <p:cNvSpPr/>
            <p:nvPr/>
          </p:nvSpPr>
          <p:spPr>
            <a:xfrm>
              <a:off x="285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 name="Google Shape;23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2"/>
          <p:cNvSpPr txBox="1">
            <a:spLocks noGrp="1"/>
          </p:cNvSpPr>
          <p:nvPr>
            <p:ph type="subTitle" idx="1"/>
          </p:nvPr>
        </p:nvSpPr>
        <p:spPr>
          <a:xfrm>
            <a:off x="4505531"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22"/>
          <p:cNvSpPr txBox="1">
            <a:spLocks noGrp="1"/>
          </p:cNvSpPr>
          <p:nvPr>
            <p:ph type="subTitle" idx="2"/>
          </p:nvPr>
        </p:nvSpPr>
        <p:spPr>
          <a:xfrm>
            <a:off x="713225"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2" name="Google Shape;242;p22"/>
          <p:cNvSpPr/>
          <p:nvPr/>
        </p:nvSpPr>
        <p:spPr>
          <a:xfrm flipH="1">
            <a:off x="8423925" y="-10075"/>
            <a:ext cx="7446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22"/>
          <p:cNvGrpSpPr/>
          <p:nvPr/>
        </p:nvGrpSpPr>
        <p:grpSpPr>
          <a:xfrm>
            <a:off x="-111811" y="4840700"/>
            <a:ext cx="9268661" cy="151200"/>
            <a:chOff x="-111811" y="184025"/>
            <a:chExt cx="9268661" cy="151200"/>
          </a:xfrm>
        </p:grpSpPr>
        <p:cxnSp>
          <p:nvCxnSpPr>
            <p:cNvPr id="244" name="Google Shape;244;p22"/>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245" name="Google Shape;245;p22"/>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6" name="Google Shape;246;p22"/>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54"/>
        <p:cNvGrpSpPr/>
        <p:nvPr/>
      </p:nvGrpSpPr>
      <p:grpSpPr>
        <a:xfrm>
          <a:off x="0" y="0"/>
          <a:ext cx="0" cy="0"/>
          <a:chOff x="0" y="0"/>
          <a:chExt cx="0" cy="0"/>
        </a:xfrm>
      </p:grpSpPr>
      <p:grpSp>
        <p:nvGrpSpPr>
          <p:cNvPr id="455" name="Google Shape;455;p36"/>
          <p:cNvGrpSpPr/>
          <p:nvPr/>
        </p:nvGrpSpPr>
        <p:grpSpPr>
          <a:xfrm>
            <a:off x="8658000" y="4950"/>
            <a:ext cx="486000" cy="5143500"/>
            <a:chOff x="8658000" y="4950"/>
            <a:chExt cx="486000" cy="5143500"/>
          </a:xfrm>
        </p:grpSpPr>
        <p:sp>
          <p:nvSpPr>
            <p:cNvPr id="456" name="Google Shape;456;p36"/>
            <p:cNvSpPr/>
            <p:nvPr/>
          </p:nvSpPr>
          <p:spPr>
            <a:xfrm rot="10800000">
              <a:off x="865800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6"/>
            <p:cNvSpPr/>
            <p:nvPr/>
          </p:nvSpPr>
          <p:spPr>
            <a:xfrm rot="10800000" flipH="1">
              <a:off x="8943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36"/>
          <p:cNvGrpSpPr/>
          <p:nvPr/>
        </p:nvGrpSpPr>
        <p:grpSpPr>
          <a:xfrm>
            <a:off x="-4102" y="4840700"/>
            <a:ext cx="9159300" cy="151200"/>
            <a:chOff x="2475" y="4840800"/>
            <a:chExt cx="9159300" cy="151200"/>
          </a:xfrm>
        </p:grpSpPr>
        <p:sp>
          <p:nvSpPr>
            <p:cNvPr id="459" name="Google Shape;459;p36"/>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0" name="Google Shape;460;p36"/>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461" name="Google Shape;461;p36"/>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
        <p:nvSpPr>
          <p:cNvPr id="462" name="Google Shape;462;p36"/>
          <p:cNvSpPr/>
          <p:nvPr/>
        </p:nvSpPr>
        <p:spPr>
          <a:xfrm flipH="1">
            <a:off x="-100" y="0"/>
            <a:ext cx="16653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3"/>
        <p:cNvGrpSpPr/>
        <p:nvPr/>
      </p:nvGrpSpPr>
      <p:grpSpPr>
        <a:xfrm>
          <a:off x="0" y="0"/>
          <a:ext cx="0" cy="0"/>
          <a:chOff x="0" y="0"/>
          <a:chExt cx="0" cy="0"/>
        </a:xfrm>
      </p:grpSpPr>
      <p:grpSp>
        <p:nvGrpSpPr>
          <p:cNvPr id="464" name="Google Shape;464;p37"/>
          <p:cNvGrpSpPr/>
          <p:nvPr/>
        </p:nvGrpSpPr>
        <p:grpSpPr>
          <a:xfrm>
            <a:off x="0" y="4950"/>
            <a:ext cx="1569900" cy="5143500"/>
            <a:chOff x="0" y="4950"/>
            <a:chExt cx="1569900" cy="5143500"/>
          </a:xfrm>
        </p:grpSpPr>
        <p:sp>
          <p:nvSpPr>
            <p:cNvPr id="465" name="Google Shape;465;p37"/>
            <p:cNvSpPr/>
            <p:nvPr/>
          </p:nvSpPr>
          <p:spPr>
            <a:xfrm flipH="1">
              <a:off x="611700" y="4950"/>
              <a:ext cx="276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887700" y="4950"/>
              <a:ext cx="6822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0" y="4950"/>
              <a:ext cx="611700" cy="5143500"/>
            </a:xfrm>
            <a:prstGeom prst="rect">
              <a:avLst/>
            </a:prstGeom>
            <a:gradFill>
              <a:gsLst>
                <a:gs pos="0">
                  <a:schemeClr val="dk2"/>
                </a:gs>
                <a:gs pos="69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 name="Google Shape;468;p37"/>
          <p:cNvSpPr/>
          <p:nvPr/>
        </p:nvSpPr>
        <p:spPr>
          <a:xfrm flipH="1">
            <a:off x="6280975" y="4604000"/>
            <a:ext cx="28710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37"/>
          <p:cNvGrpSpPr/>
          <p:nvPr/>
        </p:nvGrpSpPr>
        <p:grpSpPr>
          <a:xfrm>
            <a:off x="-111811" y="184025"/>
            <a:ext cx="9268661" cy="151200"/>
            <a:chOff x="-111811" y="184025"/>
            <a:chExt cx="9268661" cy="151200"/>
          </a:xfrm>
        </p:grpSpPr>
        <p:cxnSp>
          <p:nvCxnSpPr>
            <p:cNvPr id="470" name="Google Shape;470;p37"/>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471" name="Google Shape;471;p37"/>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2" name="Google Shape;472;p37"/>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1pPr>
            <a:lvl2pPr lvl="1"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8" r:id="rId3"/>
    <p:sldLayoutId id="2147483682" r:id="rId4"/>
    <p:sldLayoutId id="214748368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supervised-unsupervised-learning/"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javatpoint.com/k-means-clustering-algorithm-in-machine-learnin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4"/>
          <p:cNvSpPr txBox="1">
            <a:spLocks noGrp="1"/>
          </p:cNvSpPr>
          <p:nvPr>
            <p:ph type="ctrTitle"/>
          </p:nvPr>
        </p:nvSpPr>
        <p:spPr>
          <a:xfrm>
            <a:off x="834949" y="665019"/>
            <a:ext cx="6330600" cy="1610100"/>
          </a:xfrm>
          <a:prstGeom prst="rect">
            <a:avLst/>
          </a:prstGeom>
        </p:spPr>
        <p:txBody>
          <a:bodyPr spcFirstLastPara="1" wrap="square" lIns="91425" tIns="91425" rIns="91425" bIns="91425" anchor="b" anchorCtr="0">
            <a:noAutofit/>
          </a:bodyPr>
          <a:lstStyle/>
          <a:p>
            <a:pPr lvl="0"/>
            <a:r>
              <a:rPr lang="en-US" sz="4400" u="sng" dirty="0" smtClean="0">
                <a:latin typeface="Bell MT" pitchFamily="18" charset="0"/>
              </a:rPr>
              <a:t>Exploring Clustering in Pattern Recognition</a:t>
            </a:r>
            <a:endParaRPr sz="4400" u="sng" dirty="0">
              <a:latin typeface="Bell MT" pitchFamily="18" charset="0"/>
            </a:endParaRPr>
          </a:p>
        </p:txBody>
      </p:sp>
      <p:sp>
        <p:nvSpPr>
          <p:cNvPr id="490" name="Google Shape;490;p44"/>
          <p:cNvSpPr txBox="1">
            <a:spLocks noGrp="1"/>
          </p:cNvSpPr>
          <p:nvPr>
            <p:ph type="subTitle" idx="1"/>
          </p:nvPr>
        </p:nvSpPr>
        <p:spPr>
          <a:xfrm>
            <a:off x="834949" y="2883329"/>
            <a:ext cx="3705520" cy="71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smtClean="0">
                <a:latin typeface="MV Boli" pitchFamily="2" charset="0"/>
                <a:cs typeface="MV Boli" pitchFamily="2" charset="0"/>
              </a:rPr>
              <a:t>Presented by</a:t>
            </a:r>
          </a:p>
          <a:p>
            <a:pPr marL="0" lvl="0" indent="0" algn="l" rtl="0">
              <a:spcBef>
                <a:spcPts val="0"/>
              </a:spcBef>
              <a:spcAft>
                <a:spcPts val="0"/>
              </a:spcAft>
              <a:buNone/>
            </a:pPr>
            <a:r>
              <a:rPr lang="en-US" sz="1800" dirty="0" smtClean="0">
                <a:latin typeface="MV Boli" pitchFamily="2" charset="0"/>
                <a:cs typeface="MV Boli" pitchFamily="2" charset="0"/>
              </a:rPr>
              <a:t>Name – Aditya Kumar</a:t>
            </a:r>
          </a:p>
          <a:p>
            <a:pPr marL="0" lvl="0" indent="0" algn="l" rtl="0">
              <a:spcBef>
                <a:spcPts val="0"/>
              </a:spcBef>
              <a:spcAft>
                <a:spcPts val="0"/>
              </a:spcAft>
              <a:buNone/>
            </a:pPr>
            <a:r>
              <a:rPr lang="en-US" sz="1800" dirty="0" smtClean="0">
                <a:latin typeface="MV Boli" pitchFamily="2" charset="0"/>
                <a:cs typeface="MV Boli" pitchFamily="2" charset="0"/>
              </a:rPr>
              <a:t>Roll No. – 34230821034</a:t>
            </a:r>
          </a:p>
          <a:p>
            <a:pPr marL="0" lvl="0" indent="0" algn="l" rtl="0">
              <a:spcBef>
                <a:spcPts val="0"/>
              </a:spcBef>
              <a:spcAft>
                <a:spcPts val="0"/>
              </a:spcAft>
              <a:buNone/>
            </a:pPr>
            <a:r>
              <a:rPr lang="en-US" sz="1800" dirty="0" smtClean="0">
                <a:latin typeface="MV Boli" pitchFamily="2" charset="0"/>
                <a:cs typeface="MV Boli" pitchFamily="2" charset="0"/>
              </a:rPr>
              <a:t>Dept. – CSE(AI &amp; ML)</a:t>
            </a:r>
          </a:p>
          <a:p>
            <a:pPr marL="0" lvl="0" indent="0" algn="l" rtl="0">
              <a:spcBef>
                <a:spcPts val="0"/>
              </a:spcBef>
              <a:spcAft>
                <a:spcPts val="0"/>
              </a:spcAft>
              <a:buNone/>
            </a:pPr>
            <a:r>
              <a:rPr lang="en-US" sz="1800" dirty="0" smtClean="0">
                <a:latin typeface="MV Boli" pitchFamily="2" charset="0"/>
                <a:cs typeface="MV Boli" pitchFamily="2" charset="0"/>
              </a:rPr>
              <a:t>3</a:t>
            </a:r>
            <a:r>
              <a:rPr lang="en-US" sz="1800" baseline="30000" dirty="0" smtClean="0">
                <a:latin typeface="MV Boli" pitchFamily="2" charset="0"/>
                <a:cs typeface="MV Boli" pitchFamily="2" charset="0"/>
              </a:rPr>
              <a:t>rd</a:t>
            </a:r>
            <a:r>
              <a:rPr lang="en-US" sz="1800" dirty="0" smtClean="0">
                <a:latin typeface="MV Boli" pitchFamily="2" charset="0"/>
                <a:cs typeface="MV Boli" pitchFamily="2" charset="0"/>
              </a:rPr>
              <a:t> year (5</a:t>
            </a:r>
            <a:r>
              <a:rPr lang="en-US" sz="1800" baseline="30000" dirty="0" smtClean="0">
                <a:latin typeface="MV Boli" pitchFamily="2" charset="0"/>
                <a:cs typeface="MV Boli" pitchFamily="2" charset="0"/>
              </a:rPr>
              <a:t>th</a:t>
            </a:r>
            <a:r>
              <a:rPr lang="en-US" sz="1800" dirty="0" smtClean="0">
                <a:latin typeface="MV Boli" pitchFamily="2" charset="0"/>
                <a:cs typeface="MV Boli" pitchFamily="2" charset="0"/>
              </a:rPr>
              <a:t> semester)</a:t>
            </a:r>
          </a:p>
          <a:p>
            <a:pPr marL="0" lvl="0" indent="0" algn="l" rtl="0">
              <a:spcBef>
                <a:spcPts val="0"/>
              </a:spcBef>
              <a:spcAft>
                <a:spcPts val="0"/>
              </a:spcAft>
              <a:buNone/>
            </a:pPr>
            <a:r>
              <a:rPr lang="en-US" sz="1800" dirty="0" smtClean="0">
                <a:latin typeface="MV Boli" pitchFamily="2" charset="0"/>
                <a:cs typeface="MV Boli" pitchFamily="2" charset="0"/>
              </a:rPr>
              <a:t>Future Institute of Technology</a:t>
            </a:r>
          </a:p>
          <a:p>
            <a:pPr marL="0" lvl="0" indent="0" algn="l" rtl="0">
              <a:spcBef>
                <a:spcPts val="0"/>
              </a:spcBef>
              <a:spcAft>
                <a:spcPts val="0"/>
              </a:spcAft>
              <a:buNone/>
            </a:pPr>
            <a:endParaRPr sz="1800" dirty="0">
              <a:latin typeface="MV Boli" pitchFamily="2" charset="0"/>
              <a:cs typeface="MV Boli" pitchFamily="2" charset="0"/>
            </a:endParaRPr>
          </a:p>
        </p:txBody>
      </p:sp>
      <p:pic>
        <p:nvPicPr>
          <p:cNvPr id="5" name="Picture 4" descr="images (1).jfif"/>
          <p:cNvPicPr>
            <a:picLocks noChangeAspect="1"/>
          </p:cNvPicPr>
          <p:nvPr/>
        </p:nvPicPr>
        <p:blipFill>
          <a:blip r:embed="rId3"/>
          <a:stretch>
            <a:fillRect/>
          </a:stretch>
        </p:blipFill>
        <p:spPr>
          <a:xfrm>
            <a:off x="5517931" y="3045753"/>
            <a:ext cx="3447393" cy="17899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9"/>
          <p:cNvSpPr txBox="1">
            <a:spLocks noGrp="1"/>
          </p:cNvSpPr>
          <p:nvPr>
            <p:ph type="title"/>
          </p:nvPr>
        </p:nvSpPr>
        <p:spPr>
          <a:xfrm>
            <a:off x="656937" y="220717"/>
            <a:ext cx="7704000" cy="572700"/>
          </a:xfrm>
          <a:prstGeom prst="rect">
            <a:avLst/>
          </a:prstGeom>
        </p:spPr>
        <p:txBody>
          <a:bodyPr spcFirstLastPara="1" wrap="square" lIns="91425" tIns="91425" rIns="91425" bIns="91425" anchor="t" anchorCtr="0">
            <a:noAutofit/>
          </a:bodyPr>
          <a:lstStyle/>
          <a:p>
            <a:pPr lvl="0" algn="ctr"/>
            <a:r>
              <a:rPr lang="en-US" sz="4000" u="sng" dirty="0" smtClean="0">
                <a:latin typeface="Bell MT" pitchFamily="18" charset="0"/>
              </a:rPr>
              <a:t>1. Introduction</a:t>
            </a:r>
            <a:endParaRPr sz="4000" u="sng" dirty="0">
              <a:latin typeface="Bell MT" pitchFamily="18" charset="0"/>
            </a:endParaRPr>
          </a:p>
        </p:txBody>
      </p:sp>
      <p:sp>
        <p:nvSpPr>
          <p:cNvPr id="536" name="Google Shape;536;p49"/>
          <p:cNvSpPr txBox="1">
            <a:spLocks noGrp="1"/>
          </p:cNvSpPr>
          <p:nvPr>
            <p:ph type="subTitle" idx="2"/>
          </p:nvPr>
        </p:nvSpPr>
        <p:spPr>
          <a:xfrm>
            <a:off x="735725" y="1219201"/>
            <a:ext cx="7798676" cy="1996965"/>
          </a:xfrm>
          <a:prstGeom prst="rect">
            <a:avLst/>
          </a:prstGeom>
        </p:spPr>
        <p:txBody>
          <a:bodyPr spcFirstLastPara="1" wrap="square" lIns="91425" tIns="91425" rIns="91425" bIns="91425" anchor="t" anchorCtr="0">
            <a:noAutofit/>
          </a:bodyPr>
          <a:lstStyle/>
          <a:p>
            <a:pPr marL="342900" lvl="0" indent="-342900">
              <a:buFont typeface="Wingdings" pitchFamily="2" charset="2"/>
              <a:buChar char="q"/>
            </a:pPr>
            <a:r>
              <a:rPr lang="en-US" sz="1600" dirty="0" smtClean="0"/>
              <a:t>Pattern recognition is a fundamental concept in machine learning. It involves identifying similarities and dissimilarities among data points.</a:t>
            </a:r>
          </a:p>
          <a:p>
            <a:pPr marL="342900" lvl="0" indent="-342900">
              <a:buFont typeface="Wingdings" pitchFamily="2" charset="2"/>
              <a:buChar char="q"/>
            </a:pPr>
            <a:r>
              <a:rPr lang="en-US" sz="1600" dirty="0" smtClean="0"/>
              <a:t> Clustering is a popular technique used for pattern recognition. It groups data points into clusters based on their similarities.</a:t>
            </a:r>
          </a:p>
          <a:p>
            <a:pPr marL="342900" lvl="0" indent="-342900">
              <a:buFont typeface="Wingdings" pitchFamily="2" charset="2"/>
              <a:buChar char="q"/>
            </a:pPr>
            <a:r>
              <a:rPr lang="en-US" sz="1600" b="1" dirty="0" smtClean="0"/>
              <a:t> </a:t>
            </a:r>
            <a:r>
              <a:rPr lang="en-US" sz="1600" dirty="0" smtClean="0"/>
              <a:t>It is basically a type of </a:t>
            </a:r>
            <a:r>
              <a:rPr lang="en-US" sz="1600" i="1" u="sng" dirty="0" smtClean="0">
                <a:hlinkClick r:id="rId3"/>
              </a:rPr>
              <a:t>unsupervised learning method</a:t>
            </a:r>
            <a:r>
              <a:rPr lang="en-US" sz="1600" dirty="0" smtClean="0"/>
              <a:t>.</a:t>
            </a:r>
          </a:p>
          <a:p>
            <a:pPr marL="342900" lvl="0" indent="-342900">
              <a:buFont typeface="Wingdings" pitchFamily="2" charset="2"/>
              <a:buChar char="q"/>
            </a:pPr>
            <a:r>
              <a:rPr lang="en-US" sz="1600" dirty="0" smtClean="0"/>
              <a:t> An unsupervised learning method is a method in which we draw references from datasets consisting of input data without labeled responses. Generally, it is used as a process to find meaningful structure, explanatory underlying processes, generative features, and groupings inherent in a set of examples. </a:t>
            </a:r>
          </a:p>
          <a:p>
            <a:pPr marL="342900" lvl="0" indent="-342900">
              <a:buFont typeface="Wingdings" pitchFamily="2" charset="2"/>
              <a:buChar char="q"/>
            </a:pPr>
            <a:r>
              <a:rPr lang="en-US" sz="1600" dirty="0" smtClean="0"/>
              <a:t>This presentation explores various clustering algorithms and their applications in pattern recognition.</a:t>
            </a:r>
            <a:endParaRPr sz="1600" dirty="0">
              <a:latin typeface="+mn-lt"/>
            </a:endParaRPr>
          </a:p>
        </p:txBody>
      </p:sp>
      <p:sp>
        <p:nvSpPr>
          <p:cNvPr id="4" name="TextBox 3"/>
          <p:cNvSpPr txBox="1"/>
          <p:nvPr/>
        </p:nvSpPr>
        <p:spPr>
          <a:xfrm>
            <a:off x="5875283" y="4550979"/>
            <a:ext cx="3268717" cy="338554"/>
          </a:xfrm>
          <a:prstGeom prst="rect">
            <a:avLst/>
          </a:prstGeom>
          <a:noFill/>
        </p:spPr>
        <p:txBody>
          <a:bodyPr wrap="square" rtlCol="0">
            <a:spAutoFit/>
          </a:bodyPr>
          <a:lstStyle/>
          <a:p>
            <a:r>
              <a:rPr lang="en-US" sz="1600" dirty="0" smtClean="0">
                <a:latin typeface="MV Boli" pitchFamily="2" charset="0"/>
                <a:cs typeface="MV Boli" pitchFamily="2" charset="0"/>
              </a:rPr>
              <a:t>Aditya Kumar,</a:t>
            </a:r>
            <a:r>
              <a:rPr lang="en-US" dirty="0" smtClean="0">
                <a:latin typeface="MV Boli" pitchFamily="2" charset="0"/>
                <a:cs typeface="MV Boli" pitchFamily="2" charset="0"/>
              </a:rPr>
              <a:t>34230821034</a:t>
            </a:r>
            <a:endParaRPr lang="en-US" sz="1600" dirty="0">
              <a:latin typeface="MV Boli" pitchFamily="2" charset="0"/>
              <a:cs typeface="MV Boli"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407" y="0"/>
            <a:ext cx="7704000" cy="572700"/>
          </a:xfrm>
        </p:spPr>
        <p:txBody>
          <a:bodyPr/>
          <a:lstStyle/>
          <a:p>
            <a:pPr algn="ctr"/>
            <a:r>
              <a:rPr lang="en-US" sz="3600" u="sng" dirty="0" smtClean="0">
                <a:latin typeface="Bell MT" pitchFamily="18" charset="0"/>
              </a:rPr>
              <a:t>2. </a:t>
            </a:r>
            <a:r>
              <a:rPr lang="en-US" sz="3600" u="sng" dirty="0" smtClean="0">
                <a:latin typeface="Bell MT" pitchFamily="18" charset="0"/>
              </a:rPr>
              <a:t>Overview of Clustering</a:t>
            </a:r>
            <a:r>
              <a:rPr lang="en-US" sz="3600" u="sng" dirty="0" smtClean="0">
                <a:latin typeface="Bell MT" pitchFamily="18" charset="0"/>
              </a:rPr>
              <a:t/>
            </a:r>
            <a:br>
              <a:rPr lang="en-US" sz="3600" u="sng" dirty="0" smtClean="0">
                <a:latin typeface="Bell MT" pitchFamily="18" charset="0"/>
              </a:rPr>
            </a:br>
            <a:endParaRPr lang="en-US" sz="3600" u="sng" dirty="0">
              <a:latin typeface="Bell MT" pitchFamily="18" charset="0"/>
            </a:endParaRPr>
          </a:p>
        </p:txBody>
      </p:sp>
      <p:sp>
        <p:nvSpPr>
          <p:cNvPr id="4" name="Subtitle 3"/>
          <p:cNvSpPr>
            <a:spLocks noGrp="1"/>
          </p:cNvSpPr>
          <p:nvPr>
            <p:ph type="subTitle" idx="2"/>
          </p:nvPr>
        </p:nvSpPr>
        <p:spPr>
          <a:xfrm>
            <a:off x="136634" y="687114"/>
            <a:ext cx="9007366" cy="868417"/>
          </a:xfrm>
        </p:spPr>
        <p:txBody>
          <a:bodyPr/>
          <a:lstStyle/>
          <a:p>
            <a:r>
              <a:rPr lang="en-US" sz="1400" dirty="0" smtClean="0"/>
              <a:t>       Clustering </a:t>
            </a:r>
            <a:r>
              <a:rPr lang="en-US" sz="1400" dirty="0" smtClean="0"/>
              <a:t>is a unsupervised learning technique that aims to discover hidden patterns in data. It groups similar data points together and assigns them to clusters. The goal is to maximize intracluster similarity and minimize intercluster similarity..</a:t>
            </a:r>
            <a:endParaRPr lang="en-US" sz="1400" dirty="0">
              <a:latin typeface="+mn-lt"/>
            </a:endParaRPr>
          </a:p>
        </p:txBody>
      </p:sp>
      <p:sp>
        <p:nvSpPr>
          <p:cNvPr id="6" name="TextBox 5"/>
          <p:cNvSpPr txBox="1"/>
          <p:nvPr/>
        </p:nvSpPr>
        <p:spPr>
          <a:xfrm>
            <a:off x="6400800" y="4575941"/>
            <a:ext cx="2743200" cy="307777"/>
          </a:xfrm>
          <a:prstGeom prst="rect">
            <a:avLst/>
          </a:prstGeom>
          <a:noFill/>
        </p:spPr>
        <p:txBody>
          <a:bodyPr wrap="square" rtlCol="0">
            <a:spAutoFit/>
          </a:bodyPr>
          <a:lstStyle/>
          <a:p>
            <a:r>
              <a:rPr lang="en-US" dirty="0" smtClean="0">
                <a:latin typeface="MV Boli" pitchFamily="2" charset="0"/>
                <a:cs typeface="MV Boli" pitchFamily="2" charset="0"/>
              </a:rPr>
              <a:t>Aditya </a:t>
            </a:r>
            <a:r>
              <a:rPr lang="en-US" dirty="0" smtClean="0">
                <a:latin typeface="MV Boli" pitchFamily="2" charset="0"/>
                <a:cs typeface="MV Boli" pitchFamily="2" charset="0"/>
              </a:rPr>
              <a:t>Kumar,34230821034</a:t>
            </a:r>
            <a:endParaRPr lang="en-US" dirty="0">
              <a:latin typeface="MV Boli" pitchFamily="2" charset="0"/>
              <a:cs typeface="MV Boli" pitchFamily="2" charset="0"/>
            </a:endParaRPr>
          </a:p>
        </p:txBody>
      </p:sp>
      <p:sp>
        <p:nvSpPr>
          <p:cNvPr id="7" name="TextBox 6"/>
          <p:cNvSpPr txBox="1"/>
          <p:nvPr/>
        </p:nvSpPr>
        <p:spPr>
          <a:xfrm>
            <a:off x="536028" y="1439919"/>
            <a:ext cx="5623034" cy="523220"/>
          </a:xfrm>
          <a:prstGeom prst="rect">
            <a:avLst/>
          </a:prstGeom>
          <a:noFill/>
        </p:spPr>
        <p:txBody>
          <a:bodyPr wrap="square" rtlCol="0">
            <a:spAutoFit/>
          </a:bodyPr>
          <a:lstStyle/>
          <a:p>
            <a:pPr>
              <a:buFont typeface="Wingdings" pitchFamily="2" charset="2"/>
              <a:buChar char="Ø"/>
            </a:pPr>
            <a:r>
              <a:rPr lang="en-US" sz="2800" u="sng" dirty="0" smtClean="0">
                <a:latin typeface="Bell MT" pitchFamily="18" charset="0"/>
              </a:rPr>
              <a:t>Types </a:t>
            </a:r>
            <a:r>
              <a:rPr lang="en-US" sz="2800" u="sng" dirty="0" smtClean="0">
                <a:latin typeface="Bell MT" pitchFamily="18" charset="0"/>
              </a:rPr>
              <a:t>of Clustering Methods</a:t>
            </a:r>
            <a:endParaRPr lang="en-US" sz="2800" u="sng" dirty="0">
              <a:latin typeface="Bell MT" pitchFamily="18" charset="0"/>
            </a:endParaRPr>
          </a:p>
        </p:txBody>
      </p:sp>
      <p:sp>
        <p:nvSpPr>
          <p:cNvPr id="9" name="TextBox 8"/>
          <p:cNvSpPr txBox="1"/>
          <p:nvPr/>
        </p:nvSpPr>
        <p:spPr>
          <a:xfrm>
            <a:off x="599090" y="1923392"/>
            <a:ext cx="8544910" cy="1661993"/>
          </a:xfrm>
          <a:prstGeom prst="rect">
            <a:avLst/>
          </a:prstGeom>
          <a:noFill/>
        </p:spPr>
        <p:txBody>
          <a:bodyPr wrap="square" rtlCol="0">
            <a:spAutoFit/>
          </a:bodyPr>
          <a:lstStyle/>
          <a:p>
            <a:r>
              <a:rPr lang="en-US" sz="1800" u="sng" dirty="0" smtClean="0">
                <a:latin typeface="Bell MT" pitchFamily="18" charset="0"/>
              </a:rPr>
              <a:t>1.Partitioning Clustering-It </a:t>
            </a:r>
            <a:r>
              <a:rPr lang="en-US" dirty="0" smtClean="0"/>
              <a:t>is a type of clustering that divides the data into non-hierarchical groups. It is also known as the centroid-based method. The most common example of partitioning clustering is the </a:t>
            </a:r>
            <a:r>
              <a:rPr lang="en-US" dirty="0" smtClean="0">
                <a:hlinkClick r:id="rId2"/>
              </a:rPr>
              <a:t>K-Means Clustering algorithm</a:t>
            </a:r>
            <a:r>
              <a:rPr lang="en-US" dirty="0" smtClean="0"/>
              <a:t>.</a:t>
            </a:r>
          </a:p>
          <a:p>
            <a:r>
              <a:rPr lang="en-US" dirty="0" smtClean="0"/>
              <a:t>In this type, the dataset is divided into a set of k groups, where K is used to define the number of pre-defined groups. The cluster center is created in such a way that the distance between the data points of one cluster is minimum as compared to another cluster centroid.</a:t>
            </a:r>
          </a:p>
          <a:p>
            <a:endParaRPr lang="en-US" dirty="0"/>
          </a:p>
        </p:txBody>
      </p:sp>
      <p:pic>
        <p:nvPicPr>
          <p:cNvPr id="11" name="Picture 10" descr="clustering-in-machine-learning2.png"/>
          <p:cNvPicPr>
            <a:picLocks noChangeAspect="1"/>
          </p:cNvPicPr>
          <p:nvPr/>
        </p:nvPicPr>
        <p:blipFill>
          <a:blip r:embed="rId3"/>
          <a:stretch>
            <a:fillRect/>
          </a:stretch>
        </p:blipFill>
        <p:spPr>
          <a:xfrm>
            <a:off x="3234559" y="3258208"/>
            <a:ext cx="2514600" cy="16225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008" y="0"/>
            <a:ext cx="6632026" cy="1650124"/>
          </a:xfrm>
        </p:spPr>
        <p:txBody>
          <a:bodyPr/>
          <a:lstStyle/>
          <a:p>
            <a:r>
              <a:rPr lang="en-US" sz="1800" u="sng" dirty="0" smtClean="0">
                <a:latin typeface="Bell MT" pitchFamily="18" charset="0"/>
              </a:rPr>
              <a:t>2. </a:t>
            </a:r>
            <a:r>
              <a:rPr lang="en-US" sz="1800" b="1" u="sng" dirty="0" smtClean="0">
                <a:latin typeface="Bell MT" pitchFamily="18" charset="0"/>
              </a:rPr>
              <a:t>Density-Based Clustering - </a:t>
            </a:r>
            <a:r>
              <a:rPr lang="en-US" sz="1400" dirty="0" smtClean="0">
                <a:latin typeface="+mn-lt"/>
              </a:rPr>
              <a:t>The density-based clustering method connects the highly-dense areas into clusters, and the arbitrarily shaped distributions are formed as long as the dense region can be connected. This algorithm does it by identifying different clusters in the dataset and connects the areas of high densities into clusters. The dense areas in data space are divided from each other by sparser areas.</a:t>
            </a:r>
            <a:br>
              <a:rPr lang="en-US" sz="1400" dirty="0" smtClean="0">
                <a:latin typeface="+mn-lt"/>
              </a:rPr>
            </a:br>
            <a:r>
              <a:rPr lang="en-US" sz="1400" dirty="0" smtClean="0">
                <a:latin typeface="+mn-lt"/>
              </a:rPr>
              <a:t>These algorithms can face difficulty in clustering the data points if the dataset has varying densities and high dimensions.</a:t>
            </a:r>
            <a:r>
              <a:rPr lang="en-US" sz="1800" dirty="0" smtClean="0"/>
              <a:t/>
            </a:r>
            <a:br>
              <a:rPr lang="en-US" sz="1800" dirty="0" smtClean="0"/>
            </a:br>
            <a:r>
              <a:rPr lang="en-US" sz="1800" u="sng" dirty="0" smtClean="0">
                <a:latin typeface="Bell MT" pitchFamily="18" charset="0"/>
              </a:rPr>
              <a:t>  </a:t>
            </a:r>
            <a:br>
              <a:rPr lang="en-US" sz="1800" u="sng" dirty="0" smtClean="0">
                <a:latin typeface="Bell MT" pitchFamily="18" charset="0"/>
              </a:rPr>
            </a:br>
            <a:endParaRPr lang="en-US" sz="1800" u="sng" dirty="0">
              <a:latin typeface="Bell MT" pitchFamily="18" charset="0"/>
            </a:endParaRPr>
          </a:p>
        </p:txBody>
      </p:sp>
      <p:sp>
        <p:nvSpPr>
          <p:cNvPr id="4" name="Subtitle 3"/>
          <p:cNvSpPr>
            <a:spLocks noGrp="1"/>
          </p:cNvSpPr>
          <p:nvPr>
            <p:ph type="subTitle" idx="2"/>
          </p:nvPr>
        </p:nvSpPr>
        <p:spPr>
          <a:xfrm>
            <a:off x="271788" y="2000909"/>
            <a:ext cx="6118502" cy="2129658"/>
          </a:xfrm>
        </p:spPr>
        <p:txBody>
          <a:bodyPr/>
          <a:lstStyle/>
          <a:p>
            <a:r>
              <a:rPr lang="en-US" sz="1800" b="1" u="sng" dirty="0" smtClean="0">
                <a:latin typeface="Bell MT" pitchFamily="18" charset="0"/>
              </a:rPr>
              <a:t>3. Hierarchical Clustering - </a:t>
            </a:r>
            <a:r>
              <a:rPr lang="en-US" sz="1400" dirty="0" smtClean="0">
                <a:latin typeface="+mn-lt"/>
              </a:rPr>
              <a:t>Hierarchical clustering can be used as an alternative for the partitioned clustering as there is no requirement of pre-specifying the number of clusters to be created. In this technique, the dataset is divided into clusters to create a tree-like structure, which is also called a </a:t>
            </a:r>
            <a:r>
              <a:rPr lang="en-US" sz="1400" b="1" dirty="0" smtClean="0">
                <a:latin typeface="+mn-lt"/>
              </a:rPr>
              <a:t>dendrogram</a:t>
            </a:r>
            <a:r>
              <a:rPr lang="en-US" sz="1400" dirty="0" smtClean="0">
                <a:latin typeface="+mn-lt"/>
              </a:rPr>
              <a:t>. The observations or any number of clusters can be selected by cutting the tree at the correct level. The most common example of this method is the </a:t>
            </a:r>
            <a:r>
              <a:rPr lang="en-US" sz="1400" b="1" dirty="0" smtClean="0">
                <a:latin typeface="+mn-lt"/>
              </a:rPr>
              <a:t>Agglomerative Hierarchical algorithm</a:t>
            </a:r>
            <a:r>
              <a:rPr lang="en-US" sz="1800" dirty="0" smtClean="0"/>
              <a:t>.</a:t>
            </a:r>
            <a:endParaRPr lang="en-US" sz="1800" b="1" u="sng" dirty="0" smtClean="0">
              <a:latin typeface="Bell MT" pitchFamily="18" charset="0"/>
            </a:endParaRPr>
          </a:p>
          <a:p>
            <a:endParaRPr lang="en-US" sz="1600" dirty="0">
              <a:latin typeface="+mn-lt"/>
            </a:endParaRPr>
          </a:p>
        </p:txBody>
      </p:sp>
      <p:sp>
        <p:nvSpPr>
          <p:cNvPr id="14" name="TextBox 13"/>
          <p:cNvSpPr txBox="1"/>
          <p:nvPr/>
        </p:nvSpPr>
        <p:spPr>
          <a:xfrm>
            <a:off x="6316716" y="4572000"/>
            <a:ext cx="2827284" cy="307777"/>
          </a:xfrm>
          <a:prstGeom prst="rect">
            <a:avLst/>
          </a:prstGeom>
          <a:noFill/>
        </p:spPr>
        <p:txBody>
          <a:bodyPr wrap="square" rtlCol="0">
            <a:spAutoFit/>
          </a:bodyPr>
          <a:lstStyle/>
          <a:p>
            <a:r>
              <a:rPr lang="en-US" dirty="0" smtClean="0">
                <a:latin typeface="MV Boli" pitchFamily="2" charset="0"/>
                <a:cs typeface="MV Boli" pitchFamily="2" charset="0"/>
              </a:rPr>
              <a:t>Aditya </a:t>
            </a:r>
            <a:r>
              <a:rPr lang="en-US" dirty="0" smtClean="0">
                <a:latin typeface="MV Boli" pitchFamily="2" charset="0"/>
                <a:cs typeface="MV Boli" pitchFamily="2" charset="0"/>
              </a:rPr>
              <a:t>Kumar,34230821034</a:t>
            </a:r>
            <a:endParaRPr lang="en-US" dirty="0">
              <a:latin typeface="MV Boli" pitchFamily="2" charset="0"/>
              <a:cs typeface="MV Boli" pitchFamily="2" charset="0"/>
            </a:endParaRPr>
          </a:p>
        </p:txBody>
      </p:sp>
      <p:pic>
        <p:nvPicPr>
          <p:cNvPr id="15" name="Picture 14" descr="clustering-in-machine-learning3.png"/>
          <p:cNvPicPr>
            <a:picLocks noChangeAspect="1"/>
          </p:cNvPicPr>
          <p:nvPr/>
        </p:nvPicPr>
        <p:blipFill>
          <a:blip r:embed="rId2"/>
          <a:stretch>
            <a:fillRect/>
          </a:stretch>
        </p:blipFill>
        <p:spPr>
          <a:xfrm>
            <a:off x="7336221" y="567558"/>
            <a:ext cx="1608083" cy="1324303"/>
          </a:xfrm>
          <a:prstGeom prst="rect">
            <a:avLst/>
          </a:prstGeom>
        </p:spPr>
      </p:pic>
      <p:pic>
        <p:nvPicPr>
          <p:cNvPr id="16" name="Picture 15" descr="clustering-in-machine-learning5.png"/>
          <p:cNvPicPr>
            <a:picLocks noChangeAspect="1"/>
          </p:cNvPicPr>
          <p:nvPr/>
        </p:nvPicPr>
        <p:blipFill>
          <a:blip r:embed="rId3"/>
          <a:stretch>
            <a:fillRect/>
          </a:stretch>
        </p:blipFill>
        <p:spPr>
          <a:xfrm>
            <a:off x="6526925" y="2217682"/>
            <a:ext cx="2617076" cy="2301765"/>
          </a:xfrm>
          <a:prstGeom prst="rect">
            <a:avLst/>
          </a:prstGeom>
        </p:spPr>
      </p:pic>
      <p:sp>
        <p:nvSpPr>
          <p:cNvPr id="17" name="TextBox 16"/>
          <p:cNvSpPr txBox="1"/>
          <p:nvPr/>
        </p:nvSpPr>
        <p:spPr>
          <a:xfrm>
            <a:off x="714703" y="4204138"/>
            <a:ext cx="4687613" cy="738664"/>
          </a:xfrm>
          <a:prstGeom prst="rect">
            <a:avLst/>
          </a:prstGeom>
          <a:noFill/>
        </p:spPr>
        <p:txBody>
          <a:bodyPr wrap="square" rtlCol="0">
            <a:spAutoFit/>
          </a:bodyPr>
          <a:lstStyle/>
          <a:p>
            <a:r>
              <a:rPr lang="en-US" dirty="0" smtClean="0"/>
              <a:t>T</a:t>
            </a:r>
            <a:r>
              <a:rPr lang="en-US" dirty="0" smtClean="0"/>
              <a:t>here are also other various approaches of clustering  exists such as fuzzy clustering, distribution model based clustering, etc.</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531" y="0"/>
            <a:ext cx="7704000" cy="572700"/>
          </a:xfrm>
        </p:spPr>
        <p:txBody>
          <a:bodyPr/>
          <a:lstStyle/>
          <a:p>
            <a:r>
              <a:rPr lang="en-US" sz="3600" u="sng" dirty="0" smtClean="0">
                <a:latin typeface="Bell MT" pitchFamily="18" charset="0"/>
              </a:rPr>
              <a:t>3. Clustering </a:t>
            </a:r>
            <a:r>
              <a:rPr lang="en-US" sz="3600" u="sng" dirty="0" smtClean="0">
                <a:latin typeface="Bell MT" pitchFamily="18" charset="0"/>
              </a:rPr>
              <a:t>Algorithms</a:t>
            </a:r>
            <a:endParaRPr lang="en-US" sz="3600" u="sng" dirty="0">
              <a:latin typeface="Bell MT" pitchFamily="18" charset="0"/>
            </a:endParaRPr>
          </a:p>
        </p:txBody>
      </p:sp>
      <p:sp>
        <p:nvSpPr>
          <p:cNvPr id="4" name="Subtitle 3"/>
          <p:cNvSpPr>
            <a:spLocks noGrp="1"/>
          </p:cNvSpPr>
          <p:nvPr>
            <p:ph type="subTitle" idx="2"/>
          </p:nvPr>
        </p:nvSpPr>
        <p:spPr>
          <a:xfrm>
            <a:off x="1" y="746235"/>
            <a:ext cx="9144000" cy="987972"/>
          </a:xfrm>
        </p:spPr>
        <p:txBody>
          <a:bodyPr/>
          <a:lstStyle/>
          <a:p>
            <a:r>
              <a:rPr lang="en-US" dirty="0" smtClean="0"/>
              <a:t>        The </a:t>
            </a:r>
            <a:r>
              <a:rPr lang="en-US" dirty="0" smtClean="0"/>
              <a:t>Clustering algorithms can be divided based on their models that are explained above. There are different types of clustering algorithms published, but only a few are commonly used. The clustering algorithm is based on the kind of data that we are using. Such as, some algorithms need to guess the number of clusters in the given dataset, whereas some are required to find the minimum distance between the observation of the dataset.</a:t>
            </a:r>
            <a:endParaRPr lang="en-US" dirty="0"/>
          </a:p>
        </p:txBody>
      </p:sp>
      <p:sp>
        <p:nvSpPr>
          <p:cNvPr id="5" name="TextBox 4"/>
          <p:cNvSpPr txBox="1"/>
          <p:nvPr/>
        </p:nvSpPr>
        <p:spPr>
          <a:xfrm>
            <a:off x="504495" y="1692166"/>
            <a:ext cx="6285187" cy="861774"/>
          </a:xfrm>
          <a:prstGeom prst="rect">
            <a:avLst/>
          </a:prstGeom>
          <a:noFill/>
        </p:spPr>
        <p:txBody>
          <a:bodyPr wrap="square" rtlCol="0">
            <a:spAutoFit/>
          </a:bodyPr>
          <a:lstStyle/>
          <a:p>
            <a:pPr marL="342900" indent="-342900"/>
            <a:r>
              <a:rPr lang="en-US" b="1" u="sng" dirty="0" smtClean="0">
                <a:latin typeface="Bell MT" pitchFamily="18" charset="0"/>
              </a:rPr>
              <a:t>1. K-means Clustering - </a:t>
            </a:r>
            <a:r>
              <a:rPr lang="en-US" sz="1200" dirty="0" smtClean="0"/>
              <a:t>K-means is a popular clustering algorithm. It partitions </a:t>
            </a:r>
            <a:r>
              <a:rPr lang="en-US" sz="1200" dirty="0" smtClean="0"/>
              <a:t>data</a:t>
            </a:r>
          </a:p>
          <a:p>
            <a:pPr marL="342900" indent="-342900"/>
            <a:r>
              <a:rPr lang="en-US" sz="1200" dirty="0" smtClean="0"/>
              <a:t>into </a:t>
            </a:r>
            <a:r>
              <a:rPr lang="en-US" sz="1200" dirty="0" smtClean="0"/>
              <a:t>K clusters by minimizing the sum of squared distances between data points and </a:t>
            </a:r>
            <a:r>
              <a:rPr lang="en-US" sz="1200" dirty="0" smtClean="0"/>
              <a:t>their</a:t>
            </a:r>
          </a:p>
          <a:p>
            <a:pPr marL="342900" indent="-342900"/>
            <a:r>
              <a:rPr lang="en-US" sz="1200" dirty="0" smtClean="0"/>
              <a:t>cluster </a:t>
            </a:r>
            <a:r>
              <a:rPr lang="en-US" sz="1200" dirty="0" smtClean="0"/>
              <a:t>centroids. The algorithm iteratively updates the centroids until </a:t>
            </a:r>
            <a:r>
              <a:rPr lang="en-US" sz="1200" dirty="0" smtClean="0"/>
              <a:t>convergence.</a:t>
            </a:r>
          </a:p>
          <a:p>
            <a:pPr marL="342900" indent="-342900"/>
            <a:r>
              <a:rPr lang="en-US" sz="1200" dirty="0" smtClean="0"/>
              <a:t>However</a:t>
            </a:r>
            <a:r>
              <a:rPr lang="en-US" sz="1200" dirty="0" smtClean="0"/>
              <a:t>, it requires specifying the number of clusters K in </a:t>
            </a:r>
            <a:r>
              <a:rPr lang="en-US" sz="1200" dirty="0" smtClean="0"/>
              <a:t>advance.</a:t>
            </a:r>
            <a:r>
              <a:rPr lang="en-US" sz="1200" b="1" u="sng" dirty="0" smtClean="0">
                <a:latin typeface="Bell MT" pitchFamily="18" charset="0"/>
              </a:rPr>
              <a:t> </a:t>
            </a:r>
            <a:endParaRPr lang="en-US" sz="1200" b="1" u="sng" dirty="0">
              <a:latin typeface="Bell MT" pitchFamily="18" charset="0"/>
            </a:endParaRPr>
          </a:p>
        </p:txBody>
      </p:sp>
      <p:pic>
        <p:nvPicPr>
          <p:cNvPr id="6" name="Picture 5" descr="download.png"/>
          <p:cNvPicPr>
            <a:picLocks noChangeAspect="1"/>
          </p:cNvPicPr>
          <p:nvPr/>
        </p:nvPicPr>
        <p:blipFill>
          <a:blip r:embed="rId2"/>
          <a:stretch>
            <a:fillRect/>
          </a:stretch>
        </p:blipFill>
        <p:spPr>
          <a:xfrm>
            <a:off x="6821213" y="1635837"/>
            <a:ext cx="2123090" cy="1044302"/>
          </a:xfrm>
          <a:prstGeom prst="rect">
            <a:avLst/>
          </a:prstGeom>
        </p:spPr>
      </p:pic>
      <p:sp>
        <p:nvSpPr>
          <p:cNvPr id="7" name="TextBox 6"/>
          <p:cNvSpPr txBox="1"/>
          <p:nvPr/>
        </p:nvSpPr>
        <p:spPr>
          <a:xfrm>
            <a:off x="515007" y="2648607"/>
            <a:ext cx="5559972" cy="1046440"/>
          </a:xfrm>
          <a:prstGeom prst="rect">
            <a:avLst/>
          </a:prstGeom>
          <a:noFill/>
        </p:spPr>
        <p:txBody>
          <a:bodyPr wrap="square" rtlCol="0">
            <a:spAutoFit/>
          </a:bodyPr>
          <a:lstStyle/>
          <a:p>
            <a:r>
              <a:rPr lang="en-US" b="1" u="sng" dirty="0" smtClean="0">
                <a:latin typeface="Bell MT" pitchFamily="18" charset="0"/>
              </a:rPr>
              <a:t>2. DBSCAN</a:t>
            </a:r>
            <a:r>
              <a:rPr lang="en-US" dirty="0" smtClean="0"/>
              <a:t> </a:t>
            </a:r>
            <a:r>
              <a:rPr lang="en-US" sz="1200" dirty="0" smtClean="0"/>
              <a:t>- DBSCAN (Density-Based Spatial Clustering of Applications with Noise) is a density-based clustering algorithm. It groups data points based on their density and connectivity. It can discover clusters of arbitrary shapes and handle noisy data. DBSCAN defines three types of data points: core points, border points, and noise points</a:t>
            </a:r>
            <a:endParaRPr lang="en-US" sz="1200" dirty="0"/>
          </a:p>
        </p:txBody>
      </p:sp>
      <p:sp>
        <p:nvSpPr>
          <p:cNvPr id="8" name="TextBox 7"/>
          <p:cNvSpPr txBox="1"/>
          <p:nvPr/>
        </p:nvSpPr>
        <p:spPr>
          <a:xfrm>
            <a:off x="504497" y="3783726"/>
            <a:ext cx="5549462" cy="1023357"/>
          </a:xfrm>
          <a:prstGeom prst="rect">
            <a:avLst/>
          </a:prstGeom>
          <a:noFill/>
        </p:spPr>
        <p:txBody>
          <a:bodyPr wrap="square" rtlCol="0">
            <a:spAutoFit/>
          </a:bodyPr>
          <a:lstStyle/>
          <a:p>
            <a:r>
              <a:rPr lang="en-US" b="1" u="sng" dirty="0" smtClean="0">
                <a:latin typeface="Bell MT" pitchFamily="18" charset="0"/>
              </a:rPr>
              <a:t>3. Mean-shift </a:t>
            </a:r>
            <a:r>
              <a:rPr lang="en-US" b="1" u="sng" dirty="0" smtClean="0">
                <a:latin typeface="Bell MT" pitchFamily="18" charset="0"/>
              </a:rPr>
              <a:t>algorithm:</a:t>
            </a:r>
            <a:r>
              <a:rPr lang="en-US" sz="1200" u="sng" dirty="0" smtClean="0">
                <a:latin typeface="Bell MT" pitchFamily="18" charset="0"/>
              </a:rPr>
              <a:t> </a:t>
            </a:r>
            <a:r>
              <a:rPr lang="en-US" sz="1200" dirty="0" smtClean="0">
                <a:latin typeface="+mn-lt"/>
              </a:rPr>
              <a:t>Mean-shift algorithm tries to find the dense areas in the smooth density of data points. It is an example of a centroid-based model, that works on updating the candidates for centroid to be the center of the points within a given region.</a:t>
            </a:r>
          </a:p>
          <a:p>
            <a:endParaRPr lang="en-US" sz="1050" dirty="0"/>
          </a:p>
        </p:txBody>
      </p:sp>
      <p:pic>
        <p:nvPicPr>
          <p:cNvPr id="9" name="Picture 8" descr="download.jfif"/>
          <p:cNvPicPr>
            <a:picLocks noChangeAspect="1"/>
          </p:cNvPicPr>
          <p:nvPr/>
        </p:nvPicPr>
        <p:blipFill>
          <a:blip r:embed="rId3"/>
          <a:stretch>
            <a:fillRect/>
          </a:stretch>
        </p:blipFill>
        <p:spPr>
          <a:xfrm>
            <a:off x="6589986" y="2680138"/>
            <a:ext cx="2301766" cy="1019504"/>
          </a:xfrm>
          <a:prstGeom prst="rect">
            <a:avLst/>
          </a:prstGeom>
        </p:spPr>
      </p:pic>
      <p:pic>
        <p:nvPicPr>
          <p:cNvPr id="10" name="Picture 9" descr="download (1).png"/>
          <p:cNvPicPr>
            <a:picLocks noChangeAspect="1"/>
          </p:cNvPicPr>
          <p:nvPr/>
        </p:nvPicPr>
        <p:blipFill>
          <a:blip r:embed="rId4"/>
          <a:stretch>
            <a:fillRect/>
          </a:stretch>
        </p:blipFill>
        <p:spPr>
          <a:xfrm>
            <a:off x="6589986" y="3773214"/>
            <a:ext cx="2427890" cy="1082141"/>
          </a:xfrm>
          <a:prstGeom prst="rect">
            <a:avLst/>
          </a:prstGeom>
        </p:spPr>
      </p:pic>
      <p:sp>
        <p:nvSpPr>
          <p:cNvPr id="11" name="TextBox 10"/>
          <p:cNvSpPr txBox="1"/>
          <p:nvPr/>
        </p:nvSpPr>
        <p:spPr>
          <a:xfrm>
            <a:off x="2511972" y="4708634"/>
            <a:ext cx="3342291" cy="307777"/>
          </a:xfrm>
          <a:prstGeom prst="rect">
            <a:avLst/>
          </a:prstGeom>
          <a:noFill/>
        </p:spPr>
        <p:txBody>
          <a:bodyPr wrap="square" rtlCol="0">
            <a:spAutoFit/>
          </a:bodyPr>
          <a:lstStyle/>
          <a:p>
            <a:r>
              <a:rPr lang="en-US" dirty="0" smtClean="0">
                <a:latin typeface="MV Boli" pitchFamily="2" charset="0"/>
                <a:cs typeface="MV Boli" pitchFamily="2" charset="0"/>
              </a:rPr>
              <a:t>ADITYA KUMAR, 34230821034</a:t>
            </a:r>
            <a:endParaRPr lang="en-US" dirty="0">
              <a:latin typeface="MV Boli" pitchFamily="2" charset="0"/>
              <a:cs typeface="MV Boli"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980" y="0"/>
            <a:ext cx="7704000" cy="572700"/>
          </a:xfrm>
        </p:spPr>
        <p:txBody>
          <a:bodyPr/>
          <a:lstStyle/>
          <a:p>
            <a:r>
              <a:rPr lang="en-US" sz="4000" u="sng" dirty="0" smtClean="0">
                <a:latin typeface="Bell MT" pitchFamily="18" charset="0"/>
              </a:rPr>
              <a:t>4</a:t>
            </a:r>
            <a:r>
              <a:rPr lang="en-US" sz="4000" u="sng" dirty="0" smtClean="0">
                <a:latin typeface="Bell MT" pitchFamily="18" charset="0"/>
              </a:rPr>
              <a:t>.Real Life Example of Clustering</a:t>
            </a:r>
            <a:endParaRPr lang="en-US" sz="4000" u="sng" dirty="0">
              <a:latin typeface="Bell MT" pitchFamily="18" charset="0"/>
            </a:endParaRPr>
          </a:p>
        </p:txBody>
      </p:sp>
      <p:sp>
        <p:nvSpPr>
          <p:cNvPr id="10" name="TextBox 9"/>
          <p:cNvSpPr txBox="1"/>
          <p:nvPr/>
        </p:nvSpPr>
        <p:spPr>
          <a:xfrm>
            <a:off x="6421822" y="4620280"/>
            <a:ext cx="2921875" cy="307777"/>
          </a:xfrm>
          <a:prstGeom prst="rect">
            <a:avLst/>
          </a:prstGeom>
          <a:noFill/>
        </p:spPr>
        <p:txBody>
          <a:bodyPr wrap="square" rtlCol="0">
            <a:spAutoFit/>
          </a:bodyPr>
          <a:lstStyle/>
          <a:p>
            <a:r>
              <a:rPr lang="en-US" dirty="0" smtClean="0">
                <a:latin typeface="MV Boli" pitchFamily="2" charset="0"/>
                <a:cs typeface="MV Boli" pitchFamily="2" charset="0"/>
              </a:rPr>
              <a:t>Aditya </a:t>
            </a:r>
            <a:r>
              <a:rPr lang="en-US" dirty="0" smtClean="0">
                <a:latin typeface="MV Boli" pitchFamily="2" charset="0"/>
                <a:cs typeface="MV Boli" pitchFamily="2" charset="0"/>
              </a:rPr>
              <a:t>Kumar,34230821034</a:t>
            </a:r>
            <a:endParaRPr lang="en-US" dirty="0">
              <a:latin typeface="MV Boli" pitchFamily="2" charset="0"/>
              <a:cs typeface="MV Boli" pitchFamily="2" charset="0"/>
            </a:endParaRPr>
          </a:p>
        </p:txBody>
      </p:sp>
      <p:sp>
        <p:nvSpPr>
          <p:cNvPr id="11" name="TextBox 10"/>
          <p:cNvSpPr txBox="1"/>
          <p:nvPr/>
        </p:nvSpPr>
        <p:spPr>
          <a:xfrm>
            <a:off x="546538" y="830317"/>
            <a:ext cx="8113986" cy="2677656"/>
          </a:xfrm>
          <a:prstGeom prst="rect">
            <a:avLst/>
          </a:prstGeom>
          <a:noFill/>
        </p:spPr>
        <p:txBody>
          <a:bodyPr wrap="square" rtlCol="0">
            <a:spAutoFit/>
          </a:bodyPr>
          <a:lstStyle/>
          <a:p>
            <a:pPr fontAlgn="base">
              <a:buFont typeface="Wingdings" pitchFamily="2" charset="2"/>
              <a:buChar char="q"/>
            </a:pPr>
            <a:r>
              <a:rPr lang="en-US" dirty="0" smtClean="0"/>
              <a:t>Let's understand the clustering technique with the real-world example of Mall: When we visit any shopping mall, we can observe that the things with similar usage are grouped together. Such as the t-shirts are grouped in one section, and trousers are at other sections, similarly, at vegetable sections, apples, bananas, Mangoes, etc., are grouped in separate sections, so that we can easily find out the things. The clustering technique also works in the same way. Other examples of clustering are grouping documents according to the topic</a:t>
            </a:r>
            <a:r>
              <a:rPr lang="en-US" dirty="0" smtClean="0"/>
              <a:t>.</a:t>
            </a:r>
          </a:p>
          <a:p>
            <a:pPr fontAlgn="base"/>
            <a:endParaRPr lang="en-US" dirty="0" smtClean="0"/>
          </a:p>
          <a:p>
            <a:pPr fontAlgn="base">
              <a:buFont typeface="Wingdings" pitchFamily="2" charset="2"/>
              <a:buChar char="q"/>
            </a:pPr>
            <a:r>
              <a:rPr lang="en-US" dirty="0" smtClean="0"/>
              <a:t>Apart </a:t>
            </a:r>
            <a:r>
              <a:rPr lang="en-US" dirty="0" smtClean="0"/>
              <a:t>from these general usages, it is used by the </a:t>
            </a:r>
            <a:r>
              <a:rPr lang="en-US" b="1" dirty="0" smtClean="0"/>
              <a:t>Amazon</a:t>
            </a:r>
            <a:r>
              <a:rPr lang="en-US" dirty="0" smtClean="0"/>
              <a:t> in its recommendation system to provide the recommendations as per the past search of products</a:t>
            </a:r>
            <a:r>
              <a:rPr lang="en-US" dirty="0" smtClean="0"/>
              <a:t>.</a:t>
            </a:r>
          </a:p>
          <a:p>
            <a:pPr fontAlgn="base"/>
            <a:endParaRPr lang="en-US" dirty="0" smtClean="0"/>
          </a:p>
          <a:p>
            <a:pPr fontAlgn="base">
              <a:buFont typeface="Wingdings" pitchFamily="2" charset="2"/>
              <a:buChar char="q"/>
            </a:pPr>
            <a:r>
              <a:rPr lang="en-US" b="1" dirty="0" smtClean="0"/>
              <a:t>Netflix</a:t>
            </a:r>
            <a:r>
              <a:rPr lang="en-US" dirty="0" smtClean="0"/>
              <a:t> also uses this technique to recommend the movies and web-series to its users as per the watch history</a:t>
            </a:r>
            <a:r>
              <a:rPr lang="en-US" dirty="0" smtClean="0"/>
              <a:t>.</a:t>
            </a:r>
            <a:endParaRPr lang="en-US" dirty="0" smtClean="0"/>
          </a:p>
        </p:txBody>
      </p:sp>
      <p:pic>
        <p:nvPicPr>
          <p:cNvPr id="12" name="Picture 11" descr="images.jfif"/>
          <p:cNvPicPr>
            <a:picLocks noChangeAspect="1"/>
          </p:cNvPicPr>
          <p:nvPr/>
        </p:nvPicPr>
        <p:blipFill>
          <a:blip r:embed="rId2"/>
          <a:stretch>
            <a:fillRect/>
          </a:stretch>
        </p:blipFill>
        <p:spPr>
          <a:xfrm>
            <a:off x="2381907" y="3303204"/>
            <a:ext cx="3072962" cy="1543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68" y="0"/>
            <a:ext cx="7704000" cy="572700"/>
          </a:xfrm>
        </p:spPr>
        <p:txBody>
          <a:bodyPr/>
          <a:lstStyle/>
          <a:p>
            <a:r>
              <a:rPr lang="en-US" sz="4000" u="sng" dirty="0" smtClean="0">
                <a:latin typeface="Bell MT" pitchFamily="18" charset="0"/>
              </a:rPr>
              <a:t>5</a:t>
            </a:r>
            <a:r>
              <a:rPr lang="en-US" sz="4000" u="sng" dirty="0" smtClean="0">
                <a:latin typeface="Bell MT" pitchFamily="18" charset="0"/>
              </a:rPr>
              <a:t>. Applications </a:t>
            </a:r>
            <a:r>
              <a:rPr lang="en-US" sz="4000" u="sng" dirty="0" smtClean="0">
                <a:latin typeface="Bell MT" pitchFamily="18" charset="0"/>
              </a:rPr>
              <a:t>of Clustering</a:t>
            </a:r>
            <a:br>
              <a:rPr lang="en-US" sz="4000" u="sng" dirty="0" smtClean="0">
                <a:latin typeface="Bell MT" pitchFamily="18" charset="0"/>
              </a:rPr>
            </a:br>
            <a:endParaRPr lang="en-US" sz="4000" u="sng" dirty="0">
              <a:latin typeface="Bell MT" pitchFamily="18" charset="0"/>
            </a:endParaRPr>
          </a:p>
        </p:txBody>
      </p:sp>
      <p:sp>
        <p:nvSpPr>
          <p:cNvPr id="4" name="Subtitle 3"/>
          <p:cNvSpPr>
            <a:spLocks noGrp="1"/>
          </p:cNvSpPr>
          <p:nvPr>
            <p:ph type="subTitle" idx="2"/>
          </p:nvPr>
        </p:nvSpPr>
        <p:spPr>
          <a:xfrm>
            <a:off x="557050" y="956441"/>
            <a:ext cx="8019392" cy="3626069"/>
          </a:xfrm>
        </p:spPr>
        <p:txBody>
          <a:bodyPr/>
          <a:lstStyle/>
          <a:p>
            <a:pPr>
              <a:buFont typeface="Wingdings" pitchFamily="2" charset="2"/>
              <a:buChar char="q"/>
            </a:pPr>
            <a:r>
              <a:rPr lang="en-US" sz="1400" b="1" dirty="0" smtClean="0"/>
              <a:t>In Identification of Cancer Cells:</a:t>
            </a:r>
            <a:r>
              <a:rPr lang="en-US" sz="1400" dirty="0" smtClean="0"/>
              <a:t> The clustering algorithms are widely used for the identification of cancerous cells. It divides the cancerous and non-cancerous data sets into different groups.</a:t>
            </a:r>
          </a:p>
          <a:p>
            <a:pPr>
              <a:buFont typeface="Wingdings" pitchFamily="2" charset="2"/>
              <a:buChar char="q"/>
            </a:pPr>
            <a:r>
              <a:rPr lang="en-US" sz="1400" b="1" dirty="0" smtClean="0"/>
              <a:t>In Search Engines:</a:t>
            </a:r>
            <a:r>
              <a:rPr lang="en-US" sz="1400" dirty="0" smtClean="0"/>
              <a:t> Search engines also work on the clustering technique. The search result appears based on the closest object to the search query. It does it by grouping similar data objects in one group that is far from the other dissimilar objects. The accurate result of a query depends on the quality of the clustering algorithm used.</a:t>
            </a:r>
          </a:p>
          <a:p>
            <a:pPr>
              <a:buFont typeface="Wingdings" pitchFamily="2" charset="2"/>
              <a:buChar char="q"/>
            </a:pPr>
            <a:r>
              <a:rPr lang="en-US" sz="1400" b="1" dirty="0" smtClean="0"/>
              <a:t>Customer Segmentation:</a:t>
            </a:r>
            <a:r>
              <a:rPr lang="en-US" sz="1400" dirty="0" smtClean="0"/>
              <a:t> It is used in market research to segment the customers based on their choice and preferences.</a:t>
            </a:r>
          </a:p>
          <a:p>
            <a:pPr>
              <a:buFont typeface="Wingdings" pitchFamily="2" charset="2"/>
              <a:buChar char="q"/>
            </a:pPr>
            <a:r>
              <a:rPr lang="en-US" sz="1400" b="1" dirty="0" smtClean="0"/>
              <a:t>In Biology:</a:t>
            </a:r>
            <a:r>
              <a:rPr lang="en-US" sz="1400" dirty="0" smtClean="0"/>
              <a:t> It is used in the biology stream to classify different species of plants and animals using the image recognition technique.</a:t>
            </a:r>
          </a:p>
          <a:p>
            <a:pPr>
              <a:buFont typeface="Wingdings" pitchFamily="2" charset="2"/>
              <a:buChar char="q"/>
            </a:pPr>
            <a:r>
              <a:rPr lang="en-US" sz="1400" b="1" dirty="0" smtClean="0"/>
              <a:t>In Land Use:</a:t>
            </a:r>
            <a:r>
              <a:rPr lang="en-US" sz="1400" dirty="0" smtClean="0"/>
              <a:t> The clustering technique is used in identifying the area of similar lands use in the GIS database. This can be very useful to find that for what purpose the particular land should be used, that means for which purpose it is more suitable.</a:t>
            </a:r>
          </a:p>
          <a:p>
            <a:pPr>
              <a:buFont typeface="Wingdings" pitchFamily="2" charset="2"/>
              <a:buChar char="q"/>
            </a:pPr>
            <a:endParaRPr lang="en-US" sz="1400" dirty="0">
              <a:latin typeface="+mn-lt"/>
            </a:endParaRPr>
          </a:p>
        </p:txBody>
      </p:sp>
      <p:sp>
        <p:nvSpPr>
          <p:cNvPr id="16" name="TextBox 15"/>
          <p:cNvSpPr txBox="1"/>
          <p:nvPr/>
        </p:nvSpPr>
        <p:spPr>
          <a:xfrm>
            <a:off x="6285186" y="4561489"/>
            <a:ext cx="2858814" cy="307777"/>
          </a:xfrm>
          <a:prstGeom prst="rect">
            <a:avLst/>
          </a:prstGeom>
          <a:noFill/>
        </p:spPr>
        <p:txBody>
          <a:bodyPr wrap="square" rtlCol="0">
            <a:spAutoFit/>
          </a:bodyPr>
          <a:lstStyle/>
          <a:p>
            <a:r>
              <a:rPr lang="en-US" dirty="0" smtClean="0">
                <a:latin typeface="MV Boli" pitchFamily="2" charset="0"/>
                <a:cs typeface="MV Boli" pitchFamily="2" charset="0"/>
              </a:rPr>
              <a:t>Aditya </a:t>
            </a:r>
            <a:r>
              <a:rPr lang="en-US" dirty="0" smtClean="0">
                <a:latin typeface="MV Boli" pitchFamily="2" charset="0"/>
                <a:cs typeface="MV Boli" pitchFamily="2" charset="0"/>
              </a:rPr>
              <a:t>Kumar,34230821034</a:t>
            </a:r>
            <a:endParaRPr lang="en-US" dirty="0">
              <a:latin typeface="MV Boli" pitchFamily="2" charset="0"/>
              <a:cs typeface="MV Boli"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6455" y="336331"/>
            <a:ext cx="3662814" cy="572700"/>
          </a:xfrm>
        </p:spPr>
        <p:txBody>
          <a:bodyPr/>
          <a:lstStyle/>
          <a:p>
            <a:pPr algn="ctr"/>
            <a:r>
              <a:rPr lang="en-US" sz="4400" u="sng" dirty="0" smtClean="0">
                <a:latin typeface="Bell MT" pitchFamily="18" charset="0"/>
              </a:rPr>
              <a:t>6. Conclusion</a:t>
            </a:r>
            <a:endParaRPr lang="en-US" sz="4400" u="sng" dirty="0">
              <a:latin typeface="Bell MT" pitchFamily="18" charset="0"/>
            </a:endParaRPr>
          </a:p>
        </p:txBody>
      </p:sp>
      <p:sp>
        <p:nvSpPr>
          <p:cNvPr id="4" name="Subtitle 3"/>
          <p:cNvSpPr>
            <a:spLocks noGrp="1"/>
          </p:cNvSpPr>
          <p:nvPr>
            <p:ph type="subTitle" idx="2"/>
          </p:nvPr>
        </p:nvSpPr>
        <p:spPr>
          <a:xfrm>
            <a:off x="534550" y="1261241"/>
            <a:ext cx="7831685" cy="1702676"/>
          </a:xfrm>
        </p:spPr>
        <p:txBody>
          <a:bodyPr/>
          <a:lstStyle/>
          <a:p>
            <a:pPr algn="ctr"/>
            <a:r>
              <a:rPr lang="en-US" sz="1600" dirty="0" smtClean="0"/>
              <a:t>Clustering is a powerful technique for pattern recognition. It helps uncover underlying structures and relationships in data. By exploring different clustering algorithms like K-means, DBSCAN, and Hierarchical clustering, we can gain insights into complex patterns. Understanding clustering techniques enables us to solve real-world problems in various domains such as customer segmentation, image </a:t>
            </a:r>
            <a:r>
              <a:rPr lang="en-US" sz="1600" dirty="0" smtClean="0"/>
              <a:t>recognition, etc.</a:t>
            </a:r>
            <a:endParaRPr lang="en-US" sz="1600" dirty="0">
              <a:latin typeface="+mn-lt"/>
            </a:endParaRPr>
          </a:p>
        </p:txBody>
      </p:sp>
      <p:sp>
        <p:nvSpPr>
          <p:cNvPr id="5" name="TextBox 4"/>
          <p:cNvSpPr txBox="1"/>
          <p:nvPr/>
        </p:nvSpPr>
        <p:spPr>
          <a:xfrm>
            <a:off x="1692166" y="3205656"/>
            <a:ext cx="6022427" cy="1015663"/>
          </a:xfrm>
          <a:prstGeom prst="rect">
            <a:avLst/>
          </a:prstGeom>
          <a:noFill/>
        </p:spPr>
        <p:txBody>
          <a:bodyPr wrap="square" rtlCol="0">
            <a:spAutoFit/>
          </a:bodyPr>
          <a:lstStyle/>
          <a:p>
            <a:r>
              <a:rPr lang="en-US" sz="6000" b="1" dirty="0" smtClean="0">
                <a:latin typeface="MV Boli" pitchFamily="2" charset="0"/>
                <a:cs typeface="MV Boli" pitchFamily="2" charset="0"/>
              </a:rPr>
              <a:t>THANK YOU!</a:t>
            </a:r>
            <a:endParaRPr lang="en-US" sz="6000" b="1" dirty="0">
              <a:latin typeface="MV Boli" pitchFamily="2" charset="0"/>
              <a:cs typeface="MV Boli" pitchFamily="2" charset="0"/>
            </a:endParaRPr>
          </a:p>
        </p:txBody>
      </p:sp>
      <p:sp>
        <p:nvSpPr>
          <p:cNvPr id="6" name="TextBox 5"/>
          <p:cNvSpPr txBox="1"/>
          <p:nvPr/>
        </p:nvSpPr>
        <p:spPr>
          <a:xfrm>
            <a:off x="6442841" y="4572001"/>
            <a:ext cx="2953407" cy="307777"/>
          </a:xfrm>
          <a:prstGeom prst="rect">
            <a:avLst/>
          </a:prstGeom>
          <a:noFill/>
        </p:spPr>
        <p:txBody>
          <a:bodyPr wrap="square" rtlCol="0">
            <a:spAutoFit/>
          </a:bodyPr>
          <a:lstStyle/>
          <a:p>
            <a:r>
              <a:rPr lang="en-US" dirty="0" smtClean="0">
                <a:latin typeface="MV Boli" pitchFamily="2" charset="0"/>
                <a:cs typeface="MV Boli" pitchFamily="2" charset="0"/>
              </a:rPr>
              <a:t>Aditya </a:t>
            </a:r>
            <a:r>
              <a:rPr lang="en-US" dirty="0" smtClean="0">
                <a:latin typeface="MV Boli" pitchFamily="2" charset="0"/>
                <a:cs typeface="MV Boli" pitchFamily="2" charset="0"/>
              </a:rPr>
              <a:t>Kumar,34230821034</a:t>
            </a:r>
            <a:endParaRPr lang="en-US" dirty="0">
              <a:latin typeface="MV Boli" pitchFamily="2" charset="0"/>
              <a:cs typeface="MV Boli" pitchFamily="2" charset="0"/>
            </a:endParaRPr>
          </a:p>
        </p:txBody>
      </p:sp>
    </p:spTree>
  </p:cSld>
  <p:clrMapOvr>
    <a:masterClrMapping/>
  </p:clrMapOvr>
</p:sld>
</file>

<file path=ppt/theme/theme1.xml><?xml version="1.0" encoding="utf-8"?>
<a:theme xmlns:a="http://schemas.openxmlformats.org/drawingml/2006/main" name="Entrepreneurial Ecosystem by Slidesgo">
  <a:themeElements>
    <a:clrScheme name="Simple Light">
      <a:dk1>
        <a:srgbClr val="242424"/>
      </a:dk1>
      <a:lt1>
        <a:srgbClr val="F8F8F8"/>
      </a:lt1>
      <a:dk2>
        <a:srgbClr val="EFEFEF"/>
      </a:dk2>
      <a:lt2>
        <a:srgbClr val="CCCCCC"/>
      </a:lt2>
      <a:accent1>
        <a:srgbClr val="595959"/>
      </a:accent1>
      <a:accent2>
        <a:srgbClr val="FF0000"/>
      </a:accent2>
      <a:accent3>
        <a:srgbClr val="FFFFFF"/>
      </a:accent3>
      <a:accent4>
        <a:srgbClr val="FFFFFF"/>
      </a:accent4>
      <a:accent5>
        <a:srgbClr val="FFFFFF"/>
      </a:accent5>
      <a:accent6>
        <a:srgbClr val="FFFFFF"/>
      </a:accent6>
      <a:hlink>
        <a:srgbClr val="2424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1489</TotalTime>
  <Words>709</Words>
  <Application>Microsoft Office PowerPoint</Application>
  <PresentationFormat>On-screen Show (16:9)</PresentationFormat>
  <Paragraphs>51</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Bell MT</vt:lpstr>
      <vt:lpstr>Libre Baskerville</vt:lpstr>
      <vt:lpstr>MV Boli</vt:lpstr>
      <vt:lpstr>DM Sans</vt:lpstr>
      <vt:lpstr>Wingdings</vt:lpstr>
      <vt:lpstr>Entrepreneurial Ecosystem by Slidesgo</vt:lpstr>
      <vt:lpstr>Exploring Clustering in Pattern Recognition</vt:lpstr>
      <vt:lpstr>1. Introduction</vt:lpstr>
      <vt:lpstr>2. Overview of Clustering </vt:lpstr>
      <vt:lpstr>2. Density-Based Clustering - The density-based clustering method connects the highly-dense areas into clusters, and the arbitrarily shaped distributions are formed as long as the dense region can be connected. This algorithm does it by identifying different clusters in the dataset and connects the areas of high densities into clusters. The dense areas in data space are divided from each other by sparser areas. These algorithms can face difficulty in clustering the data points if the dataset has varying densities and high dimensions.    </vt:lpstr>
      <vt:lpstr>3. Clustering Algorithms</vt:lpstr>
      <vt:lpstr>4.Real Life Example of Clustering</vt:lpstr>
      <vt:lpstr>5. Applications of Clustering </vt:lpstr>
      <vt:lpstr>6.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the Power of Polymorphism in Object-Oriented Programming with Java</dc:title>
  <dc:creator>Aditya</dc:creator>
  <cp:lastModifiedBy>Rishuraj</cp:lastModifiedBy>
  <cp:revision>83</cp:revision>
  <dcterms:modified xsi:type="dcterms:W3CDTF">2023-08-07T11:47:43Z</dcterms:modified>
</cp:coreProperties>
</file>