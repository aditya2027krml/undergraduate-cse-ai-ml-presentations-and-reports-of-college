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9" r:id="rId4"/>
    <p:sldId id="267" r:id="rId5"/>
    <p:sldId id="268" r:id="rId6"/>
    <p:sldId id="260" r:id="rId7"/>
    <p:sldId id="261" r:id="rId8"/>
    <p:sldId id="266" r:id="rId9"/>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5" d="100"/>
          <a:sy n="45" d="100"/>
        </p:scale>
        <p:origin x="-816" y="-108"/>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1E9A448F-F992-4B43-B982-AEDA5C72521A}" type="datetimeFigureOut">
              <a:rPr lang="en-US" smtClean="0"/>
              <a:pPr/>
              <a:t>8/6/2023</a:t>
            </a:fld>
            <a:endParaRPr lang="en-US"/>
          </a:p>
        </p:txBody>
      </p:sp>
      <p:sp>
        <p:nvSpPr>
          <p:cNvPr id="4" name="Slide Image Placeholder 3"/>
          <p:cNvSpPr>
            <a:spLocks noGrp="1" noRot="1" noChangeAspect="1"/>
          </p:cNvSpPr>
          <p:nvPr>
            <p:ph type="sldImg" idx="2"/>
          </p:nvPr>
        </p:nvSpPr>
        <p:spPr>
          <a:xfrm>
            <a:off x="5715000" y="771525"/>
            <a:ext cx="6858000" cy="3857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886325"/>
            <a:ext cx="14630400" cy="462915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771063"/>
            <a:ext cx="7924800" cy="5143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4350"/>
          </a:xfrm>
          <a:prstGeom prst="rect">
            <a:avLst/>
          </a:prstGeom>
        </p:spPr>
        <p:txBody>
          <a:bodyPr vert="horz" lIns="91440" tIns="45720" rIns="91440" bIns="45720" rtlCol="0" anchor="b"/>
          <a:lstStyle>
            <a:lvl1pPr algn="r">
              <a:defRPr sz="1200"/>
            </a:lvl1pPr>
          </a:lstStyle>
          <a:p>
            <a:fld id="{799FE414-F645-44FB-B09B-A74D906421F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9FE414-F645-44FB-B09B-A74D906421FD}" type="slidenum">
              <a:rPr lang="en-US" smtClean="0"/>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99FE414-F645-44FB-B09B-A74D906421FD}"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8/6/2023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Roboto Lt"/>
                <a:cs typeface="Roboto L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8/6/2023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Roboto Lt"/>
                <a:cs typeface="Roboto Lt"/>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8/6/2023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Roboto Lt"/>
                <a:cs typeface="Roboto L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8/6/2023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8/6/2023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E2784A"/>
          </a:solidFill>
        </p:spPr>
        <p:txBody>
          <a:bodyPr wrap="square" lIns="0" tIns="0" rIns="0" bIns="0" rtlCol="0"/>
          <a:lstStyle/>
          <a:p>
            <a:endParaRPr/>
          </a:p>
        </p:txBody>
      </p:sp>
      <p:sp>
        <p:nvSpPr>
          <p:cNvPr id="17" name="bg object 17"/>
          <p:cNvSpPr/>
          <p:nvPr/>
        </p:nvSpPr>
        <p:spPr>
          <a:xfrm>
            <a:off x="0" y="3226617"/>
            <a:ext cx="18288000" cy="7021195"/>
          </a:xfrm>
          <a:custGeom>
            <a:avLst/>
            <a:gdLst/>
            <a:ahLst/>
            <a:cxnLst/>
            <a:rect l="l" t="t" r="r" b="b"/>
            <a:pathLst>
              <a:path w="18288000" h="7021195">
                <a:moveTo>
                  <a:pt x="0" y="7020632"/>
                </a:moveTo>
                <a:lnTo>
                  <a:pt x="0" y="0"/>
                </a:lnTo>
                <a:lnTo>
                  <a:pt x="18287999" y="0"/>
                </a:lnTo>
                <a:lnTo>
                  <a:pt x="18287999" y="7020632"/>
                </a:lnTo>
                <a:lnTo>
                  <a:pt x="0" y="7020632"/>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785511" y="759235"/>
            <a:ext cx="16716976" cy="756919"/>
          </a:xfrm>
          <a:prstGeom prst="rect">
            <a:avLst/>
          </a:prstGeom>
        </p:spPr>
        <p:txBody>
          <a:bodyPr wrap="square" lIns="0" tIns="0" rIns="0" bIns="0">
            <a:spAutoFit/>
          </a:bodyPr>
          <a:lstStyle>
            <a:lvl1pPr>
              <a:defRPr sz="4800" b="0" i="0">
                <a:solidFill>
                  <a:schemeClr val="bg1"/>
                </a:solidFill>
                <a:latin typeface="Roboto Lt"/>
                <a:cs typeface="Roboto Lt"/>
              </a:defRPr>
            </a:lvl1pPr>
          </a:lstStyle>
          <a:p>
            <a:endParaRPr/>
          </a:p>
        </p:txBody>
      </p:sp>
      <p:sp>
        <p:nvSpPr>
          <p:cNvPr id="3" name="Holder 3"/>
          <p:cNvSpPr>
            <a:spLocks noGrp="1"/>
          </p:cNvSpPr>
          <p:nvPr>
            <p:ph type="body" idx="1"/>
          </p:nvPr>
        </p:nvSpPr>
        <p:spPr>
          <a:xfrm>
            <a:off x="791279" y="3556374"/>
            <a:ext cx="16705441" cy="255905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8/6/2023</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8288000" cy="103251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E2784A"/>
          </a:solidFill>
        </p:spPr>
        <p:txBody>
          <a:bodyPr wrap="square" lIns="0" tIns="0" rIns="0" bIns="0" rtlCol="0"/>
          <a:lstStyle/>
          <a:p>
            <a:endParaRPr/>
          </a:p>
        </p:txBody>
      </p:sp>
      <p:sp>
        <p:nvSpPr>
          <p:cNvPr id="3" name="object 3"/>
          <p:cNvSpPr txBox="1">
            <a:spLocks noGrp="1"/>
          </p:cNvSpPr>
          <p:nvPr>
            <p:ph type="title"/>
          </p:nvPr>
        </p:nvSpPr>
        <p:spPr>
          <a:xfrm>
            <a:off x="2057400" y="1333500"/>
            <a:ext cx="14019530" cy="3278783"/>
          </a:xfrm>
          <a:prstGeom prst="rect">
            <a:avLst/>
          </a:prstGeom>
        </p:spPr>
        <p:txBody>
          <a:bodyPr vert="horz" wrap="square" lIns="0" tIns="88900" rIns="0" bIns="0" rtlCol="0">
            <a:spAutoFit/>
          </a:bodyPr>
          <a:lstStyle/>
          <a:p>
            <a:pPr marL="12065" marR="5080" indent="60325" algn="ctr">
              <a:lnSpc>
                <a:spcPts val="8240"/>
              </a:lnSpc>
              <a:spcBef>
                <a:spcPts val="700"/>
              </a:spcBef>
            </a:pPr>
            <a:r>
              <a:rPr lang="en-US" sz="8000" b="1" u="sng" dirty="0" smtClean="0">
                <a:solidFill>
                  <a:schemeClr val="tx1"/>
                </a:solidFill>
                <a:latin typeface="Bell MT" pitchFamily="18" charset="0"/>
              </a:rPr>
              <a:t>First Come First Serve (FCFS) Scheduling Algorithm in Operating Systems</a:t>
            </a:r>
            <a:endParaRPr sz="7250" b="1" u="sng" dirty="0">
              <a:solidFill>
                <a:schemeClr val="tx1"/>
              </a:solidFill>
              <a:latin typeface="Bell MT" pitchFamily="18" charset="0"/>
            </a:endParaRPr>
          </a:p>
        </p:txBody>
      </p:sp>
      <p:sp>
        <p:nvSpPr>
          <p:cNvPr id="4" name="object 4"/>
          <p:cNvSpPr txBox="1"/>
          <p:nvPr/>
        </p:nvSpPr>
        <p:spPr>
          <a:xfrm>
            <a:off x="533400" y="5981700"/>
            <a:ext cx="6271912" cy="6979475"/>
          </a:xfrm>
          <a:prstGeom prst="rect">
            <a:avLst/>
          </a:prstGeom>
        </p:spPr>
        <p:txBody>
          <a:bodyPr vert="horz" wrap="square" lIns="0" tIns="257175" rIns="0" bIns="0" rtlCol="0">
            <a:spAutoFit/>
          </a:bodyPr>
          <a:lstStyle/>
          <a:p>
            <a:pPr marL="12700">
              <a:lnSpc>
                <a:spcPct val="100000"/>
              </a:lnSpc>
              <a:spcBef>
                <a:spcPts val="2025"/>
              </a:spcBef>
            </a:pPr>
            <a:r>
              <a:rPr lang="en-US" sz="4000" b="1" spc="-290" dirty="0" smtClean="0">
                <a:latin typeface="MV Boli" pitchFamily="2" charset="0"/>
                <a:ea typeface="Microsoft Sans Serif" pitchFamily="34" charset="0"/>
                <a:cs typeface="MV Boli" pitchFamily="2" charset="0"/>
              </a:rPr>
              <a:t>Presented by </a:t>
            </a:r>
          </a:p>
          <a:p>
            <a:pPr marL="12700">
              <a:lnSpc>
                <a:spcPct val="100000"/>
              </a:lnSpc>
              <a:spcBef>
                <a:spcPts val="2025"/>
              </a:spcBef>
            </a:pPr>
            <a:r>
              <a:rPr lang="en-US" sz="4000" b="1" spc="-290" dirty="0" smtClean="0">
                <a:latin typeface="MV Boli" pitchFamily="2" charset="0"/>
                <a:ea typeface="Microsoft Sans Serif" pitchFamily="34" charset="0"/>
                <a:cs typeface="MV Boli" pitchFamily="2" charset="0"/>
              </a:rPr>
              <a:t>Name - Aditya Kumar</a:t>
            </a:r>
          </a:p>
          <a:p>
            <a:pPr marL="12700">
              <a:lnSpc>
                <a:spcPct val="100000"/>
              </a:lnSpc>
              <a:spcBef>
                <a:spcPts val="2025"/>
              </a:spcBef>
            </a:pPr>
            <a:r>
              <a:rPr lang="en-US" sz="4000" b="1" spc="-290" dirty="0" smtClean="0">
                <a:latin typeface="MV Boli" pitchFamily="2" charset="0"/>
                <a:ea typeface="Microsoft Sans Serif" pitchFamily="34" charset="0"/>
                <a:cs typeface="MV Boli" pitchFamily="2" charset="0"/>
              </a:rPr>
              <a:t>Roll No. - 34230821034</a:t>
            </a:r>
          </a:p>
          <a:p>
            <a:pPr marL="12700">
              <a:lnSpc>
                <a:spcPct val="100000"/>
              </a:lnSpc>
              <a:spcBef>
                <a:spcPts val="2025"/>
              </a:spcBef>
            </a:pPr>
            <a:r>
              <a:rPr lang="en-US" sz="4000" b="1" spc="-290" dirty="0" smtClean="0">
                <a:latin typeface="MV Boli" pitchFamily="2" charset="0"/>
                <a:ea typeface="Microsoft Sans Serif" pitchFamily="34" charset="0"/>
                <a:cs typeface="MV Boli" pitchFamily="2" charset="0"/>
              </a:rPr>
              <a:t>Dept. – CSE(AI &amp; ML)</a:t>
            </a:r>
          </a:p>
          <a:p>
            <a:pPr marL="12700">
              <a:lnSpc>
                <a:spcPct val="100000"/>
              </a:lnSpc>
              <a:spcBef>
                <a:spcPts val="2025"/>
              </a:spcBef>
            </a:pPr>
            <a:r>
              <a:rPr lang="en-US" sz="4000" b="1" spc="-290" dirty="0" smtClean="0">
                <a:latin typeface="MV Boli" pitchFamily="2" charset="0"/>
                <a:ea typeface="Microsoft Sans Serif" pitchFamily="34" charset="0"/>
                <a:cs typeface="MV Boli" pitchFamily="2" charset="0"/>
              </a:rPr>
              <a:t>Future Institute of Technology</a:t>
            </a:r>
          </a:p>
          <a:p>
            <a:pPr marL="12700">
              <a:lnSpc>
                <a:spcPct val="100000"/>
              </a:lnSpc>
              <a:spcBef>
                <a:spcPts val="2025"/>
              </a:spcBef>
            </a:pPr>
            <a:endParaRPr lang="en-US" sz="4000" b="1" spc="-290" dirty="0" smtClean="0">
              <a:latin typeface="MV Boli" pitchFamily="2" charset="0"/>
              <a:ea typeface="Microsoft Sans Serif" pitchFamily="34" charset="0"/>
              <a:cs typeface="MV Boli" pitchFamily="2" charset="0"/>
            </a:endParaRPr>
          </a:p>
          <a:p>
            <a:pPr marL="12700">
              <a:lnSpc>
                <a:spcPct val="100000"/>
              </a:lnSpc>
              <a:spcBef>
                <a:spcPts val="2025"/>
              </a:spcBef>
            </a:pPr>
            <a:endParaRPr lang="en-US" sz="4000" b="1" spc="-290" dirty="0" smtClean="0">
              <a:latin typeface="MV Boli" pitchFamily="2" charset="0"/>
              <a:ea typeface="Microsoft Sans Serif" pitchFamily="34" charset="0"/>
              <a:cs typeface="MV Boli" pitchFamily="2" charset="0"/>
            </a:endParaRPr>
          </a:p>
          <a:p>
            <a:pPr marL="12700">
              <a:lnSpc>
                <a:spcPct val="100000"/>
              </a:lnSpc>
              <a:spcBef>
                <a:spcPts val="2025"/>
              </a:spcBef>
            </a:pPr>
            <a:endParaRPr sz="4000" b="1" dirty="0">
              <a:latin typeface="MV Boli" pitchFamily="2" charset="0"/>
              <a:ea typeface="Microsoft Sans Serif" pitchFamily="34" charset="0"/>
              <a:cs typeface="MV Boli" pitchFamily="2" charset="0"/>
            </a:endParaRPr>
          </a:p>
        </p:txBody>
      </p:sp>
      <p:pic>
        <p:nvPicPr>
          <p:cNvPr id="5" name="Picture 4" descr="First-Come-First-Serve-Scheduling-In-C-Programming.jpg"/>
          <p:cNvPicPr>
            <a:picLocks noChangeAspect="1"/>
          </p:cNvPicPr>
          <p:nvPr/>
        </p:nvPicPr>
        <p:blipFill>
          <a:blip r:embed="rId2" cstate="print"/>
          <a:stretch>
            <a:fillRect/>
          </a:stretch>
        </p:blipFill>
        <p:spPr>
          <a:xfrm>
            <a:off x="12039600" y="6642100"/>
            <a:ext cx="6248400" cy="3644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91279" y="3556374"/>
            <a:ext cx="8352721" cy="4864793"/>
          </a:xfrm>
          <a:prstGeom prst="rect">
            <a:avLst/>
          </a:prstGeom>
        </p:spPr>
        <p:txBody>
          <a:bodyPr vert="horz" wrap="square" lIns="0" tIns="42545" rIns="0" bIns="0" rtlCol="0">
            <a:spAutoFit/>
          </a:bodyPr>
          <a:lstStyle/>
          <a:p>
            <a:pPr marL="469900" marR="5080" lvl="1">
              <a:lnSpc>
                <a:spcPts val="2830"/>
              </a:lnSpc>
              <a:spcBef>
                <a:spcPts val="335"/>
              </a:spcBef>
              <a:buFont typeface="Wingdings" pitchFamily="2" charset="2"/>
              <a:buChar char="q"/>
            </a:pPr>
            <a:r>
              <a:rPr lang="en-US" sz="3200" dirty="0" smtClean="0"/>
              <a:t> Process Scheduling is responsible for selecting a  processor process based on a scheduling method as well as removing a processor process.</a:t>
            </a:r>
          </a:p>
          <a:p>
            <a:pPr marL="469900" marR="5080" lvl="1">
              <a:lnSpc>
                <a:spcPts val="2830"/>
              </a:lnSpc>
              <a:spcBef>
                <a:spcPts val="335"/>
              </a:spcBef>
            </a:pPr>
            <a:endParaRPr lang="en-US" sz="3200" dirty="0" smtClean="0"/>
          </a:p>
          <a:p>
            <a:pPr marL="469900" marR="5080" lvl="1">
              <a:lnSpc>
                <a:spcPts val="2830"/>
              </a:lnSpc>
              <a:spcBef>
                <a:spcPts val="335"/>
              </a:spcBef>
              <a:buFont typeface="Wingdings" pitchFamily="2" charset="2"/>
              <a:buChar char="q"/>
            </a:pPr>
            <a:r>
              <a:rPr lang="en-US" sz="3200" dirty="0" smtClean="0"/>
              <a:t>  CPU scheduling deals with the problem of deciding which of the processes in the ready queue is to be allocated the CPU.</a:t>
            </a:r>
          </a:p>
          <a:p>
            <a:pPr marL="469900" marR="5080" lvl="1">
              <a:lnSpc>
                <a:spcPts val="2830"/>
              </a:lnSpc>
              <a:spcBef>
                <a:spcPts val="335"/>
              </a:spcBef>
            </a:pPr>
            <a:endParaRPr lang="en-US" sz="3200" dirty="0" smtClean="0"/>
          </a:p>
          <a:p>
            <a:pPr marL="469900" marR="5080" lvl="1">
              <a:lnSpc>
                <a:spcPts val="2830"/>
              </a:lnSpc>
              <a:spcBef>
                <a:spcPts val="335"/>
              </a:spcBef>
              <a:buFont typeface="Wingdings" pitchFamily="2" charset="2"/>
              <a:buChar char="q"/>
            </a:pPr>
            <a:r>
              <a:rPr lang="en-US" sz="3200" dirty="0" smtClean="0"/>
              <a:t>  There are many different CPU- scheduling algorithms. Out of which we are going to discover the First Come First Serve (FCFS) Scheduling algorithm. </a:t>
            </a:r>
          </a:p>
        </p:txBody>
      </p:sp>
      <p:sp>
        <p:nvSpPr>
          <p:cNvPr id="4" name="object 4"/>
          <p:cNvSpPr txBox="1">
            <a:spLocks noGrp="1"/>
          </p:cNvSpPr>
          <p:nvPr>
            <p:ph type="title"/>
          </p:nvPr>
        </p:nvSpPr>
        <p:spPr>
          <a:xfrm>
            <a:off x="838200" y="723900"/>
            <a:ext cx="10591800" cy="1498936"/>
          </a:xfrm>
          <a:prstGeom prst="rect">
            <a:avLst/>
          </a:prstGeom>
        </p:spPr>
        <p:txBody>
          <a:bodyPr vert="horz" wrap="square" lIns="0" tIns="68580" rIns="0" bIns="0" rtlCol="0">
            <a:spAutoFit/>
          </a:bodyPr>
          <a:lstStyle/>
          <a:p>
            <a:pPr marL="1155700" marR="5080" indent="-1143000">
              <a:lnSpc>
                <a:spcPts val="5420"/>
              </a:lnSpc>
              <a:spcBef>
                <a:spcPts val="540"/>
              </a:spcBef>
              <a:buFont typeface="+mj-lt"/>
              <a:buAutoNum type="arabicPeriod"/>
            </a:pPr>
            <a:r>
              <a:rPr lang="en-US" sz="6000" u="sng" spc="-15" dirty="0" smtClean="0">
                <a:solidFill>
                  <a:schemeClr val="tx1"/>
                </a:solidFill>
                <a:latin typeface="Bell MT" pitchFamily="18" charset="0"/>
              </a:rPr>
              <a:t>Introduction to Process Scheduling</a:t>
            </a:r>
            <a:endParaRPr sz="6000" u="sng" spc="-15" dirty="0">
              <a:solidFill>
                <a:schemeClr val="tx1"/>
              </a:solidFill>
              <a:latin typeface="Bell MT" pitchFamily="18" charset="0"/>
            </a:endParaRPr>
          </a:p>
        </p:txBody>
      </p:sp>
      <p:pic>
        <p:nvPicPr>
          <p:cNvPr id="6" name="Picture 5" descr="scheduling-algorithm-os.png"/>
          <p:cNvPicPr>
            <a:picLocks noChangeAspect="1"/>
          </p:cNvPicPr>
          <p:nvPr/>
        </p:nvPicPr>
        <p:blipFill>
          <a:blip r:embed="rId2" cstate="print"/>
          <a:stretch>
            <a:fillRect/>
          </a:stretch>
        </p:blipFill>
        <p:spPr>
          <a:xfrm>
            <a:off x="9601200" y="2019300"/>
            <a:ext cx="8686801" cy="6477000"/>
          </a:xfrm>
          <a:prstGeom prst="rect">
            <a:avLst/>
          </a:prstGeom>
        </p:spPr>
      </p:pic>
      <p:sp>
        <p:nvSpPr>
          <p:cNvPr id="5" name="TextBox 4"/>
          <p:cNvSpPr txBox="1"/>
          <p:nvPr/>
        </p:nvSpPr>
        <p:spPr>
          <a:xfrm>
            <a:off x="14401800" y="9563100"/>
            <a:ext cx="4267200" cy="461665"/>
          </a:xfrm>
          <a:prstGeom prst="rect">
            <a:avLst/>
          </a:prstGeom>
          <a:noFill/>
        </p:spPr>
        <p:txBody>
          <a:bodyPr wrap="square" rtlCol="0">
            <a:spAutoFit/>
          </a:bodyPr>
          <a:lstStyle/>
          <a:p>
            <a:r>
              <a:rPr lang="en-US" sz="2400" b="1" dirty="0" smtClean="0">
                <a:latin typeface="MV Boli" pitchFamily="2" charset="0"/>
                <a:cs typeface="MV Boli" pitchFamily="2" charset="0"/>
              </a:rPr>
              <a:t>ADITYA KUMAR, 34</a:t>
            </a:r>
            <a:endParaRPr lang="en-US" sz="2400" b="1" dirty="0">
              <a:latin typeface="MV Boli" pitchFamily="2" charset="0"/>
              <a:cs typeface="MV Boli"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221211" y="1753639"/>
            <a:ext cx="6298050" cy="6292802"/>
          </a:xfrm>
          <a:prstGeom prst="rect">
            <a:avLst/>
          </a:prstGeom>
        </p:spPr>
      </p:pic>
      <p:sp>
        <p:nvSpPr>
          <p:cNvPr id="4" name="object 4"/>
          <p:cNvSpPr txBox="1">
            <a:spLocks noGrp="1"/>
          </p:cNvSpPr>
          <p:nvPr>
            <p:ph type="title"/>
          </p:nvPr>
        </p:nvSpPr>
        <p:spPr>
          <a:xfrm>
            <a:off x="785510" y="759235"/>
            <a:ext cx="9577689" cy="1504001"/>
          </a:xfrm>
          <a:prstGeom prst="rect">
            <a:avLst/>
          </a:prstGeom>
        </p:spPr>
        <p:txBody>
          <a:bodyPr vert="horz" wrap="square" lIns="0" tIns="68580" rIns="0" bIns="0" rtlCol="0">
            <a:spAutoFit/>
          </a:bodyPr>
          <a:lstStyle/>
          <a:p>
            <a:pPr marL="12700" marR="5080">
              <a:lnSpc>
                <a:spcPts val="5420"/>
              </a:lnSpc>
              <a:spcBef>
                <a:spcPts val="540"/>
              </a:spcBef>
            </a:pPr>
            <a:r>
              <a:rPr lang="en-US" sz="6000" u="sng" spc="-15" dirty="0" smtClean="0">
                <a:solidFill>
                  <a:schemeClr val="tx1"/>
                </a:solidFill>
                <a:latin typeface="Bell MT" pitchFamily="18" charset="0"/>
              </a:rPr>
              <a:t>2</a:t>
            </a:r>
            <a:r>
              <a:rPr sz="6000" u="sng" spc="-15" dirty="0" smtClean="0">
                <a:solidFill>
                  <a:schemeClr val="tx1"/>
                </a:solidFill>
                <a:latin typeface="Bell MT" pitchFamily="18" charset="0"/>
              </a:rPr>
              <a:t>. </a:t>
            </a:r>
            <a:r>
              <a:rPr sz="6000" u="sng" spc="5" dirty="0">
                <a:solidFill>
                  <a:schemeClr val="tx1"/>
                </a:solidFill>
                <a:latin typeface="Bell MT" pitchFamily="18" charset="0"/>
              </a:rPr>
              <a:t>Overview </a:t>
            </a:r>
            <a:r>
              <a:rPr sz="6000" u="sng" spc="25" dirty="0">
                <a:solidFill>
                  <a:schemeClr val="tx1"/>
                </a:solidFill>
                <a:latin typeface="Bell MT" pitchFamily="18" charset="0"/>
              </a:rPr>
              <a:t>of </a:t>
            </a:r>
            <a:r>
              <a:rPr sz="6000" u="sng" spc="-25" dirty="0">
                <a:solidFill>
                  <a:schemeClr val="tx1"/>
                </a:solidFill>
                <a:latin typeface="Bell MT" pitchFamily="18" charset="0"/>
              </a:rPr>
              <a:t>First </a:t>
            </a:r>
            <a:r>
              <a:rPr sz="6000" u="sng" spc="40" dirty="0">
                <a:solidFill>
                  <a:schemeClr val="tx1"/>
                </a:solidFill>
                <a:latin typeface="Bell MT" pitchFamily="18" charset="0"/>
              </a:rPr>
              <a:t>Come </a:t>
            </a:r>
            <a:r>
              <a:rPr sz="6000" u="sng" spc="-25" dirty="0">
                <a:solidFill>
                  <a:schemeClr val="tx1"/>
                </a:solidFill>
                <a:latin typeface="Bell MT" pitchFamily="18" charset="0"/>
              </a:rPr>
              <a:t>First </a:t>
            </a:r>
            <a:r>
              <a:rPr sz="6000" u="sng" spc="-1185" dirty="0">
                <a:solidFill>
                  <a:schemeClr val="tx1"/>
                </a:solidFill>
                <a:latin typeface="Bell MT" pitchFamily="18" charset="0"/>
              </a:rPr>
              <a:t> </a:t>
            </a:r>
            <a:r>
              <a:rPr sz="6000" u="sng" spc="25" dirty="0">
                <a:solidFill>
                  <a:schemeClr val="tx1"/>
                </a:solidFill>
                <a:latin typeface="Bell MT" pitchFamily="18" charset="0"/>
              </a:rPr>
              <a:t>Serve</a:t>
            </a:r>
            <a:r>
              <a:rPr sz="6000" u="sng" spc="-30" dirty="0">
                <a:solidFill>
                  <a:schemeClr val="tx1"/>
                </a:solidFill>
                <a:latin typeface="Bell MT" pitchFamily="18" charset="0"/>
              </a:rPr>
              <a:t> </a:t>
            </a:r>
            <a:r>
              <a:rPr sz="6000" u="sng" spc="10" dirty="0">
                <a:solidFill>
                  <a:schemeClr val="tx1"/>
                </a:solidFill>
                <a:latin typeface="Bell MT" pitchFamily="18" charset="0"/>
              </a:rPr>
              <a:t>(FCFS)</a:t>
            </a:r>
            <a:r>
              <a:rPr sz="6000" u="sng" spc="35" dirty="0">
                <a:solidFill>
                  <a:schemeClr val="tx1"/>
                </a:solidFill>
                <a:latin typeface="Bell MT" pitchFamily="18" charset="0"/>
              </a:rPr>
              <a:t> </a:t>
            </a:r>
            <a:r>
              <a:rPr sz="6000" u="sng" spc="-5" dirty="0">
                <a:solidFill>
                  <a:schemeClr val="tx1"/>
                </a:solidFill>
                <a:latin typeface="Bell MT" pitchFamily="18" charset="0"/>
              </a:rPr>
              <a:t>Algorithm</a:t>
            </a:r>
          </a:p>
        </p:txBody>
      </p:sp>
      <p:sp>
        <p:nvSpPr>
          <p:cNvPr id="5" name="TextBox 4"/>
          <p:cNvSpPr txBox="1"/>
          <p:nvPr/>
        </p:nvSpPr>
        <p:spPr>
          <a:xfrm>
            <a:off x="381000" y="3543300"/>
            <a:ext cx="10515600" cy="6001643"/>
          </a:xfrm>
          <a:prstGeom prst="rect">
            <a:avLst/>
          </a:prstGeom>
          <a:noFill/>
        </p:spPr>
        <p:txBody>
          <a:bodyPr wrap="square" rtlCol="0">
            <a:spAutoFit/>
          </a:bodyPr>
          <a:lstStyle/>
          <a:p>
            <a:pPr>
              <a:buFont typeface="Wingdings" pitchFamily="2" charset="2"/>
              <a:buChar char="ü"/>
            </a:pPr>
            <a:r>
              <a:rPr lang="en-US" sz="3200" dirty="0" smtClean="0"/>
              <a:t> First Come First Serve CPU Scheduling Algorithm shortly     known as FCFS is the first algorithm of CPU Process Scheduling Algorithm. In FCFS Algorithm what we do is to allow the process to execute in linear manner.</a:t>
            </a:r>
          </a:p>
          <a:p>
            <a:endParaRPr lang="en-US" sz="3200" dirty="0" smtClean="0"/>
          </a:p>
          <a:p>
            <a:pPr>
              <a:buFont typeface="Wingdings" pitchFamily="2" charset="2"/>
              <a:buChar char="ü"/>
            </a:pPr>
            <a:r>
              <a:rPr lang="en-US" sz="3200" dirty="0" smtClean="0"/>
              <a:t> This means that whichever process enters the ready queue first, is executed first. This shows that FCFS Algorithm follows First In First Out (FIFO) principle.</a:t>
            </a:r>
          </a:p>
          <a:p>
            <a:pPr>
              <a:buFont typeface="Wingdings" pitchFamily="2" charset="2"/>
              <a:buChar char="ü"/>
            </a:pPr>
            <a:r>
              <a:rPr lang="en-US" sz="3200" dirty="0" smtClean="0"/>
              <a:t> It prioritizes tasks based on their arrival order, ensuring fairness in execution.</a:t>
            </a:r>
          </a:p>
          <a:p>
            <a:pPr>
              <a:buFont typeface="Wingdings" pitchFamily="2" charset="2"/>
              <a:buChar char="ü"/>
            </a:pPr>
            <a:r>
              <a:rPr lang="en-US" sz="3200" dirty="0" smtClean="0"/>
              <a:t> FCFS operates on a non-preemptive basis, meaning each task runs to completion before the next one starts.</a:t>
            </a:r>
            <a:endParaRPr lang="en-US" sz="3200" dirty="0"/>
          </a:p>
        </p:txBody>
      </p:sp>
      <p:sp>
        <p:nvSpPr>
          <p:cNvPr id="6" name="TextBox 5"/>
          <p:cNvSpPr txBox="1"/>
          <p:nvPr/>
        </p:nvSpPr>
        <p:spPr>
          <a:xfrm>
            <a:off x="14401800" y="9563100"/>
            <a:ext cx="3886200" cy="461665"/>
          </a:xfrm>
          <a:prstGeom prst="rect">
            <a:avLst/>
          </a:prstGeom>
          <a:noFill/>
        </p:spPr>
        <p:txBody>
          <a:bodyPr wrap="square" rtlCol="0">
            <a:spAutoFit/>
          </a:bodyPr>
          <a:lstStyle/>
          <a:p>
            <a:r>
              <a:rPr lang="en-US" sz="2400" b="1" dirty="0" smtClean="0">
                <a:latin typeface="MV Boli" pitchFamily="2" charset="0"/>
                <a:cs typeface="MV Boli" pitchFamily="2" charset="0"/>
              </a:rPr>
              <a:t>ADITYA KUMAR, 34</a:t>
            </a:r>
            <a:endParaRPr lang="en-US" sz="2400" b="1" dirty="0">
              <a:latin typeface="MV Boli" pitchFamily="2" charset="0"/>
              <a:cs typeface="MV Boli"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66700"/>
            <a:ext cx="16716976" cy="923330"/>
          </a:xfrm>
        </p:spPr>
        <p:txBody>
          <a:bodyPr/>
          <a:lstStyle/>
          <a:p>
            <a:pPr marL="1143000" indent="-1143000">
              <a:buFont typeface="+mj-lt"/>
              <a:buAutoNum type="arabicPeriod"/>
            </a:pPr>
            <a:r>
              <a:rPr lang="en-US" sz="6000" u="sng" dirty="0" smtClean="0">
                <a:solidFill>
                  <a:schemeClr val="tx1"/>
                </a:solidFill>
                <a:latin typeface="Bell MT" pitchFamily="18" charset="0"/>
              </a:rPr>
              <a:t>Example of FCFS Algorithm</a:t>
            </a:r>
            <a:endParaRPr lang="en-US" sz="6000" u="sng" dirty="0">
              <a:solidFill>
                <a:schemeClr val="tx1"/>
              </a:solidFill>
              <a:latin typeface="Bell MT" pitchFamily="18" charset="0"/>
            </a:endParaRPr>
          </a:p>
        </p:txBody>
      </p:sp>
      <p:sp>
        <p:nvSpPr>
          <p:cNvPr id="7" name="Rounded Rectangle 6"/>
          <p:cNvSpPr/>
          <p:nvPr/>
        </p:nvSpPr>
        <p:spPr>
          <a:xfrm>
            <a:off x="14097000" y="0"/>
            <a:ext cx="4191000" cy="3352800"/>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Gantt Chart- is a bar chart that illustrates a particular schedule, including the start and finish times of each of the participating processes.</a:t>
            </a:r>
            <a:endParaRPr lang="en-US" sz="2800" dirty="0"/>
          </a:p>
        </p:txBody>
      </p:sp>
      <p:pic>
        <p:nvPicPr>
          <p:cNvPr id="9" name="Picture 8" descr="Screenshot (462).png"/>
          <p:cNvPicPr>
            <a:picLocks noChangeAspect="1"/>
          </p:cNvPicPr>
          <p:nvPr/>
        </p:nvPicPr>
        <p:blipFill>
          <a:blip r:embed="rId2" cstate="print"/>
          <a:stretch>
            <a:fillRect/>
          </a:stretch>
        </p:blipFill>
        <p:spPr>
          <a:xfrm>
            <a:off x="0" y="1485900"/>
            <a:ext cx="9829800" cy="5410200"/>
          </a:xfrm>
          <a:prstGeom prst="rect">
            <a:avLst/>
          </a:prstGeom>
        </p:spPr>
      </p:pic>
      <p:pic>
        <p:nvPicPr>
          <p:cNvPr id="10" name="Picture 9" descr="IMG_20230805_170322.png"/>
          <p:cNvPicPr>
            <a:picLocks noChangeAspect="1"/>
          </p:cNvPicPr>
          <p:nvPr/>
        </p:nvPicPr>
        <p:blipFill>
          <a:blip r:embed="rId3" cstate="print"/>
          <a:stretch>
            <a:fillRect/>
          </a:stretch>
        </p:blipFill>
        <p:spPr>
          <a:xfrm>
            <a:off x="9982200" y="3543300"/>
            <a:ext cx="7848600" cy="2819400"/>
          </a:xfrm>
          <a:prstGeom prst="rect">
            <a:avLst/>
          </a:prstGeom>
        </p:spPr>
      </p:pic>
      <p:sp>
        <p:nvSpPr>
          <p:cNvPr id="11" name="TextBox 10"/>
          <p:cNvSpPr txBox="1"/>
          <p:nvPr/>
        </p:nvSpPr>
        <p:spPr>
          <a:xfrm>
            <a:off x="381000" y="7048500"/>
            <a:ext cx="17373600" cy="3539430"/>
          </a:xfrm>
          <a:prstGeom prst="rect">
            <a:avLst/>
          </a:prstGeom>
          <a:noFill/>
        </p:spPr>
        <p:txBody>
          <a:bodyPr wrap="square" rtlCol="0">
            <a:spAutoFit/>
          </a:bodyPr>
          <a:lstStyle/>
          <a:p>
            <a:pPr>
              <a:buFont typeface="Wingdings" pitchFamily="2" charset="2"/>
              <a:buChar char="ü"/>
            </a:pPr>
            <a:r>
              <a:rPr lang="en-US" sz="2800" b="1" dirty="0" smtClean="0"/>
              <a:t>Arrival time (AT)</a:t>
            </a:r>
            <a:r>
              <a:rPr lang="en-US" sz="2800" dirty="0" smtClean="0"/>
              <a:t> − Arrival time is the time at which the process arrives in ready queue.</a:t>
            </a:r>
          </a:p>
          <a:p>
            <a:pPr>
              <a:buFont typeface="Wingdings" pitchFamily="2" charset="2"/>
              <a:buChar char="ü"/>
            </a:pPr>
            <a:r>
              <a:rPr lang="en-US" sz="2800" b="1" dirty="0" smtClean="0"/>
              <a:t>Burst time (BT) or CPU time of the process</a:t>
            </a:r>
            <a:r>
              <a:rPr lang="en-US" sz="2800" dirty="0" smtClean="0"/>
              <a:t> − Burst time is the unit of time in which a particular process completes its execution.</a:t>
            </a:r>
          </a:p>
          <a:p>
            <a:pPr>
              <a:buFont typeface="Wingdings" pitchFamily="2" charset="2"/>
              <a:buChar char="ü"/>
            </a:pPr>
            <a:r>
              <a:rPr lang="en-US" sz="2800" b="1" dirty="0" smtClean="0"/>
              <a:t>Completion time (CT)</a:t>
            </a:r>
            <a:r>
              <a:rPr lang="en-US" sz="2800" dirty="0" smtClean="0"/>
              <a:t> − Completion time is the time at which the process has been terminated.</a:t>
            </a:r>
          </a:p>
          <a:p>
            <a:pPr>
              <a:buFont typeface="Wingdings" pitchFamily="2" charset="2"/>
              <a:buChar char="ü"/>
            </a:pPr>
            <a:r>
              <a:rPr lang="en-US" sz="2800" b="1" dirty="0" smtClean="0"/>
              <a:t>Turn-around time (TAT)</a:t>
            </a:r>
            <a:r>
              <a:rPr lang="en-US" sz="2800" dirty="0" smtClean="0"/>
              <a:t> − The total time from arrival time to completion time is known as turn-around time. TAT can be written as,</a:t>
            </a:r>
          </a:p>
          <a:p>
            <a:pPr>
              <a:buFont typeface="Wingdings" pitchFamily="2" charset="2"/>
              <a:buChar char="ü"/>
            </a:pPr>
            <a:r>
              <a:rPr lang="en-US" sz="2800" b="1" dirty="0" smtClean="0"/>
              <a:t>Turn-around time (TAT) = Completion time (CT) – Arrival time (AT)</a:t>
            </a:r>
            <a:r>
              <a:rPr lang="en-US" sz="2800" dirty="0" smtClean="0"/>
              <a:t> or, </a:t>
            </a:r>
            <a:r>
              <a:rPr lang="en-US" sz="2800" b="1" dirty="0" smtClean="0"/>
              <a:t>TAT = Burst time (BT) + Waiting time (WT)</a:t>
            </a:r>
          </a:p>
          <a:p>
            <a:endParaRPr lang="en-US" sz="28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6700"/>
            <a:ext cx="16716976" cy="3016210"/>
          </a:xfrm>
        </p:spPr>
        <p:txBody>
          <a:bodyPr/>
          <a:lstStyle/>
          <a:p>
            <a:pPr>
              <a:buFont typeface="Wingdings" pitchFamily="2" charset="2"/>
              <a:buChar char="ü"/>
            </a:pPr>
            <a:r>
              <a:rPr lang="en-US" sz="2800" b="1" dirty="0" smtClean="0">
                <a:solidFill>
                  <a:schemeClr val="tx1"/>
                </a:solidFill>
              </a:rPr>
              <a:t>Waiting time (WT)</a:t>
            </a:r>
            <a:r>
              <a:rPr lang="en-US" sz="2800" dirty="0" smtClean="0">
                <a:solidFill>
                  <a:schemeClr val="tx1"/>
                </a:solidFill>
              </a:rPr>
              <a:t> − Waiting time is the time at which the process waits for its allocation while the previous process is in the CPU for execution. WT is written as</a:t>
            </a:r>
            <a:br>
              <a:rPr lang="en-US" sz="2800" dirty="0" smtClean="0">
                <a:solidFill>
                  <a:schemeClr val="tx1"/>
                </a:solidFill>
              </a:rPr>
            </a:br>
            <a:r>
              <a:rPr lang="en-US" sz="2800" dirty="0" smtClean="0">
                <a:solidFill>
                  <a:schemeClr val="tx1"/>
                </a:solidFill>
              </a:rPr>
              <a:t> </a:t>
            </a:r>
            <a:r>
              <a:rPr lang="en-US" sz="2800" b="1" dirty="0" smtClean="0">
                <a:solidFill>
                  <a:schemeClr val="tx1"/>
                </a:solidFill>
              </a:rPr>
              <a:t>Waiting time (WT) = Turn-around time (TAT) – Burst time (BT)</a:t>
            </a:r>
            <a:br>
              <a:rPr lang="en-US" sz="2800" b="1" dirty="0" smtClean="0">
                <a:solidFill>
                  <a:schemeClr val="tx1"/>
                </a:solidFill>
              </a:rPr>
            </a:br>
            <a:r>
              <a:rPr lang="en-US" sz="2800" b="1" dirty="0" smtClean="0">
                <a:solidFill>
                  <a:schemeClr val="tx1"/>
                </a:solidFill>
              </a:rPr>
              <a:t/>
            </a:r>
            <a:br>
              <a:rPr lang="en-US" sz="2800" b="1" dirty="0" smtClean="0">
                <a:solidFill>
                  <a:schemeClr val="tx1"/>
                </a:solidFill>
              </a:rPr>
            </a:br>
            <a:r>
              <a:rPr lang="en-US" sz="2800" b="1" dirty="0" smtClean="0">
                <a:solidFill>
                  <a:schemeClr val="tx1"/>
                </a:solidFill>
              </a:rPr>
              <a:t>Response time (RT)</a:t>
            </a:r>
            <a:r>
              <a:rPr lang="en-US" sz="2800" dirty="0" smtClean="0">
                <a:solidFill>
                  <a:schemeClr val="tx1"/>
                </a:solidFill>
              </a:rPr>
              <a:t> − Response time is the time at which CPU has been allocated to a particular process first time.</a:t>
            </a:r>
            <a:br>
              <a:rPr lang="en-US" sz="2800" dirty="0" smtClean="0">
                <a:solidFill>
                  <a:schemeClr val="tx1"/>
                </a:solidFill>
              </a:rPr>
            </a:br>
            <a:endParaRPr lang="en-US" sz="2800" dirty="0">
              <a:solidFill>
                <a:schemeClr val="tx1"/>
              </a:solidFill>
              <a:latin typeface="+mn-lt"/>
            </a:endParaRPr>
          </a:p>
        </p:txBody>
      </p:sp>
      <p:pic>
        <p:nvPicPr>
          <p:cNvPr id="4" name="Picture 3" descr="IMG_20230805_170348.png"/>
          <p:cNvPicPr>
            <a:picLocks noChangeAspect="1"/>
          </p:cNvPicPr>
          <p:nvPr/>
        </p:nvPicPr>
        <p:blipFill>
          <a:blip r:embed="rId3" cstate="print"/>
          <a:stretch>
            <a:fillRect/>
          </a:stretch>
        </p:blipFill>
        <p:spPr>
          <a:xfrm>
            <a:off x="381000" y="3314700"/>
            <a:ext cx="12115800" cy="6629400"/>
          </a:xfrm>
          <a:prstGeom prst="rect">
            <a:avLst/>
          </a:prstGeom>
        </p:spPr>
      </p:pic>
      <p:sp>
        <p:nvSpPr>
          <p:cNvPr id="5" name="TextBox 4"/>
          <p:cNvSpPr txBox="1"/>
          <p:nvPr/>
        </p:nvSpPr>
        <p:spPr>
          <a:xfrm>
            <a:off x="12725400" y="4762500"/>
            <a:ext cx="5562600" cy="4401205"/>
          </a:xfrm>
          <a:prstGeom prst="rect">
            <a:avLst/>
          </a:prstGeom>
          <a:noFill/>
        </p:spPr>
        <p:txBody>
          <a:bodyPr wrap="square" rtlCol="0">
            <a:spAutoFit/>
          </a:bodyPr>
          <a:lstStyle/>
          <a:p>
            <a:r>
              <a:rPr lang="en-US" sz="2800" dirty="0" smtClean="0"/>
              <a:t>Average Waiting time = (9+8+0+4+12)/5 = 33/5 = 6.6 time unit (time unit can be considered as milliseconds)</a:t>
            </a:r>
          </a:p>
          <a:p>
            <a:endParaRPr lang="en-US" sz="2800" dirty="0" smtClean="0"/>
          </a:p>
          <a:p>
            <a:endParaRPr lang="en-US" sz="2800" dirty="0" smtClean="0"/>
          </a:p>
          <a:p>
            <a:r>
              <a:rPr lang="en-US" sz="2800" dirty="0" smtClean="0"/>
              <a:t>Average Turn-around time = (11+14+4+11+16)/5 = 56/5 = 11.2 time unit (time unit can be considered as milliseconds)</a:t>
            </a:r>
            <a:endParaRPr lang="en-US" sz="2800" dirty="0"/>
          </a:p>
        </p:txBody>
      </p:sp>
      <p:sp>
        <p:nvSpPr>
          <p:cNvPr id="6" name="TextBox 5"/>
          <p:cNvSpPr txBox="1"/>
          <p:nvPr/>
        </p:nvSpPr>
        <p:spPr>
          <a:xfrm>
            <a:off x="14249400" y="9486900"/>
            <a:ext cx="4800600" cy="461665"/>
          </a:xfrm>
          <a:prstGeom prst="rect">
            <a:avLst/>
          </a:prstGeom>
          <a:noFill/>
        </p:spPr>
        <p:txBody>
          <a:bodyPr wrap="square" rtlCol="0">
            <a:spAutoFit/>
          </a:bodyPr>
          <a:lstStyle/>
          <a:p>
            <a:r>
              <a:rPr lang="en-US" sz="2400" b="1" dirty="0" smtClean="0">
                <a:latin typeface="MV Boli" pitchFamily="2" charset="0"/>
                <a:cs typeface="MV Boli" pitchFamily="2" charset="0"/>
              </a:rPr>
              <a:t>ADITYA KUMAR, 34</a:t>
            </a:r>
            <a:endParaRPr lang="en-US" sz="2400" b="1" dirty="0">
              <a:latin typeface="MV Boli" pitchFamily="2" charset="0"/>
              <a:cs typeface="MV Boli"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838200" y="647700"/>
            <a:ext cx="16078200" cy="1859483"/>
          </a:xfrm>
          <a:prstGeom prst="rect">
            <a:avLst/>
          </a:prstGeom>
        </p:spPr>
        <p:txBody>
          <a:bodyPr vert="horz" wrap="square" lIns="0" tIns="12700" rIns="0" bIns="0" rtlCol="0">
            <a:spAutoFit/>
          </a:bodyPr>
          <a:lstStyle/>
          <a:p>
            <a:pPr marL="12700">
              <a:lnSpc>
                <a:spcPct val="100000"/>
              </a:lnSpc>
              <a:spcBef>
                <a:spcPts val="100"/>
              </a:spcBef>
            </a:pPr>
            <a:r>
              <a:rPr lang="en-US" sz="6000" u="sng" spc="-15" dirty="0" smtClean="0">
                <a:solidFill>
                  <a:schemeClr val="tx1"/>
                </a:solidFill>
                <a:latin typeface="Bell MT" pitchFamily="18" charset="0"/>
              </a:rPr>
              <a:t>3</a:t>
            </a:r>
            <a:r>
              <a:rPr sz="6000" u="sng" spc="-15" dirty="0" smtClean="0">
                <a:solidFill>
                  <a:schemeClr val="tx1"/>
                </a:solidFill>
                <a:latin typeface="Bell MT" pitchFamily="18" charset="0"/>
              </a:rPr>
              <a:t>.</a:t>
            </a:r>
            <a:r>
              <a:rPr sz="6000" u="sng" spc="5" dirty="0" smtClean="0">
                <a:solidFill>
                  <a:schemeClr val="tx1"/>
                </a:solidFill>
                <a:latin typeface="Bell MT" pitchFamily="18" charset="0"/>
              </a:rPr>
              <a:t> </a:t>
            </a:r>
            <a:r>
              <a:rPr sz="6000" u="sng" dirty="0">
                <a:solidFill>
                  <a:schemeClr val="tx1"/>
                </a:solidFill>
                <a:latin typeface="Bell MT" pitchFamily="18" charset="0"/>
              </a:rPr>
              <a:t>Advantages </a:t>
            </a:r>
            <a:r>
              <a:rPr lang="en-US" sz="6000" u="sng" dirty="0" smtClean="0">
                <a:solidFill>
                  <a:schemeClr val="tx1"/>
                </a:solidFill>
                <a:latin typeface="Bell MT" pitchFamily="18" charset="0"/>
              </a:rPr>
              <a:t>&amp; Disadvantages </a:t>
            </a:r>
            <a:r>
              <a:rPr sz="6000" u="sng" spc="25" dirty="0" smtClean="0">
                <a:solidFill>
                  <a:schemeClr val="tx1"/>
                </a:solidFill>
                <a:latin typeface="Bell MT" pitchFamily="18" charset="0"/>
              </a:rPr>
              <a:t>of </a:t>
            </a:r>
            <a:r>
              <a:rPr sz="6000" u="sng" spc="-10" dirty="0">
                <a:solidFill>
                  <a:schemeClr val="tx1"/>
                </a:solidFill>
                <a:latin typeface="Bell MT" pitchFamily="18" charset="0"/>
              </a:rPr>
              <a:t>FCFS</a:t>
            </a:r>
            <a:r>
              <a:rPr sz="6000" u="sng" spc="30" dirty="0">
                <a:solidFill>
                  <a:schemeClr val="tx1"/>
                </a:solidFill>
                <a:latin typeface="Bell MT" pitchFamily="18" charset="0"/>
              </a:rPr>
              <a:t> </a:t>
            </a:r>
            <a:r>
              <a:rPr sz="6000" u="sng" spc="-5" dirty="0">
                <a:solidFill>
                  <a:schemeClr val="tx1"/>
                </a:solidFill>
                <a:latin typeface="Bell MT" pitchFamily="18" charset="0"/>
              </a:rPr>
              <a:t>Algorithm</a:t>
            </a:r>
          </a:p>
        </p:txBody>
      </p:sp>
      <p:graphicFrame>
        <p:nvGraphicFramePr>
          <p:cNvPr id="10" name="Table 9"/>
          <p:cNvGraphicFramePr>
            <a:graphicFrameLocks noGrp="1"/>
          </p:cNvGraphicFramePr>
          <p:nvPr/>
        </p:nvGraphicFramePr>
        <p:xfrm>
          <a:off x="304800" y="3467100"/>
          <a:ext cx="17602200" cy="6675120"/>
        </p:xfrm>
        <a:graphic>
          <a:graphicData uri="http://schemas.openxmlformats.org/drawingml/2006/table">
            <a:tbl>
              <a:tblPr firstRow="1" bandRow="1">
                <a:tableStyleId>{C083E6E3-FA7D-4D7B-A595-EF9225AFEA82}</a:tableStyleId>
              </a:tblPr>
              <a:tblGrid>
                <a:gridCol w="8801100"/>
                <a:gridCol w="8801100"/>
              </a:tblGrid>
              <a:tr h="6248400">
                <a:tc>
                  <a:txBody>
                    <a:bodyPr/>
                    <a:lstStyle/>
                    <a:p>
                      <a:pPr marL="12700" marR="448945">
                        <a:lnSpc>
                          <a:spcPts val="2820"/>
                        </a:lnSpc>
                        <a:spcBef>
                          <a:spcPts val="340"/>
                        </a:spcBef>
                      </a:pPr>
                      <a:r>
                        <a:rPr lang="en-US" sz="2400" b="0" dirty="0" smtClean="0"/>
                        <a:t>Implementing the FCFS algorithm offers several advantages.</a:t>
                      </a:r>
                    </a:p>
                    <a:p>
                      <a:pPr marL="12700" marR="448945">
                        <a:lnSpc>
                          <a:spcPts val="2820"/>
                        </a:lnSpc>
                        <a:spcBef>
                          <a:spcPts val="340"/>
                        </a:spcBef>
                      </a:pPr>
                      <a:endParaRPr lang="en-US" sz="2400" b="0" dirty="0" smtClean="0"/>
                    </a:p>
                    <a:p>
                      <a:pPr marL="584200" marR="448945" indent="-571500">
                        <a:lnSpc>
                          <a:spcPts val="2820"/>
                        </a:lnSpc>
                        <a:spcBef>
                          <a:spcPts val="340"/>
                        </a:spcBef>
                        <a:buAutoNum type="arabicPeriod"/>
                      </a:pPr>
                      <a:r>
                        <a:rPr lang="en-US" sz="2400" b="0" dirty="0" smtClean="0"/>
                        <a:t>Firstly, it is easy to understand and implement, requiring minimal computational resources.</a:t>
                      </a:r>
                    </a:p>
                    <a:p>
                      <a:pPr marL="584200" marR="448945" indent="-571500">
                        <a:lnSpc>
                          <a:spcPts val="2820"/>
                        </a:lnSpc>
                        <a:spcBef>
                          <a:spcPts val="340"/>
                        </a:spcBef>
                        <a:buAutoNum type="arabicPeriod"/>
                      </a:pPr>
                      <a:r>
                        <a:rPr lang="en-US" sz="2400" b="0" dirty="0" smtClean="0"/>
                        <a:t>It ensures fairness in task execution, as tasks are processed in the order of their arrival</a:t>
                      </a:r>
                    </a:p>
                    <a:p>
                      <a:pPr marL="584200" marR="448945" indent="-571500">
                        <a:lnSpc>
                          <a:spcPts val="2820"/>
                        </a:lnSpc>
                        <a:spcBef>
                          <a:spcPts val="340"/>
                        </a:spcBef>
                        <a:buAutoNum type="arabicPeriod"/>
                      </a:pPr>
                      <a:r>
                        <a:rPr lang="en-US" sz="2400" b="0" dirty="0" smtClean="0"/>
                        <a:t>FCFS is suitable for scenarios where short task lengths and non-preemptive execution are desired.</a:t>
                      </a:r>
                    </a:p>
                    <a:p>
                      <a:pPr marL="584200" marR="448945" indent="-571500">
                        <a:lnSpc>
                          <a:spcPts val="2820"/>
                        </a:lnSpc>
                        <a:spcBef>
                          <a:spcPts val="340"/>
                        </a:spcBef>
                        <a:buAutoNum type="arabicPeriod"/>
                      </a:pPr>
                      <a:r>
                        <a:rPr lang="en-US" sz="2400" b="0" dirty="0" smtClean="0"/>
                        <a:t>By implementing FCFS, organizations can reduce workflow that leads to increased efficiency and customer satisfaction.</a:t>
                      </a:r>
                    </a:p>
                    <a:p>
                      <a:pPr marL="584200" marR="448945" indent="-571500">
                        <a:lnSpc>
                          <a:spcPts val="2820"/>
                        </a:lnSpc>
                        <a:spcBef>
                          <a:spcPts val="340"/>
                        </a:spcBef>
                        <a:buAutoNum type="arabicPeriod"/>
                      </a:pPr>
                      <a:r>
                        <a:rPr lang="en-US" sz="2400" b="0" dirty="0" smtClean="0"/>
                        <a:t>It runs each procedure in the order that they are received.</a:t>
                      </a:r>
                    </a:p>
                    <a:p>
                      <a:endParaRPr lang="en-US" sz="2400" b="0" dirty="0"/>
                    </a:p>
                  </a:txBody>
                  <a:tcPr/>
                </a:tc>
                <a:tc>
                  <a:txBody>
                    <a:bodyPr/>
                    <a:lstStyle/>
                    <a:p>
                      <a:r>
                        <a:rPr lang="en-US" sz="2400" b="0" dirty="0" smtClean="0"/>
                        <a:t> While the FCFS algorithm</a:t>
                      </a:r>
                      <a:r>
                        <a:rPr lang="en-US" sz="2400" b="0" baseline="0" dirty="0" smtClean="0"/>
                        <a:t> offers simplicity and fairness, it also has its limitations.</a:t>
                      </a:r>
                    </a:p>
                    <a:p>
                      <a:endParaRPr lang="en-US" sz="2400" b="0" baseline="0" dirty="0" smtClean="0"/>
                    </a:p>
                    <a:p>
                      <a:pPr marL="514350" indent="-514350">
                        <a:buFont typeface="+mj-lt"/>
                        <a:buAutoNum type="arabicPeriod"/>
                      </a:pPr>
                      <a:r>
                        <a:rPr lang="en-US" sz="2400" b="0" baseline="0" dirty="0" smtClean="0"/>
                        <a:t>One major drawback is its inefficiency in handling long –running processes, as it may result in longer waiting times for subsequent tasks.</a:t>
                      </a:r>
                    </a:p>
                    <a:p>
                      <a:pPr marL="514350" indent="-514350">
                        <a:buFont typeface="+mj-lt"/>
                        <a:buAutoNum type="arabicPeriod"/>
                      </a:pPr>
                      <a:r>
                        <a:rPr lang="en-US" sz="2400" b="0" baseline="0" dirty="0" smtClean="0"/>
                        <a:t>FCFS does not prioritize task importance or deadline urgency, which can lead to missed deadlines in time-sensitive environments.</a:t>
                      </a:r>
                    </a:p>
                    <a:p>
                      <a:pPr marL="514350" marR="0" indent="-514350" defTabSz="914400" eaLnBrk="1" fontAlgn="auto" latinLnBrk="0" hangingPunct="1">
                        <a:lnSpc>
                          <a:spcPct val="100000"/>
                        </a:lnSpc>
                        <a:spcBef>
                          <a:spcPts val="0"/>
                        </a:spcBef>
                        <a:spcAft>
                          <a:spcPts val="0"/>
                        </a:spcAft>
                        <a:buClrTx/>
                        <a:buSzTx/>
                        <a:buFont typeface="+mj-lt"/>
                        <a:buAutoNum type="arabicPeriod"/>
                        <a:tabLst/>
                        <a:defRPr/>
                      </a:pPr>
                      <a:r>
                        <a:rPr lang="en-US" sz="2400" b="0" i="0" dirty="0" smtClean="0">
                          <a:solidFill>
                            <a:schemeClr val="tx1"/>
                          </a:solidFill>
                          <a:latin typeface="+mn-lt"/>
                          <a:ea typeface="+mn-ea"/>
                          <a:cs typeface="+mn-cs"/>
                        </a:rPr>
                        <a:t>FCFS CPU Scheduling favors CPU over Input or Output operations.</a:t>
                      </a:r>
                    </a:p>
                    <a:p>
                      <a:pPr marL="514350" marR="0" indent="-514350" defTabSz="914400" eaLnBrk="1" fontAlgn="auto" latinLnBrk="0" hangingPunct="1">
                        <a:lnSpc>
                          <a:spcPct val="100000"/>
                        </a:lnSpc>
                        <a:spcBef>
                          <a:spcPts val="0"/>
                        </a:spcBef>
                        <a:spcAft>
                          <a:spcPts val="0"/>
                        </a:spcAft>
                        <a:buClrTx/>
                        <a:buSzTx/>
                        <a:buFont typeface="+mj-lt"/>
                        <a:buAutoNum type="arabicPeriod"/>
                        <a:tabLst/>
                        <a:defRPr/>
                      </a:pPr>
                      <a:r>
                        <a:rPr lang="en-US" sz="2400" b="0" i="0" dirty="0" smtClean="0">
                          <a:solidFill>
                            <a:schemeClr val="tx1"/>
                          </a:solidFill>
                          <a:latin typeface="+mn-lt"/>
                          <a:ea typeface="+mn-ea"/>
                          <a:cs typeface="+mn-cs"/>
                        </a:rPr>
                        <a:t>In FCFS there is a chance of occurrence of Convoy Effect</a:t>
                      </a:r>
                    </a:p>
                    <a:p>
                      <a:pPr marL="514350" marR="0" indent="-514350" defTabSz="914400" eaLnBrk="1" fontAlgn="auto" latinLnBrk="0" hangingPunct="1">
                        <a:lnSpc>
                          <a:spcPct val="100000"/>
                        </a:lnSpc>
                        <a:spcBef>
                          <a:spcPts val="0"/>
                        </a:spcBef>
                        <a:spcAft>
                          <a:spcPts val="0"/>
                        </a:spcAft>
                        <a:buClrTx/>
                        <a:buSzTx/>
                        <a:buFont typeface="+mj-lt"/>
                        <a:buAutoNum type="arabicPeriod"/>
                        <a:tabLst/>
                        <a:defRPr/>
                      </a:pPr>
                      <a:r>
                        <a:rPr lang="en-US" sz="2400" b="0" i="0" dirty="0" smtClean="0">
                          <a:solidFill>
                            <a:schemeClr val="tx1"/>
                          </a:solidFill>
                          <a:latin typeface="+mn-lt"/>
                          <a:ea typeface="+mn-ea"/>
                          <a:cs typeface="+mn-cs"/>
                        </a:rPr>
                        <a:t>Because FCFS is so straight forward, it often isn't very effective. Extended waiting periods go hand in hand with this. All other orders are left idle if the CPU is busy processing one time-consuming order.</a:t>
                      </a:r>
                    </a:p>
                    <a:p>
                      <a:pPr marL="514350" indent="-514350">
                        <a:buFont typeface="+mj-lt"/>
                        <a:buAutoNum type="arabicPeriod"/>
                      </a:pPr>
                      <a:endParaRPr lang="en-US" sz="2400" b="0" baseline="0" dirty="0" smtClean="0"/>
                    </a:p>
                    <a:p>
                      <a:endParaRPr lang="en-US" sz="2400" b="0" dirty="0"/>
                    </a:p>
                  </a:txBody>
                  <a:tcPr/>
                </a:tc>
              </a:tr>
            </a:tbl>
          </a:graphicData>
        </a:graphic>
      </p:graphicFrame>
      <p:sp>
        <p:nvSpPr>
          <p:cNvPr id="5" name="TextBox 4"/>
          <p:cNvSpPr txBox="1"/>
          <p:nvPr/>
        </p:nvSpPr>
        <p:spPr>
          <a:xfrm>
            <a:off x="14401800" y="9563100"/>
            <a:ext cx="3886200" cy="461665"/>
          </a:xfrm>
          <a:prstGeom prst="rect">
            <a:avLst/>
          </a:prstGeom>
          <a:noFill/>
        </p:spPr>
        <p:txBody>
          <a:bodyPr wrap="square" rtlCol="0">
            <a:spAutoFit/>
          </a:bodyPr>
          <a:lstStyle/>
          <a:p>
            <a:r>
              <a:rPr lang="en-US" sz="2400" b="1" dirty="0" smtClean="0">
                <a:latin typeface="MV Boli" pitchFamily="2" charset="0"/>
                <a:cs typeface="MV Boli" pitchFamily="2" charset="0"/>
              </a:rPr>
              <a:t>ADITYA KUMAR, 34</a:t>
            </a:r>
            <a:endParaRPr lang="en-US" sz="2400" b="1" dirty="0">
              <a:latin typeface="MV Boli" pitchFamily="2" charset="0"/>
              <a:cs typeface="MV Boli"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785510" y="759235"/>
            <a:ext cx="9577690" cy="1859483"/>
          </a:xfrm>
          <a:prstGeom prst="rect">
            <a:avLst/>
          </a:prstGeom>
        </p:spPr>
        <p:txBody>
          <a:bodyPr vert="horz" wrap="square" lIns="0" tIns="12700" rIns="0" bIns="0" rtlCol="0">
            <a:spAutoFit/>
          </a:bodyPr>
          <a:lstStyle/>
          <a:p>
            <a:pPr marL="12700">
              <a:lnSpc>
                <a:spcPct val="100000"/>
              </a:lnSpc>
              <a:spcBef>
                <a:spcPts val="100"/>
              </a:spcBef>
            </a:pPr>
            <a:r>
              <a:rPr lang="en-US" sz="6000" u="sng" spc="-5" dirty="0" smtClean="0">
                <a:solidFill>
                  <a:schemeClr val="tx1"/>
                </a:solidFill>
                <a:latin typeface="Bell MT" pitchFamily="18" charset="0"/>
              </a:rPr>
              <a:t>4.Real Life Example of FCFS Scheduling</a:t>
            </a:r>
            <a:endParaRPr sz="6000" u="sng" spc="-5" dirty="0">
              <a:solidFill>
                <a:schemeClr val="tx1"/>
              </a:solidFill>
              <a:latin typeface="Bell MT" pitchFamily="18" charset="0"/>
            </a:endParaRPr>
          </a:p>
        </p:txBody>
      </p:sp>
      <p:sp>
        <p:nvSpPr>
          <p:cNvPr id="5" name="TextBox 4"/>
          <p:cNvSpPr txBox="1"/>
          <p:nvPr/>
        </p:nvSpPr>
        <p:spPr>
          <a:xfrm>
            <a:off x="533400" y="3467100"/>
            <a:ext cx="8763000" cy="6494085"/>
          </a:xfrm>
          <a:prstGeom prst="rect">
            <a:avLst/>
          </a:prstGeom>
          <a:noFill/>
        </p:spPr>
        <p:txBody>
          <a:bodyPr wrap="square" rtlCol="0">
            <a:spAutoFit/>
          </a:bodyPr>
          <a:lstStyle/>
          <a:p>
            <a:r>
              <a:rPr lang="en-US" sz="3200" dirty="0" smtClean="0"/>
              <a:t>As a real life example of FCFS scheduling a billing counter system of shopping mall can be observed. The first person in the line gets the bill done first and then the next person gets the chance to get the bill and make payment and so on. If no priority is given to the VIP customers then the billing system will go on like this (means the first person (first task) in the line will get the bill first and after finishing (executing) the first customer’s payment the counter boy(CPU) will pay attention to other customers (separate tasks) as they are in the line). As FCFS is non-preemptive type so no priority will be given to the random important tasks.</a:t>
            </a:r>
            <a:endParaRPr lang="en-US" sz="3200" dirty="0"/>
          </a:p>
        </p:txBody>
      </p:sp>
      <p:pic>
        <p:nvPicPr>
          <p:cNvPr id="6" name="Picture 5" descr="sheduling-first-come-first-serve-fcfs.jpg"/>
          <p:cNvPicPr>
            <a:picLocks noChangeAspect="1"/>
          </p:cNvPicPr>
          <p:nvPr/>
        </p:nvPicPr>
        <p:blipFill>
          <a:blip r:embed="rId2" cstate="print"/>
          <a:stretch>
            <a:fillRect/>
          </a:stretch>
        </p:blipFill>
        <p:spPr>
          <a:xfrm>
            <a:off x="9525000" y="1943100"/>
            <a:ext cx="8763000" cy="7086600"/>
          </a:xfrm>
          <a:prstGeom prst="rect">
            <a:avLst/>
          </a:prstGeom>
        </p:spPr>
      </p:pic>
      <p:sp>
        <p:nvSpPr>
          <p:cNvPr id="7" name="TextBox 6"/>
          <p:cNvSpPr txBox="1"/>
          <p:nvPr/>
        </p:nvSpPr>
        <p:spPr>
          <a:xfrm>
            <a:off x="14249400" y="9563100"/>
            <a:ext cx="4419600" cy="461665"/>
          </a:xfrm>
          <a:prstGeom prst="rect">
            <a:avLst/>
          </a:prstGeom>
          <a:noFill/>
        </p:spPr>
        <p:txBody>
          <a:bodyPr wrap="square" rtlCol="0">
            <a:spAutoFit/>
          </a:bodyPr>
          <a:lstStyle/>
          <a:p>
            <a:r>
              <a:rPr lang="en-US" sz="2400" b="1" dirty="0" smtClean="0">
                <a:latin typeface="MV Boli" pitchFamily="2" charset="0"/>
                <a:cs typeface="MV Boli" pitchFamily="2" charset="0"/>
              </a:rPr>
              <a:t>ADITYA KUMAR, 34</a:t>
            </a:r>
            <a:endParaRPr lang="en-US" sz="2400" b="1" dirty="0">
              <a:latin typeface="MV Boli" pitchFamily="2" charset="0"/>
              <a:cs typeface="MV Boli"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0744200" y="1638300"/>
            <a:ext cx="6934200" cy="6705599"/>
          </a:xfrm>
          <a:prstGeom prst="rect">
            <a:avLst/>
          </a:prstGeom>
        </p:spPr>
      </p:pic>
      <p:sp>
        <p:nvSpPr>
          <p:cNvPr id="4" name="object 4"/>
          <p:cNvSpPr txBox="1">
            <a:spLocks noGrp="1"/>
          </p:cNvSpPr>
          <p:nvPr>
            <p:ph type="title"/>
          </p:nvPr>
        </p:nvSpPr>
        <p:spPr>
          <a:xfrm>
            <a:off x="1295400" y="876300"/>
            <a:ext cx="8206089" cy="1028487"/>
          </a:xfrm>
          <a:prstGeom prst="rect">
            <a:avLst/>
          </a:prstGeom>
        </p:spPr>
        <p:txBody>
          <a:bodyPr vert="horz" wrap="square" lIns="0" tIns="12700" rIns="0" bIns="0" rtlCol="0">
            <a:spAutoFit/>
          </a:bodyPr>
          <a:lstStyle/>
          <a:p>
            <a:pPr marL="12700">
              <a:lnSpc>
                <a:spcPct val="100000"/>
              </a:lnSpc>
              <a:spcBef>
                <a:spcPts val="100"/>
              </a:spcBef>
            </a:pPr>
            <a:r>
              <a:rPr sz="6600" u="sng" spc="-85" dirty="0" smtClean="0">
                <a:solidFill>
                  <a:schemeClr val="tx1"/>
                </a:solidFill>
                <a:latin typeface="Bell MT" pitchFamily="18" charset="0"/>
              </a:rPr>
              <a:t> </a:t>
            </a:r>
            <a:r>
              <a:rPr lang="en-US" sz="6600" u="sng" spc="-85" dirty="0" smtClean="0">
                <a:solidFill>
                  <a:schemeClr val="tx1"/>
                </a:solidFill>
                <a:latin typeface="Bell MT" pitchFamily="18" charset="0"/>
              </a:rPr>
              <a:t>6. </a:t>
            </a:r>
            <a:r>
              <a:rPr sz="6600" u="sng" spc="-10" dirty="0" smtClean="0">
                <a:solidFill>
                  <a:schemeClr val="tx1"/>
                </a:solidFill>
                <a:latin typeface="Bell MT" pitchFamily="18" charset="0"/>
              </a:rPr>
              <a:t>Conclusion</a:t>
            </a:r>
            <a:endParaRPr sz="6600" u="sng" spc="-10" dirty="0">
              <a:solidFill>
                <a:schemeClr val="tx1"/>
              </a:solidFill>
              <a:latin typeface="Bell MT" pitchFamily="18" charset="0"/>
            </a:endParaRPr>
          </a:p>
        </p:txBody>
      </p:sp>
      <p:sp>
        <p:nvSpPr>
          <p:cNvPr id="6" name="TextBox 5"/>
          <p:cNvSpPr txBox="1"/>
          <p:nvPr/>
        </p:nvSpPr>
        <p:spPr>
          <a:xfrm>
            <a:off x="304800" y="3314700"/>
            <a:ext cx="10363200" cy="4031873"/>
          </a:xfrm>
          <a:prstGeom prst="rect">
            <a:avLst/>
          </a:prstGeom>
          <a:noFill/>
        </p:spPr>
        <p:txBody>
          <a:bodyPr wrap="square" rtlCol="0">
            <a:spAutoFit/>
          </a:bodyPr>
          <a:lstStyle/>
          <a:p>
            <a:r>
              <a:rPr lang="en-US" sz="3200" dirty="0" smtClean="0"/>
              <a:t>The First Come First Serve(FCFS) algorithm is a powerful method for optimizing process scheduling. It ensures fairness by prioritizing tasks based on their arrival time. While FCFS may not be the most efficient algorithm in all scenarios, it provided a simple and easy-to-implement solution. Understanding the strength and limitations of FCFS is crucial to effectively manage process scheduling and optimize operational efficiency</a:t>
            </a:r>
            <a:r>
              <a:rPr lang="en-US" sz="3200" dirty="0" smtClean="0"/>
              <a:t>.</a:t>
            </a:r>
            <a:endParaRPr lang="en-US" sz="3200" dirty="0" smtClean="0"/>
          </a:p>
        </p:txBody>
      </p:sp>
      <p:sp>
        <p:nvSpPr>
          <p:cNvPr id="5" name="TextBox 4"/>
          <p:cNvSpPr txBox="1"/>
          <p:nvPr/>
        </p:nvSpPr>
        <p:spPr>
          <a:xfrm>
            <a:off x="14173200" y="9563100"/>
            <a:ext cx="4800600" cy="461665"/>
          </a:xfrm>
          <a:prstGeom prst="rect">
            <a:avLst/>
          </a:prstGeom>
          <a:noFill/>
        </p:spPr>
        <p:txBody>
          <a:bodyPr wrap="square" rtlCol="0">
            <a:spAutoFit/>
          </a:bodyPr>
          <a:lstStyle/>
          <a:p>
            <a:r>
              <a:rPr lang="en-US" sz="2400" b="1" dirty="0" smtClean="0">
                <a:latin typeface="MV Boli" pitchFamily="2" charset="0"/>
                <a:cs typeface="MV Boli" pitchFamily="2" charset="0"/>
              </a:rPr>
              <a:t>ADITYA KUMAR, 34</a:t>
            </a:r>
            <a:endParaRPr lang="en-US" sz="2400" b="1" dirty="0">
              <a:latin typeface="MV Boli" pitchFamily="2" charset="0"/>
              <a:cs typeface="MV Boli" pitchFamily="2" charset="0"/>
            </a:endParaRPr>
          </a:p>
        </p:txBody>
      </p:sp>
      <p:sp>
        <p:nvSpPr>
          <p:cNvPr id="7" name="TextBox 6"/>
          <p:cNvSpPr txBox="1"/>
          <p:nvPr/>
        </p:nvSpPr>
        <p:spPr>
          <a:xfrm>
            <a:off x="990600" y="7658100"/>
            <a:ext cx="9067800" cy="1569660"/>
          </a:xfrm>
          <a:prstGeom prst="rect">
            <a:avLst/>
          </a:prstGeom>
          <a:noFill/>
        </p:spPr>
        <p:txBody>
          <a:bodyPr wrap="square" rtlCol="0">
            <a:spAutoFit/>
          </a:bodyPr>
          <a:lstStyle/>
          <a:p>
            <a:r>
              <a:rPr lang="en-US" sz="9600" b="1" dirty="0" smtClean="0">
                <a:latin typeface="MV Boli" pitchFamily="2" charset="0"/>
                <a:cs typeface="MV Boli" pitchFamily="2" charset="0"/>
              </a:rPr>
              <a:t>THANK YOU!</a:t>
            </a:r>
            <a:endParaRPr lang="en-US" sz="9600" b="1" dirty="0">
              <a:latin typeface="MV Boli" pitchFamily="2" charset="0"/>
              <a:cs typeface="MV Boli"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386</TotalTime>
  <Words>768</Words>
  <Application>Microsoft Office PowerPoint</Application>
  <PresentationFormat>Custom</PresentationFormat>
  <Paragraphs>59</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First Come First Serve (FCFS) Scheduling Algorithm in Operating Systems</vt:lpstr>
      <vt:lpstr>Introduction to Process Scheduling</vt:lpstr>
      <vt:lpstr>2. Overview of First Come First  Serve (FCFS) Algorithm</vt:lpstr>
      <vt:lpstr>Example of FCFS Algorithm</vt:lpstr>
      <vt:lpstr>Waiting time (WT) − Waiting time is the time at which the process waits for its allocation while the previous process is in the CPU for execution. WT is written as  Waiting time (WT) = Turn-around time (TAT) – Burst time (BT)  Response time (RT) − Response time is the time at which CPU has been allocated to a particular process first time. </vt:lpstr>
      <vt:lpstr>3. Advantages &amp; Disadvantages of FCFS Algorithm</vt:lpstr>
      <vt:lpstr>4.Real Life Example of FCFS Scheduling</vt:lpstr>
      <vt:lpstr> 6. 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Process Scheduling:  Unveiling the Power of First Come  First Serve Algorithm</dc:title>
  <dc:creator>Aditya</dc:creator>
  <cp:lastModifiedBy>Rishuraj</cp:lastModifiedBy>
  <cp:revision>77</cp:revision>
  <dcterms:created xsi:type="dcterms:W3CDTF">2023-08-04T10:18:10Z</dcterms:created>
  <dcterms:modified xsi:type="dcterms:W3CDTF">2023-08-06T14:18:24Z</dcterms:modified>
</cp:coreProperties>
</file>