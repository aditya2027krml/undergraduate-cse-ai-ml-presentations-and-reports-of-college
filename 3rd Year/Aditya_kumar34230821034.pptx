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notesSlides/notesSlide1.xml" ContentType="application/vnd.openxmlformats-officedocument.presentationml.notesSlide+xml"/>
  <Default Extension="png" ContentType="image/png"/>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Default Extension="fntdata" ContentType="application/x-fontdata"/>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s/slide7.xml" ContentType="application/vnd.openxmlformats-officedocument.presentationml.slide+xml"/>
  <Override PartName="/ppt/slides/slide8.xml" ContentType="application/vnd.openxmlformats-officedocument.presentationml.slide+xml"/>
  <Override PartName="/ppt/viewProps.xml" ContentType="application/vnd.openxmlformats-officedocument.presentationml.viewProps+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8" r:id="rId1"/>
  </p:sldMasterIdLst>
  <p:notesMasterIdLst>
    <p:notesMasterId r:id="rId10"/>
  </p:notesMasterIdLst>
  <p:sldIdLst>
    <p:sldId id="256" r:id="rId2"/>
    <p:sldId id="261" r:id="rId3"/>
    <p:sldId id="262" r:id="rId4"/>
    <p:sldId id="268" r:id="rId5"/>
    <p:sldId id="264" r:id="rId6"/>
    <p:sldId id="271" r:id="rId7"/>
    <p:sldId id="265" r:id="rId8"/>
    <p:sldId id="267" r:id="rId9"/>
  </p:sldIdLst>
  <p:sldSz cx="9144000" cy="5143500" type="screen16x9"/>
  <p:notesSz cx="6858000" cy="9144000"/>
  <p:embeddedFontLst>
    <p:embeddedFont>
      <p:font typeface="Bell MT" pitchFamily="18" charset="0"/>
      <p:regular r:id="rId11"/>
      <p:bold r:id="rId12"/>
      <p:italic r:id="rId13"/>
    </p:embeddedFont>
    <p:embeddedFont>
      <p:font typeface="Libre Baskerville" charset="0"/>
      <p:regular r:id="rId14"/>
      <p:bold r:id="rId15"/>
      <p:italic r:id="rId16"/>
    </p:embeddedFont>
    <p:embeddedFont>
      <p:font typeface="MV Boli" pitchFamily="2" charset="0"/>
      <p:regular r:id="rId17"/>
    </p:embeddedFont>
    <p:embeddedFont>
      <p:font typeface="DM Sans" charset="0"/>
      <p:regular r:id="rId18"/>
      <p:bold r:id="rId19"/>
      <p:italic r:id="rId20"/>
      <p:boldItalic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FBBCAFF8-5E91-4839-BDFC-35487B323E13}">
  <a:tblStyle styleId="{FBBCAFF8-5E91-4839-BDFC-35487B323E1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84153231-1AEA-42AA-A113-9BCB8BEE630F}"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1" d="100"/>
          <a:sy n="91" d="100"/>
        </p:scale>
        <p:origin x="-786" y="-102"/>
      </p:cViewPr>
      <p:guideLst>
        <p:guide orient="horz" pos="1620"/>
        <p:guide pos="2880"/>
      </p:guideLst>
    </p:cSldViewPr>
  </p:slideViewPr>
  <p:notesTextViewPr>
    <p:cViewPr>
      <p:scale>
        <a:sx n="100" d="100"/>
        <a:sy n="100" d="100"/>
      </p:scale>
      <p:origin x="0" y="0"/>
    </p:cViewPr>
  </p:notesTextViewPr>
  <p:sorterViewPr>
    <p:cViewPr>
      <p:scale>
        <a:sx n="66" d="100"/>
        <a:sy n="66" d="100"/>
      </p:scale>
      <p:origin x="0" y="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11.fntdata"/><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5.fntdata"/><Relationship Id="rId23" Type="http://schemas.openxmlformats.org/officeDocument/2006/relationships/viewProps" Target="viewProps.xml"/><Relationship Id="rId10" Type="http://schemas.openxmlformats.org/officeDocument/2006/relationships/notesMaster" Target="notesMasters/notesMaster1.xml"/><Relationship Id="rId19"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g23116de41c2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7" name="Google Shape;487;g23116de41c2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0"/>
        <p:cNvGrpSpPr/>
        <p:nvPr/>
      </p:nvGrpSpPr>
      <p:grpSpPr>
        <a:xfrm>
          <a:off x="0" y="0"/>
          <a:ext cx="0" cy="0"/>
          <a:chOff x="0" y="0"/>
          <a:chExt cx="0" cy="0"/>
        </a:xfrm>
      </p:grpSpPr>
      <p:sp>
        <p:nvSpPr>
          <p:cNvPr id="531" name="Google Shape;531;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2" name="Google Shape;532;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834950" y="1432275"/>
            <a:ext cx="6330600" cy="1610100"/>
          </a:xfrm>
          <a:prstGeom prst="rect">
            <a:avLst/>
          </a:prstGeom>
        </p:spPr>
        <p:txBody>
          <a:bodyPr spcFirstLastPara="1" wrap="square" lIns="91425" tIns="91425" rIns="91425" bIns="91425" anchor="b" anchorCtr="0">
            <a:noAutofit/>
          </a:bodyPr>
          <a:lstStyle>
            <a:lvl1pPr lvl="0">
              <a:lnSpc>
                <a:spcPct val="90000"/>
              </a:lnSpc>
              <a:spcBef>
                <a:spcPts val="0"/>
              </a:spcBef>
              <a:spcAft>
                <a:spcPts val="0"/>
              </a:spcAft>
              <a:buClr>
                <a:srgbClr val="191919"/>
              </a:buClr>
              <a:buSzPts val="5200"/>
              <a:buNone/>
              <a:defRPr sz="5000" b="0">
                <a:latin typeface="Libre Baskerville"/>
                <a:ea typeface="Libre Baskerville"/>
                <a:cs typeface="Libre Baskerville"/>
                <a:sym typeface="Libre Baskerville"/>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834950" y="3083025"/>
            <a:ext cx="2472300" cy="7170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600">
                <a:solidFill>
                  <a:schemeClr val="dk1"/>
                </a:solidFill>
                <a:latin typeface="DM Sans"/>
                <a:ea typeface="DM Sans"/>
                <a:cs typeface="DM Sans"/>
                <a:sym typeface="DM Sans"/>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1" name="Google Shape;11;p2"/>
          <p:cNvGrpSpPr/>
          <p:nvPr/>
        </p:nvGrpSpPr>
        <p:grpSpPr>
          <a:xfrm>
            <a:off x="7463650" y="4950"/>
            <a:ext cx="1680500" cy="5143500"/>
            <a:chOff x="7463650" y="4950"/>
            <a:chExt cx="1680500" cy="5143500"/>
          </a:xfrm>
        </p:grpSpPr>
        <p:sp>
          <p:nvSpPr>
            <p:cNvPr id="12" name="Google Shape;12;p2"/>
            <p:cNvSpPr/>
            <p:nvPr/>
          </p:nvSpPr>
          <p:spPr>
            <a:xfrm>
              <a:off x="7463650" y="4950"/>
              <a:ext cx="728700" cy="5143500"/>
            </a:xfrm>
            <a:prstGeom prst="rect">
              <a:avLst/>
            </a:prstGeom>
            <a:gradFill>
              <a:gsLst>
                <a:gs pos="0">
                  <a:schemeClr val="lt1"/>
                </a:gs>
                <a:gs pos="74000">
                  <a:schemeClr val="lt1"/>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8678250" y="4950"/>
              <a:ext cx="465900" cy="5143500"/>
            </a:xfrm>
            <a:prstGeom prst="rect">
              <a:avLst/>
            </a:prstGeom>
            <a:gradFill>
              <a:gsLst>
                <a:gs pos="0">
                  <a:schemeClr val="dk2"/>
                </a:gs>
                <a:gs pos="46000">
                  <a:schemeClr val="lt1"/>
                </a:gs>
                <a:gs pos="100000">
                  <a:schemeClr val="lt2"/>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8393175" y="4950"/>
              <a:ext cx="285000" cy="5143500"/>
            </a:xfrm>
            <a:prstGeom prst="rect">
              <a:avLst/>
            </a:prstGeom>
            <a:gradFill>
              <a:gsLst>
                <a:gs pos="0">
                  <a:schemeClr val="l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flipH="1">
              <a:off x="8192175" y="4950"/>
              <a:ext cx="201000" cy="5143500"/>
            </a:xfrm>
            <a:prstGeom prst="rect">
              <a:avLst/>
            </a:prstGeom>
            <a:gradFill>
              <a:gsLst>
                <a:gs pos="0">
                  <a:schemeClr val="lt1"/>
                </a:gs>
                <a:gs pos="32000">
                  <a:schemeClr val="lt1"/>
                </a:gs>
                <a:gs pos="100000">
                  <a:schemeClr val="lt2"/>
                </a:gs>
              </a:gsLst>
              <a:lin ang="167999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16;p2"/>
          <p:cNvSpPr/>
          <p:nvPr/>
        </p:nvSpPr>
        <p:spPr>
          <a:xfrm flipH="1">
            <a:off x="-25" y="0"/>
            <a:ext cx="6596100" cy="539400"/>
          </a:xfrm>
          <a:prstGeom prst="rect">
            <a:avLst/>
          </a:prstGeom>
          <a:solidFill>
            <a:schemeClr val="dk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 name="Google Shape;17;p2"/>
          <p:cNvGrpSpPr/>
          <p:nvPr/>
        </p:nvGrpSpPr>
        <p:grpSpPr>
          <a:xfrm>
            <a:off x="2475" y="4840800"/>
            <a:ext cx="9159300" cy="151200"/>
            <a:chOff x="2475" y="4840800"/>
            <a:chExt cx="9159300" cy="151200"/>
          </a:xfrm>
        </p:grpSpPr>
        <p:sp>
          <p:nvSpPr>
            <p:cNvPr id="18" name="Google Shape;18;p2"/>
            <p:cNvSpPr/>
            <p:nvPr/>
          </p:nvSpPr>
          <p:spPr>
            <a:xfrm>
              <a:off x="945675" y="4840800"/>
              <a:ext cx="151200" cy="151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9" name="Google Shape;19;p2"/>
            <p:cNvCxnSpPr/>
            <p:nvPr/>
          </p:nvCxnSpPr>
          <p:spPr>
            <a:xfrm>
              <a:off x="1197075" y="4926450"/>
              <a:ext cx="7964700" cy="0"/>
            </a:xfrm>
            <a:prstGeom prst="straightConnector1">
              <a:avLst/>
            </a:prstGeom>
            <a:noFill/>
            <a:ln w="9525" cap="flat" cmpd="sng">
              <a:solidFill>
                <a:schemeClr val="dk1"/>
              </a:solidFill>
              <a:prstDash val="solid"/>
              <a:round/>
              <a:headEnd type="none" w="med" len="med"/>
              <a:tailEnd type="none" w="med" len="med"/>
            </a:ln>
          </p:spPr>
        </p:cxnSp>
        <p:cxnSp>
          <p:nvCxnSpPr>
            <p:cNvPr id="20" name="Google Shape;20;p2"/>
            <p:cNvCxnSpPr/>
            <p:nvPr/>
          </p:nvCxnSpPr>
          <p:spPr>
            <a:xfrm>
              <a:off x="2475" y="4926450"/>
              <a:ext cx="8430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115"/>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_1">
    <p:spTree>
      <p:nvGrpSpPr>
        <p:cNvPr id="1" name="Shape 235"/>
        <p:cNvGrpSpPr/>
        <p:nvPr/>
      </p:nvGrpSpPr>
      <p:grpSpPr>
        <a:xfrm>
          <a:off x="0" y="0"/>
          <a:ext cx="0" cy="0"/>
          <a:chOff x="0" y="0"/>
          <a:chExt cx="0" cy="0"/>
        </a:xfrm>
      </p:grpSpPr>
      <p:grpSp>
        <p:nvGrpSpPr>
          <p:cNvPr id="236" name="Google Shape;236;p22"/>
          <p:cNvGrpSpPr/>
          <p:nvPr/>
        </p:nvGrpSpPr>
        <p:grpSpPr>
          <a:xfrm>
            <a:off x="0" y="4950"/>
            <a:ext cx="486000" cy="5143500"/>
            <a:chOff x="0" y="4950"/>
            <a:chExt cx="486000" cy="5143500"/>
          </a:xfrm>
        </p:grpSpPr>
        <p:sp>
          <p:nvSpPr>
            <p:cNvPr id="237" name="Google Shape;237;p22"/>
            <p:cNvSpPr/>
            <p:nvPr/>
          </p:nvSpPr>
          <p:spPr>
            <a:xfrm flipH="1">
              <a:off x="0" y="4950"/>
              <a:ext cx="285000" cy="5143500"/>
            </a:xfrm>
            <a:prstGeom prst="rect">
              <a:avLst/>
            </a:prstGeom>
            <a:gradFill>
              <a:gsLst>
                <a:gs pos="0">
                  <a:schemeClr val="l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22"/>
            <p:cNvSpPr/>
            <p:nvPr/>
          </p:nvSpPr>
          <p:spPr>
            <a:xfrm>
              <a:off x="285000" y="4950"/>
              <a:ext cx="201000" cy="5143500"/>
            </a:xfrm>
            <a:prstGeom prst="rect">
              <a:avLst/>
            </a:prstGeom>
            <a:gradFill>
              <a:gsLst>
                <a:gs pos="0">
                  <a:schemeClr val="lt1"/>
                </a:gs>
                <a:gs pos="47000">
                  <a:schemeClr val="lt1"/>
                </a:gs>
                <a:gs pos="100000">
                  <a:schemeClr val="lt2"/>
                </a:gs>
              </a:gsLst>
              <a:lin ang="167999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9" name="Google Shape;239;p2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40" name="Google Shape;240;p22"/>
          <p:cNvSpPr txBox="1">
            <a:spLocks noGrp="1"/>
          </p:cNvSpPr>
          <p:nvPr>
            <p:ph type="subTitle" idx="1"/>
          </p:nvPr>
        </p:nvSpPr>
        <p:spPr>
          <a:xfrm>
            <a:off x="4505531" y="1743825"/>
            <a:ext cx="3040800" cy="22263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41" name="Google Shape;241;p22"/>
          <p:cNvSpPr txBox="1">
            <a:spLocks noGrp="1"/>
          </p:cNvSpPr>
          <p:nvPr>
            <p:ph type="subTitle" idx="2"/>
          </p:nvPr>
        </p:nvSpPr>
        <p:spPr>
          <a:xfrm>
            <a:off x="713225" y="1743825"/>
            <a:ext cx="3040800" cy="22263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42" name="Google Shape;242;p22"/>
          <p:cNvSpPr/>
          <p:nvPr/>
        </p:nvSpPr>
        <p:spPr>
          <a:xfrm flipH="1">
            <a:off x="8423925" y="-10075"/>
            <a:ext cx="744600" cy="539400"/>
          </a:xfrm>
          <a:prstGeom prst="rect">
            <a:avLst/>
          </a:prstGeom>
          <a:solidFill>
            <a:schemeClr val="dk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3" name="Google Shape;243;p22"/>
          <p:cNvGrpSpPr/>
          <p:nvPr/>
        </p:nvGrpSpPr>
        <p:grpSpPr>
          <a:xfrm>
            <a:off x="-111811" y="4840700"/>
            <a:ext cx="9268661" cy="151200"/>
            <a:chOff x="-111811" y="184025"/>
            <a:chExt cx="9268661" cy="151200"/>
          </a:xfrm>
        </p:grpSpPr>
        <p:cxnSp>
          <p:nvCxnSpPr>
            <p:cNvPr id="244" name="Google Shape;244;p22"/>
            <p:cNvCxnSpPr/>
            <p:nvPr/>
          </p:nvCxnSpPr>
          <p:spPr>
            <a:xfrm>
              <a:off x="-111811" y="269675"/>
              <a:ext cx="8024400" cy="0"/>
            </a:xfrm>
            <a:prstGeom prst="straightConnector1">
              <a:avLst/>
            </a:prstGeom>
            <a:noFill/>
            <a:ln w="9525" cap="flat" cmpd="sng">
              <a:solidFill>
                <a:schemeClr val="dk1"/>
              </a:solidFill>
              <a:prstDash val="solid"/>
              <a:round/>
              <a:headEnd type="none" w="med" len="med"/>
              <a:tailEnd type="none" w="med" len="med"/>
            </a:ln>
          </p:spPr>
        </p:cxnSp>
        <p:sp>
          <p:nvSpPr>
            <p:cNvPr id="245" name="Google Shape;245;p22"/>
            <p:cNvSpPr/>
            <p:nvPr/>
          </p:nvSpPr>
          <p:spPr>
            <a:xfrm rot="10800000">
              <a:off x="8037613" y="184025"/>
              <a:ext cx="151200" cy="151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46" name="Google Shape;246;p22"/>
            <p:cNvCxnSpPr/>
            <p:nvPr/>
          </p:nvCxnSpPr>
          <p:spPr>
            <a:xfrm>
              <a:off x="8313850" y="259625"/>
              <a:ext cx="8430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454"/>
        <p:cNvGrpSpPr/>
        <p:nvPr/>
      </p:nvGrpSpPr>
      <p:grpSpPr>
        <a:xfrm>
          <a:off x="0" y="0"/>
          <a:ext cx="0" cy="0"/>
          <a:chOff x="0" y="0"/>
          <a:chExt cx="0" cy="0"/>
        </a:xfrm>
      </p:grpSpPr>
      <p:grpSp>
        <p:nvGrpSpPr>
          <p:cNvPr id="455" name="Google Shape;455;p36"/>
          <p:cNvGrpSpPr/>
          <p:nvPr/>
        </p:nvGrpSpPr>
        <p:grpSpPr>
          <a:xfrm>
            <a:off x="8658000" y="4950"/>
            <a:ext cx="486000" cy="5143500"/>
            <a:chOff x="8658000" y="4950"/>
            <a:chExt cx="486000" cy="5143500"/>
          </a:xfrm>
        </p:grpSpPr>
        <p:sp>
          <p:nvSpPr>
            <p:cNvPr id="456" name="Google Shape;456;p36"/>
            <p:cNvSpPr/>
            <p:nvPr/>
          </p:nvSpPr>
          <p:spPr>
            <a:xfrm rot="10800000">
              <a:off x="8658000" y="4950"/>
              <a:ext cx="285000" cy="5143500"/>
            </a:xfrm>
            <a:prstGeom prst="rect">
              <a:avLst/>
            </a:prstGeom>
            <a:gradFill>
              <a:gsLst>
                <a:gs pos="0">
                  <a:schemeClr val="l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36"/>
            <p:cNvSpPr/>
            <p:nvPr/>
          </p:nvSpPr>
          <p:spPr>
            <a:xfrm rot="10800000" flipH="1">
              <a:off x="8943000" y="4950"/>
              <a:ext cx="201000" cy="5143500"/>
            </a:xfrm>
            <a:prstGeom prst="rect">
              <a:avLst/>
            </a:prstGeom>
            <a:gradFill>
              <a:gsLst>
                <a:gs pos="0">
                  <a:schemeClr val="lt1"/>
                </a:gs>
                <a:gs pos="47000">
                  <a:schemeClr val="lt1"/>
                </a:gs>
                <a:gs pos="100000">
                  <a:schemeClr val="lt2"/>
                </a:gs>
              </a:gsLst>
              <a:lin ang="167999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8" name="Google Shape;458;p36"/>
          <p:cNvGrpSpPr/>
          <p:nvPr/>
        </p:nvGrpSpPr>
        <p:grpSpPr>
          <a:xfrm>
            <a:off x="-4102" y="4840700"/>
            <a:ext cx="9159300" cy="151200"/>
            <a:chOff x="2475" y="4840800"/>
            <a:chExt cx="9159300" cy="151200"/>
          </a:xfrm>
        </p:grpSpPr>
        <p:sp>
          <p:nvSpPr>
            <p:cNvPr id="459" name="Google Shape;459;p36"/>
            <p:cNvSpPr/>
            <p:nvPr/>
          </p:nvSpPr>
          <p:spPr>
            <a:xfrm>
              <a:off x="945675" y="4840800"/>
              <a:ext cx="151200" cy="151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60" name="Google Shape;460;p36"/>
            <p:cNvCxnSpPr/>
            <p:nvPr/>
          </p:nvCxnSpPr>
          <p:spPr>
            <a:xfrm>
              <a:off x="1197075" y="4926450"/>
              <a:ext cx="7964700" cy="0"/>
            </a:xfrm>
            <a:prstGeom prst="straightConnector1">
              <a:avLst/>
            </a:prstGeom>
            <a:noFill/>
            <a:ln w="9525" cap="flat" cmpd="sng">
              <a:solidFill>
                <a:schemeClr val="dk1"/>
              </a:solidFill>
              <a:prstDash val="solid"/>
              <a:round/>
              <a:headEnd type="none" w="med" len="med"/>
              <a:tailEnd type="none" w="med" len="med"/>
            </a:ln>
          </p:spPr>
        </p:cxnSp>
        <p:cxnSp>
          <p:nvCxnSpPr>
            <p:cNvPr id="461" name="Google Shape;461;p36"/>
            <p:cNvCxnSpPr/>
            <p:nvPr/>
          </p:nvCxnSpPr>
          <p:spPr>
            <a:xfrm>
              <a:off x="2475" y="4926450"/>
              <a:ext cx="843000" cy="0"/>
            </a:xfrm>
            <a:prstGeom prst="straightConnector1">
              <a:avLst/>
            </a:prstGeom>
            <a:noFill/>
            <a:ln w="9525" cap="flat" cmpd="sng">
              <a:solidFill>
                <a:schemeClr val="dk1"/>
              </a:solidFill>
              <a:prstDash val="solid"/>
              <a:round/>
              <a:headEnd type="none" w="med" len="med"/>
              <a:tailEnd type="none" w="med" len="med"/>
            </a:ln>
          </p:spPr>
        </p:cxnSp>
      </p:grpSp>
      <p:sp>
        <p:nvSpPr>
          <p:cNvPr id="462" name="Google Shape;462;p36"/>
          <p:cNvSpPr/>
          <p:nvPr/>
        </p:nvSpPr>
        <p:spPr>
          <a:xfrm flipH="1">
            <a:off x="-100" y="0"/>
            <a:ext cx="1665300" cy="539400"/>
          </a:xfrm>
          <a:prstGeom prst="rect">
            <a:avLst/>
          </a:prstGeom>
          <a:solidFill>
            <a:schemeClr val="dk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463"/>
        <p:cNvGrpSpPr/>
        <p:nvPr/>
      </p:nvGrpSpPr>
      <p:grpSpPr>
        <a:xfrm>
          <a:off x="0" y="0"/>
          <a:ext cx="0" cy="0"/>
          <a:chOff x="0" y="0"/>
          <a:chExt cx="0" cy="0"/>
        </a:xfrm>
      </p:grpSpPr>
      <p:grpSp>
        <p:nvGrpSpPr>
          <p:cNvPr id="464" name="Google Shape;464;p37"/>
          <p:cNvGrpSpPr/>
          <p:nvPr/>
        </p:nvGrpSpPr>
        <p:grpSpPr>
          <a:xfrm>
            <a:off x="0" y="4950"/>
            <a:ext cx="1569900" cy="5143500"/>
            <a:chOff x="0" y="4950"/>
            <a:chExt cx="1569900" cy="5143500"/>
          </a:xfrm>
        </p:grpSpPr>
        <p:sp>
          <p:nvSpPr>
            <p:cNvPr id="465" name="Google Shape;465;p37"/>
            <p:cNvSpPr/>
            <p:nvPr/>
          </p:nvSpPr>
          <p:spPr>
            <a:xfrm flipH="1">
              <a:off x="611700" y="4950"/>
              <a:ext cx="276000" cy="5143500"/>
            </a:xfrm>
            <a:prstGeom prst="rect">
              <a:avLst/>
            </a:prstGeom>
            <a:gradFill>
              <a:gsLst>
                <a:gs pos="0">
                  <a:schemeClr val="l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37"/>
            <p:cNvSpPr/>
            <p:nvPr/>
          </p:nvSpPr>
          <p:spPr>
            <a:xfrm>
              <a:off x="887700" y="4950"/>
              <a:ext cx="682200" cy="5143500"/>
            </a:xfrm>
            <a:prstGeom prst="rect">
              <a:avLst/>
            </a:prstGeom>
            <a:gradFill>
              <a:gsLst>
                <a:gs pos="0">
                  <a:schemeClr val="lt1"/>
                </a:gs>
                <a:gs pos="47000">
                  <a:schemeClr val="lt1"/>
                </a:gs>
                <a:gs pos="100000">
                  <a:schemeClr val="lt2"/>
                </a:gs>
              </a:gsLst>
              <a:lin ang="167999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37"/>
            <p:cNvSpPr/>
            <p:nvPr/>
          </p:nvSpPr>
          <p:spPr>
            <a:xfrm>
              <a:off x="0" y="4950"/>
              <a:ext cx="611700" cy="5143500"/>
            </a:xfrm>
            <a:prstGeom prst="rect">
              <a:avLst/>
            </a:prstGeom>
            <a:gradFill>
              <a:gsLst>
                <a:gs pos="0">
                  <a:schemeClr val="dk2"/>
                </a:gs>
                <a:gs pos="69000">
                  <a:schemeClr val="lt1"/>
                </a:gs>
                <a:gs pos="100000">
                  <a:schemeClr val="lt2"/>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8" name="Google Shape;468;p37"/>
          <p:cNvSpPr/>
          <p:nvPr/>
        </p:nvSpPr>
        <p:spPr>
          <a:xfrm flipH="1">
            <a:off x="6280975" y="4604000"/>
            <a:ext cx="2871000" cy="539400"/>
          </a:xfrm>
          <a:prstGeom prst="rect">
            <a:avLst/>
          </a:prstGeom>
          <a:solidFill>
            <a:schemeClr val="dk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9" name="Google Shape;469;p37"/>
          <p:cNvGrpSpPr/>
          <p:nvPr/>
        </p:nvGrpSpPr>
        <p:grpSpPr>
          <a:xfrm>
            <a:off x="-111811" y="184025"/>
            <a:ext cx="9268661" cy="151200"/>
            <a:chOff x="-111811" y="184025"/>
            <a:chExt cx="9268661" cy="151200"/>
          </a:xfrm>
        </p:grpSpPr>
        <p:cxnSp>
          <p:nvCxnSpPr>
            <p:cNvPr id="470" name="Google Shape;470;p37"/>
            <p:cNvCxnSpPr/>
            <p:nvPr/>
          </p:nvCxnSpPr>
          <p:spPr>
            <a:xfrm>
              <a:off x="-111811" y="269675"/>
              <a:ext cx="8024400" cy="0"/>
            </a:xfrm>
            <a:prstGeom prst="straightConnector1">
              <a:avLst/>
            </a:prstGeom>
            <a:noFill/>
            <a:ln w="9525" cap="flat" cmpd="sng">
              <a:solidFill>
                <a:schemeClr val="dk1"/>
              </a:solidFill>
              <a:prstDash val="solid"/>
              <a:round/>
              <a:headEnd type="none" w="med" len="med"/>
              <a:tailEnd type="none" w="med" len="med"/>
            </a:ln>
          </p:spPr>
        </p:cxnSp>
        <p:sp>
          <p:nvSpPr>
            <p:cNvPr id="471" name="Google Shape;471;p37"/>
            <p:cNvSpPr/>
            <p:nvPr/>
          </p:nvSpPr>
          <p:spPr>
            <a:xfrm rot="10800000">
              <a:off x="8037613" y="184025"/>
              <a:ext cx="151200" cy="151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72" name="Google Shape;472;p37"/>
            <p:cNvCxnSpPr/>
            <p:nvPr/>
          </p:nvCxnSpPr>
          <p:spPr>
            <a:xfrm>
              <a:off x="8313850" y="259625"/>
              <a:ext cx="8430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Libre Baskerville"/>
              <a:buNone/>
              <a:defRPr sz="3000">
                <a:solidFill>
                  <a:schemeClr val="dk1"/>
                </a:solidFill>
                <a:latin typeface="Libre Baskerville"/>
                <a:ea typeface="Libre Baskerville"/>
                <a:cs typeface="Libre Baskerville"/>
                <a:sym typeface="Libre Baskerville"/>
              </a:defRPr>
            </a:lvl1pPr>
            <a:lvl2pPr lvl="1" rtl="0">
              <a:spcBef>
                <a:spcPts val="0"/>
              </a:spcBef>
              <a:spcAft>
                <a:spcPts val="0"/>
              </a:spcAft>
              <a:buClr>
                <a:schemeClr val="dk1"/>
              </a:buClr>
              <a:buSzPts val="3000"/>
              <a:buFont typeface="Libre Baskerville"/>
              <a:buNone/>
              <a:defRPr sz="3000">
                <a:solidFill>
                  <a:schemeClr val="dk1"/>
                </a:solidFill>
                <a:latin typeface="Libre Baskerville"/>
                <a:ea typeface="Libre Baskerville"/>
                <a:cs typeface="Libre Baskerville"/>
                <a:sym typeface="Libre Baskerville"/>
              </a:defRPr>
            </a:lvl2pPr>
            <a:lvl3pPr lvl="2" rtl="0">
              <a:spcBef>
                <a:spcPts val="0"/>
              </a:spcBef>
              <a:spcAft>
                <a:spcPts val="0"/>
              </a:spcAft>
              <a:buClr>
                <a:schemeClr val="dk1"/>
              </a:buClr>
              <a:buSzPts val="3000"/>
              <a:buFont typeface="Libre Baskerville"/>
              <a:buNone/>
              <a:defRPr sz="3000">
                <a:solidFill>
                  <a:schemeClr val="dk1"/>
                </a:solidFill>
                <a:latin typeface="Libre Baskerville"/>
                <a:ea typeface="Libre Baskerville"/>
                <a:cs typeface="Libre Baskerville"/>
                <a:sym typeface="Libre Baskerville"/>
              </a:defRPr>
            </a:lvl3pPr>
            <a:lvl4pPr lvl="3" rtl="0">
              <a:spcBef>
                <a:spcPts val="0"/>
              </a:spcBef>
              <a:spcAft>
                <a:spcPts val="0"/>
              </a:spcAft>
              <a:buClr>
                <a:schemeClr val="dk1"/>
              </a:buClr>
              <a:buSzPts val="3000"/>
              <a:buFont typeface="Libre Baskerville"/>
              <a:buNone/>
              <a:defRPr sz="3000">
                <a:solidFill>
                  <a:schemeClr val="dk1"/>
                </a:solidFill>
                <a:latin typeface="Libre Baskerville"/>
                <a:ea typeface="Libre Baskerville"/>
                <a:cs typeface="Libre Baskerville"/>
                <a:sym typeface="Libre Baskerville"/>
              </a:defRPr>
            </a:lvl4pPr>
            <a:lvl5pPr lvl="4" rtl="0">
              <a:spcBef>
                <a:spcPts val="0"/>
              </a:spcBef>
              <a:spcAft>
                <a:spcPts val="0"/>
              </a:spcAft>
              <a:buClr>
                <a:schemeClr val="dk1"/>
              </a:buClr>
              <a:buSzPts val="3000"/>
              <a:buFont typeface="Libre Baskerville"/>
              <a:buNone/>
              <a:defRPr sz="3000">
                <a:solidFill>
                  <a:schemeClr val="dk1"/>
                </a:solidFill>
                <a:latin typeface="Libre Baskerville"/>
                <a:ea typeface="Libre Baskerville"/>
                <a:cs typeface="Libre Baskerville"/>
                <a:sym typeface="Libre Baskerville"/>
              </a:defRPr>
            </a:lvl5pPr>
            <a:lvl6pPr lvl="5" rtl="0">
              <a:spcBef>
                <a:spcPts val="0"/>
              </a:spcBef>
              <a:spcAft>
                <a:spcPts val="0"/>
              </a:spcAft>
              <a:buClr>
                <a:schemeClr val="dk1"/>
              </a:buClr>
              <a:buSzPts val="3000"/>
              <a:buFont typeface="Libre Baskerville"/>
              <a:buNone/>
              <a:defRPr sz="3000">
                <a:solidFill>
                  <a:schemeClr val="dk1"/>
                </a:solidFill>
                <a:latin typeface="Libre Baskerville"/>
                <a:ea typeface="Libre Baskerville"/>
                <a:cs typeface="Libre Baskerville"/>
                <a:sym typeface="Libre Baskerville"/>
              </a:defRPr>
            </a:lvl6pPr>
            <a:lvl7pPr lvl="6" rtl="0">
              <a:spcBef>
                <a:spcPts val="0"/>
              </a:spcBef>
              <a:spcAft>
                <a:spcPts val="0"/>
              </a:spcAft>
              <a:buClr>
                <a:schemeClr val="dk1"/>
              </a:buClr>
              <a:buSzPts val="3000"/>
              <a:buFont typeface="Libre Baskerville"/>
              <a:buNone/>
              <a:defRPr sz="3000">
                <a:solidFill>
                  <a:schemeClr val="dk1"/>
                </a:solidFill>
                <a:latin typeface="Libre Baskerville"/>
                <a:ea typeface="Libre Baskerville"/>
                <a:cs typeface="Libre Baskerville"/>
                <a:sym typeface="Libre Baskerville"/>
              </a:defRPr>
            </a:lvl7pPr>
            <a:lvl8pPr lvl="7" rtl="0">
              <a:spcBef>
                <a:spcPts val="0"/>
              </a:spcBef>
              <a:spcAft>
                <a:spcPts val="0"/>
              </a:spcAft>
              <a:buClr>
                <a:schemeClr val="dk1"/>
              </a:buClr>
              <a:buSzPts val="3000"/>
              <a:buFont typeface="Libre Baskerville"/>
              <a:buNone/>
              <a:defRPr sz="3000">
                <a:solidFill>
                  <a:schemeClr val="dk1"/>
                </a:solidFill>
                <a:latin typeface="Libre Baskerville"/>
                <a:ea typeface="Libre Baskerville"/>
                <a:cs typeface="Libre Baskerville"/>
                <a:sym typeface="Libre Baskerville"/>
              </a:defRPr>
            </a:lvl8pPr>
            <a:lvl9pPr lvl="8" rtl="0">
              <a:spcBef>
                <a:spcPts val="0"/>
              </a:spcBef>
              <a:spcAft>
                <a:spcPts val="0"/>
              </a:spcAft>
              <a:buClr>
                <a:schemeClr val="dk1"/>
              </a:buClr>
              <a:buSzPts val="3000"/>
              <a:buFont typeface="Libre Baskerville"/>
              <a:buNone/>
              <a:defRPr sz="3000">
                <a:solidFill>
                  <a:schemeClr val="dk1"/>
                </a:solidFill>
                <a:latin typeface="Libre Baskerville"/>
                <a:ea typeface="Libre Baskerville"/>
                <a:cs typeface="Libre Baskerville"/>
                <a:sym typeface="Libre Baskerville"/>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accent2"/>
              </a:buClr>
              <a:buSzPts val="1200"/>
              <a:buFont typeface="DM Sans"/>
              <a:buChar char="■"/>
              <a:defRPr sz="1200">
                <a:solidFill>
                  <a:schemeClr val="dk1"/>
                </a:solidFill>
                <a:latin typeface="DM Sans"/>
                <a:ea typeface="DM Sans"/>
                <a:cs typeface="DM Sans"/>
                <a:sym typeface="DM Sans"/>
              </a:defRPr>
            </a:lvl1pPr>
            <a:lvl2pPr marL="914400" lvl="1" indent="-30480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2pPr>
            <a:lvl3pPr marL="1371600" lvl="2" indent="-30480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3pPr>
            <a:lvl4pPr marL="1828800" lvl="3" indent="-30480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4pPr>
            <a:lvl5pPr marL="2286000" lvl="4" indent="-30480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5pPr>
            <a:lvl6pPr marL="2743200" lvl="5" indent="-30480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6pPr>
            <a:lvl7pPr marL="3200400" lvl="6" indent="-30480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7pPr>
            <a:lvl8pPr marL="3657600" lvl="7" indent="-30480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8pPr>
            <a:lvl9pPr marL="4114800" lvl="8" indent="-30480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8" r:id="rId2"/>
    <p:sldLayoutId id="2147483668" r:id="rId3"/>
    <p:sldLayoutId id="2147483682" r:id="rId4"/>
    <p:sldLayoutId id="2147483683"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corporatefinanceinstitute.com/resources/management/raid-log/" TargetMode="External"/><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hyperlink" Target="https://www.navy.mi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 Id="rId4" Type="http://schemas.openxmlformats.org/officeDocument/2006/relationships/hyperlink" Target="https://www.projectcubicle.com/total-float-versus-free-float-scheduling/" TargetMode="External"/></Relationships>
</file>

<file path=ppt/slides/_rels/slide7.xml.rels><?xml version="1.0" encoding="UTF-8" standalone="yes"?>
<Relationships xmlns="http://schemas.openxmlformats.org/package/2006/relationships"><Relationship Id="rId2" Type="http://schemas.openxmlformats.org/officeDocument/2006/relationships/hyperlink" Target="https://corporatefinanceinstitute.com/resources/financial-modeling/gantt-chart/" TargetMode="Externa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489" name="Google Shape;489;p44"/>
          <p:cNvSpPr txBox="1">
            <a:spLocks noGrp="1"/>
          </p:cNvSpPr>
          <p:nvPr>
            <p:ph type="ctrTitle"/>
          </p:nvPr>
        </p:nvSpPr>
        <p:spPr>
          <a:xfrm>
            <a:off x="546538" y="864715"/>
            <a:ext cx="8092965" cy="1610100"/>
          </a:xfrm>
          <a:prstGeom prst="rect">
            <a:avLst/>
          </a:prstGeom>
        </p:spPr>
        <p:txBody>
          <a:bodyPr spcFirstLastPara="1" wrap="square" lIns="91425" tIns="91425" rIns="91425" bIns="91425" anchor="b" anchorCtr="0">
            <a:noAutofit/>
          </a:bodyPr>
          <a:lstStyle/>
          <a:p>
            <a:pPr lvl="0"/>
            <a:r>
              <a:rPr lang="en-US" sz="4000" u="sng" dirty="0" smtClean="0">
                <a:latin typeface="Bell MT" pitchFamily="18" charset="0"/>
              </a:rPr>
              <a:t>Project Evaluation and Review Technique (PERT): Optimizing Project Performance</a:t>
            </a:r>
            <a:endParaRPr sz="4000" u="sng" dirty="0">
              <a:latin typeface="Bell MT" pitchFamily="18" charset="0"/>
            </a:endParaRPr>
          </a:p>
        </p:txBody>
      </p:sp>
      <p:sp>
        <p:nvSpPr>
          <p:cNvPr id="490" name="Google Shape;490;p44"/>
          <p:cNvSpPr txBox="1">
            <a:spLocks noGrp="1"/>
          </p:cNvSpPr>
          <p:nvPr>
            <p:ph type="subTitle" idx="1"/>
          </p:nvPr>
        </p:nvSpPr>
        <p:spPr>
          <a:xfrm>
            <a:off x="834949" y="2883329"/>
            <a:ext cx="3705520" cy="717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800" dirty="0" smtClean="0">
                <a:latin typeface="MV Boli" pitchFamily="2" charset="0"/>
                <a:cs typeface="MV Boli" pitchFamily="2" charset="0"/>
              </a:rPr>
              <a:t>Presented by</a:t>
            </a:r>
          </a:p>
          <a:p>
            <a:pPr marL="0" lvl="0" indent="0" algn="l" rtl="0">
              <a:spcBef>
                <a:spcPts val="0"/>
              </a:spcBef>
              <a:spcAft>
                <a:spcPts val="0"/>
              </a:spcAft>
              <a:buNone/>
            </a:pPr>
            <a:r>
              <a:rPr lang="en-US" sz="1800" dirty="0" smtClean="0">
                <a:latin typeface="MV Boli" pitchFamily="2" charset="0"/>
                <a:cs typeface="MV Boli" pitchFamily="2" charset="0"/>
              </a:rPr>
              <a:t>Name – Aditya Kumar</a:t>
            </a:r>
          </a:p>
          <a:p>
            <a:pPr marL="0" lvl="0" indent="0" algn="l" rtl="0">
              <a:spcBef>
                <a:spcPts val="0"/>
              </a:spcBef>
              <a:spcAft>
                <a:spcPts val="0"/>
              </a:spcAft>
              <a:buNone/>
            </a:pPr>
            <a:r>
              <a:rPr lang="en-US" sz="1800" dirty="0" smtClean="0">
                <a:latin typeface="MV Boli" pitchFamily="2" charset="0"/>
                <a:cs typeface="MV Boli" pitchFamily="2" charset="0"/>
              </a:rPr>
              <a:t>Roll No. – 34230821034</a:t>
            </a:r>
          </a:p>
          <a:p>
            <a:pPr marL="0" lvl="0" indent="0" algn="l" rtl="0">
              <a:spcBef>
                <a:spcPts val="0"/>
              </a:spcBef>
              <a:spcAft>
                <a:spcPts val="0"/>
              </a:spcAft>
              <a:buNone/>
            </a:pPr>
            <a:r>
              <a:rPr lang="en-US" sz="1800" dirty="0" smtClean="0">
                <a:latin typeface="MV Boli" pitchFamily="2" charset="0"/>
                <a:cs typeface="MV Boli" pitchFamily="2" charset="0"/>
              </a:rPr>
              <a:t>Dept. – CSE(AI &amp; ML)</a:t>
            </a:r>
          </a:p>
          <a:p>
            <a:pPr marL="0" lvl="0" indent="0" algn="l" rtl="0">
              <a:spcBef>
                <a:spcPts val="0"/>
              </a:spcBef>
              <a:spcAft>
                <a:spcPts val="0"/>
              </a:spcAft>
              <a:buNone/>
            </a:pPr>
            <a:r>
              <a:rPr lang="en-US" sz="1800" dirty="0" smtClean="0">
                <a:latin typeface="MV Boli" pitchFamily="2" charset="0"/>
                <a:cs typeface="MV Boli" pitchFamily="2" charset="0"/>
              </a:rPr>
              <a:t>3</a:t>
            </a:r>
            <a:r>
              <a:rPr lang="en-US" sz="1800" baseline="30000" dirty="0" smtClean="0">
                <a:latin typeface="MV Boli" pitchFamily="2" charset="0"/>
                <a:cs typeface="MV Boli" pitchFamily="2" charset="0"/>
              </a:rPr>
              <a:t>rd</a:t>
            </a:r>
            <a:r>
              <a:rPr lang="en-US" sz="1800" dirty="0" smtClean="0">
                <a:latin typeface="MV Boli" pitchFamily="2" charset="0"/>
                <a:cs typeface="MV Boli" pitchFamily="2" charset="0"/>
              </a:rPr>
              <a:t> year (5</a:t>
            </a:r>
            <a:r>
              <a:rPr lang="en-US" sz="1800" baseline="30000" dirty="0" smtClean="0">
                <a:latin typeface="MV Boli" pitchFamily="2" charset="0"/>
                <a:cs typeface="MV Boli" pitchFamily="2" charset="0"/>
              </a:rPr>
              <a:t>th</a:t>
            </a:r>
            <a:r>
              <a:rPr lang="en-US" sz="1800" dirty="0" smtClean="0">
                <a:latin typeface="MV Boli" pitchFamily="2" charset="0"/>
                <a:cs typeface="MV Boli" pitchFamily="2" charset="0"/>
              </a:rPr>
              <a:t> semester)</a:t>
            </a:r>
          </a:p>
          <a:p>
            <a:pPr marL="0" lvl="0" indent="0" algn="l" rtl="0">
              <a:spcBef>
                <a:spcPts val="0"/>
              </a:spcBef>
              <a:spcAft>
                <a:spcPts val="0"/>
              </a:spcAft>
              <a:buNone/>
            </a:pPr>
            <a:r>
              <a:rPr lang="en-US" sz="1800" dirty="0" smtClean="0">
                <a:latin typeface="MV Boli" pitchFamily="2" charset="0"/>
                <a:cs typeface="MV Boli" pitchFamily="2" charset="0"/>
              </a:rPr>
              <a:t>Future Institute of Technology</a:t>
            </a:r>
          </a:p>
          <a:p>
            <a:pPr marL="0" lvl="0" indent="0" algn="l" rtl="0">
              <a:spcBef>
                <a:spcPts val="0"/>
              </a:spcBef>
              <a:spcAft>
                <a:spcPts val="0"/>
              </a:spcAft>
              <a:buNone/>
            </a:pPr>
            <a:endParaRPr sz="1800" dirty="0">
              <a:latin typeface="MV Boli" pitchFamily="2" charset="0"/>
              <a:cs typeface="MV Boli" pitchFamily="2" charset="0"/>
            </a:endParaRPr>
          </a:p>
        </p:txBody>
      </p:sp>
      <p:pic>
        <p:nvPicPr>
          <p:cNvPr id="6" name="Picture 5" descr="images.png"/>
          <p:cNvPicPr>
            <a:picLocks noChangeAspect="1"/>
          </p:cNvPicPr>
          <p:nvPr/>
        </p:nvPicPr>
        <p:blipFill>
          <a:blip r:embed="rId3"/>
          <a:stretch>
            <a:fillRect/>
          </a:stretch>
        </p:blipFill>
        <p:spPr>
          <a:xfrm>
            <a:off x="5065986" y="3061234"/>
            <a:ext cx="3851219" cy="165052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sp>
        <p:nvSpPr>
          <p:cNvPr id="534" name="Google Shape;534;p49"/>
          <p:cNvSpPr txBox="1">
            <a:spLocks noGrp="1"/>
          </p:cNvSpPr>
          <p:nvPr>
            <p:ph type="title"/>
          </p:nvPr>
        </p:nvSpPr>
        <p:spPr>
          <a:xfrm>
            <a:off x="656937" y="0"/>
            <a:ext cx="7704000" cy="572700"/>
          </a:xfrm>
          <a:prstGeom prst="rect">
            <a:avLst/>
          </a:prstGeom>
        </p:spPr>
        <p:txBody>
          <a:bodyPr spcFirstLastPara="1" wrap="square" lIns="91425" tIns="91425" rIns="91425" bIns="91425" anchor="t" anchorCtr="0">
            <a:noAutofit/>
          </a:bodyPr>
          <a:lstStyle/>
          <a:p>
            <a:pPr lvl="0" algn="ctr"/>
            <a:r>
              <a:rPr lang="en-US" sz="4000" u="sng" dirty="0" smtClean="0">
                <a:latin typeface="Bell MT" pitchFamily="18" charset="0"/>
              </a:rPr>
              <a:t>1. Introduction</a:t>
            </a:r>
            <a:endParaRPr sz="4000" u="sng" dirty="0">
              <a:latin typeface="Bell MT" pitchFamily="18" charset="0"/>
            </a:endParaRPr>
          </a:p>
        </p:txBody>
      </p:sp>
      <p:sp>
        <p:nvSpPr>
          <p:cNvPr id="536" name="Google Shape;536;p49"/>
          <p:cNvSpPr txBox="1">
            <a:spLocks noGrp="1"/>
          </p:cNvSpPr>
          <p:nvPr>
            <p:ph type="subTitle" idx="2"/>
          </p:nvPr>
        </p:nvSpPr>
        <p:spPr>
          <a:xfrm>
            <a:off x="515007" y="777767"/>
            <a:ext cx="8492359" cy="1166648"/>
          </a:xfrm>
          <a:prstGeom prst="rect">
            <a:avLst/>
          </a:prstGeom>
        </p:spPr>
        <p:txBody>
          <a:bodyPr spcFirstLastPara="1" wrap="square" lIns="91425" tIns="91425" rIns="91425" bIns="91425" anchor="t" anchorCtr="0">
            <a:noAutofit/>
          </a:bodyPr>
          <a:lstStyle/>
          <a:p>
            <a:pPr marL="342900" lvl="0" indent="-342900">
              <a:buFont typeface="Wingdings" pitchFamily="2" charset="2"/>
              <a:buChar char="q"/>
            </a:pPr>
            <a:r>
              <a:rPr lang="en-US" sz="1600" dirty="0" smtClean="0"/>
              <a:t>Welcome to the world of Project Evaluation and Review Technique (PERT)! In this presentation, we will explore how PERT can help optimize project performance. We'll cover the basics, benefits, and key steps involved in implementing PERT. Get ready to take your project management skills to the next level!</a:t>
            </a:r>
            <a:endParaRPr sz="1600" dirty="0">
              <a:latin typeface="+mn-lt"/>
            </a:endParaRPr>
          </a:p>
        </p:txBody>
      </p:sp>
      <p:sp>
        <p:nvSpPr>
          <p:cNvPr id="4" name="TextBox 3"/>
          <p:cNvSpPr txBox="1"/>
          <p:nvPr/>
        </p:nvSpPr>
        <p:spPr>
          <a:xfrm>
            <a:off x="5875283" y="4550979"/>
            <a:ext cx="3268717" cy="338554"/>
          </a:xfrm>
          <a:prstGeom prst="rect">
            <a:avLst/>
          </a:prstGeom>
          <a:noFill/>
        </p:spPr>
        <p:txBody>
          <a:bodyPr wrap="square" rtlCol="0">
            <a:spAutoFit/>
          </a:bodyPr>
          <a:lstStyle/>
          <a:p>
            <a:r>
              <a:rPr lang="en-US" sz="1600" dirty="0" smtClean="0">
                <a:latin typeface="MV Boli" pitchFamily="2" charset="0"/>
                <a:cs typeface="MV Boli" pitchFamily="2" charset="0"/>
              </a:rPr>
              <a:t>Aditya Kumar,</a:t>
            </a:r>
            <a:r>
              <a:rPr lang="en-US" dirty="0" smtClean="0">
                <a:latin typeface="MV Boli" pitchFamily="2" charset="0"/>
                <a:cs typeface="MV Boli" pitchFamily="2" charset="0"/>
              </a:rPr>
              <a:t>34230821034</a:t>
            </a:r>
            <a:endParaRPr lang="en-US" sz="1600" dirty="0">
              <a:latin typeface="MV Boli" pitchFamily="2" charset="0"/>
              <a:cs typeface="MV Boli" pitchFamily="2" charset="0"/>
            </a:endParaRPr>
          </a:p>
        </p:txBody>
      </p:sp>
      <p:sp>
        <p:nvSpPr>
          <p:cNvPr id="5" name="TextBox 4"/>
          <p:cNvSpPr txBox="1"/>
          <p:nvPr/>
        </p:nvSpPr>
        <p:spPr>
          <a:xfrm>
            <a:off x="599090" y="2039007"/>
            <a:ext cx="3226676" cy="400110"/>
          </a:xfrm>
          <a:prstGeom prst="rect">
            <a:avLst/>
          </a:prstGeom>
          <a:noFill/>
        </p:spPr>
        <p:txBody>
          <a:bodyPr wrap="square" rtlCol="0">
            <a:spAutoFit/>
          </a:bodyPr>
          <a:lstStyle/>
          <a:p>
            <a:pPr>
              <a:buFont typeface="Wingdings" pitchFamily="2" charset="2"/>
              <a:buChar char="q"/>
            </a:pPr>
            <a:r>
              <a:rPr lang="en-US" sz="2000" b="1" u="sng" dirty="0" smtClean="0">
                <a:latin typeface="Bell MT" pitchFamily="18" charset="0"/>
              </a:rPr>
              <a:t>What is PERT?</a:t>
            </a:r>
            <a:endParaRPr lang="en-US" sz="2000" b="1" u="sng" dirty="0">
              <a:latin typeface="Bell MT" pitchFamily="18" charset="0"/>
            </a:endParaRPr>
          </a:p>
        </p:txBody>
      </p:sp>
      <p:sp>
        <p:nvSpPr>
          <p:cNvPr id="6" name="TextBox 5"/>
          <p:cNvSpPr txBox="1"/>
          <p:nvPr/>
        </p:nvSpPr>
        <p:spPr>
          <a:xfrm>
            <a:off x="557049" y="2543504"/>
            <a:ext cx="7956330" cy="1384995"/>
          </a:xfrm>
          <a:prstGeom prst="rect">
            <a:avLst/>
          </a:prstGeom>
          <a:noFill/>
        </p:spPr>
        <p:txBody>
          <a:bodyPr wrap="square" rtlCol="0">
            <a:spAutoFit/>
          </a:bodyPr>
          <a:lstStyle/>
          <a:p>
            <a:r>
              <a:rPr lang="en-US" dirty="0" smtClean="0"/>
              <a:t>In project management, the Project Evaluation Review Technique, or PERT, is used to identify the time it takes to finish a particular task or activity. It is a system that helps in the proper </a:t>
            </a:r>
            <a:r>
              <a:rPr lang="en-US" dirty="0" smtClean="0">
                <a:hlinkClick r:id="rId3"/>
              </a:rPr>
              <a:t>scheduling and coordination</a:t>
            </a:r>
            <a:r>
              <a:rPr lang="en-US" dirty="0" smtClean="0"/>
              <a:t> of all tasks throughout a project. It also helps in keeping track of the progress, or lack thereof, of the overall project. In the 1950s, the Project Evaluation Review Technique was developed by the </a:t>
            </a:r>
            <a:r>
              <a:rPr lang="en-US" dirty="0" smtClean="0">
                <a:hlinkClick r:id="rId4"/>
              </a:rPr>
              <a:t>US Navy</a:t>
            </a:r>
            <a:r>
              <a:rPr lang="en-US" dirty="0" smtClean="0"/>
              <a:t> to manage the Polaris submarine missile program of their Special Projects Office.</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5407" y="0"/>
            <a:ext cx="7704000" cy="425555"/>
          </a:xfrm>
        </p:spPr>
        <p:txBody>
          <a:bodyPr/>
          <a:lstStyle/>
          <a:p>
            <a:pPr algn="ctr"/>
            <a:r>
              <a:rPr lang="en-US" sz="4000" u="sng" dirty="0" smtClean="0">
                <a:latin typeface="Bell MT" pitchFamily="18" charset="0"/>
              </a:rPr>
              <a:t>Characteristics of </a:t>
            </a:r>
            <a:r>
              <a:rPr lang="en-US" sz="4000" u="sng" dirty="0" smtClean="0">
                <a:latin typeface="Bell MT" pitchFamily="18" charset="0"/>
              </a:rPr>
              <a:t>PERT</a:t>
            </a:r>
            <a:endParaRPr lang="en-US" sz="4000" u="sng" dirty="0">
              <a:latin typeface="Bell MT" pitchFamily="18" charset="0"/>
            </a:endParaRPr>
          </a:p>
        </p:txBody>
      </p:sp>
      <p:sp>
        <p:nvSpPr>
          <p:cNvPr id="4" name="Subtitle 3"/>
          <p:cNvSpPr>
            <a:spLocks noGrp="1"/>
          </p:cNvSpPr>
          <p:nvPr>
            <p:ph type="subTitle" idx="2"/>
          </p:nvPr>
        </p:nvSpPr>
        <p:spPr>
          <a:xfrm>
            <a:off x="357352" y="792218"/>
            <a:ext cx="8786648" cy="1950983"/>
          </a:xfrm>
        </p:spPr>
        <p:txBody>
          <a:bodyPr/>
          <a:lstStyle/>
          <a:p>
            <a:pPr marL="495300" indent="-342900" fontAlgn="base"/>
            <a:r>
              <a:rPr lang="en-US" sz="1400" dirty="0" smtClean="0">
                <a:latin typeface="+mn-lt"/>
              </a:rPr>
              <a:t>The main characteristics of PERT are as following :</a:t>
            </a:r>
          </a:p>
          <a:p>
            <a:pPr marL="495300" indent="-342900" fontAlgn="base">
              <a:buFont typeface="+mj-lt"/>
              <a:buAutoNum type="arabicPeriod"/>
            </a:pPr>
            <a:r>
              <a:rPr lang="en-US" sz="1400" dirty="0" smtClean="0">
                <a:latin typeface="+mn-lt"/>
              </a:rPr>
              <a:t>It serves as a base for obtaining the important facts for implementing the decision-making.</a:t>
            </a:r>
          </a:p>
          <a:p>
            <a:pPr marL="495300" indent="-342900" fontAlgn="base">
              <a:buFont typeface="+mj-lt"/>
              <a:buAutoNum type="arabicPeriod"/>
            </a:pPr>
            <a:r>
              <a:rPr lang="en-US" sz="1400" dirty="0" smtClean="0">
                <a:latin typeface="+mn-lt"/>
              </a:rPr>
              <a:t>It forms the basis for all the planning activities.</a:t>
            </a:r>
          </a:p>
          <a:p>
            <a:pPr marL="495300" indent="-342900" fontAlgn="base">
              <a:buFont typeface="+mj-lt"/>
              <a:buAutoNum type="arabicPeriod"/>
            </a:pPr>
            <a:r>
              <a:rPr lang="en-US" sz="1400" dirty="0" smtClean="0">
                <a:latin typeface="+mn-lt"/>
              </a:rPr>
              <a:t>PERT helps management in deciding the best possible resource utilization method.</a:t>
            </a:r>
          </a:p>
          <a:p>
            <a:pPr marL="495300" indent="-342900" fontAlgn="base">
              <a:buFont typeface="+mj-lt"/>
              <a:buAutoNum type="arabicPeriod"/>
            </a:pPr>
            <a:r>
              <a:rPr lang="en-US" sz="1400" dirty="0" smtClean="0">
                <a:latin typeface="+mn-lt"/>
              </a:rPr>
              <a:t>PERT take advantage by using time network analysis technique.</a:t>
            </a:r>
          </a:p>
          <a:p>
            <a:pPr marL="495300" indent="-342900" fontAlgn="base">
              <a:buFont typeface="+mj-lt"/>
              <a:buAutoNum type="arabicPeriod"/>
            </a:pPr>
            <a:r>
              <a:rPr lang="en-US" sz="1400" dirty="0" smtClean="0">
                <a:latin typeface="+mn-lt"/>
              </a:rPr>
              <a:t>PERT presents the structure for reporting information.</a:t>
            </a:r>
          </a:p>
          <a:p>
            <a:pPr marL="495300" indent="-342900" fontAlgn="base">
              <a:buFont typeface="+mj-lt"/>
              <a:buAutoNum type="arabicPeriod"/>
            </a:pPr>
            <a:r>
              <a:rPr lang="en-US" sz="1400" dirty="0" smtClean="0">
                <a:latin typeface="+mn-lt"/>
              </a:rPr>
              <a:t>It helps the management in identifying the essential elements for the completion of the project within time.</a:t>
            </a:r>
          </a:p>
          <a:p>
            <a:pPr marL="495300" indent="-342900">
              <a:buFont typeface="+mj-lt"/>
              <a:buAutoNum type="arabicPeriod"/>
            </a:pPr>
            <a:endParaRPr lang="en-US" sz="1400" dirty="0">
              <a:latin typeface="+mn-lt"/>
            </a:endParaRPr>
          </a:p>
        </p:txBody>
      </p:sp>
      <p:sp>
        <p:nvSpPr>
          <p:cNvPr id="6" name="TextBox 5"/>
          <p:cNvSpPr txBox="1"/>
          <p:nvPr/>
        </p:nvSpPr>
        <p:spPr>
          <a:xfrm>
            <a:off x="6400800" y="4575941"/>
            <a:ext cx="2743200" cy="307777"/>
          </a:xfrm>
          <a:prstGeom prst="rect">
            <a:avLst/>
          </a:prstGeom>
          <a:noFill/>
        </p:spPr>
        <p:txBody>
          <a:bodyPr wrap="square" rtlCol="0">
            <a:spAutoFit/>
          </a:bodyPr>
          <a:lstStyle/>
          <a:p>
            <a:r>
              <a:rPr lang="en-US" dirty="0" smtClean="0">
                <a:latin typeface="MV Boli" pitchFamily="2" charset="0"/>
                <a:cs typeface="MV Boli" pitchFamily="2" charset="0"/>
              </a:rPr>
              <a:t>Aditya Kumar,34230821034</a:t>
            </a:r>
            <a:endParaRPr lang="en-US" dirty="0">
              <a:latin typeface="MV Boli" pitchFamily="2" charset="0"/>
              <a:cs typeface="MV Boli" pitchFamily="2" charset="0"/>
            </a:endParaRPr>
          </a:p>
        </p:txBody>
      </p:sp>
      <p:sp>
        <p:nvSpPr>
          <p:cNvPr id="8" name="TextBox 7"/>
          <p:cNvSpPr txBox="1"/>
          <p:nvPr/>
        </p:nvSpPr>
        <p:spPr>
          <a:xfrm>
            <a:off x="536028" y="2617076"/>
            <a:ext cx="4162096" cy="369332"/>
          </a:xfrm>
          <a:prstGeom prst="rect">
            <a:avLst/>
          </a:prstGeom>
          <a:noFill/>
        </p:spPr>
        <p:txBody>
          <a:bodyPr wrap="square" rtlCol="0">
            <a:spAutoFit/>
          </a:bodyPr>
          <a:lstStyle/>
          <a:p>
            <a:pPr>
              <a:buFont typeface="Wingdings" pitchFamily="2" charset="2"/>
              <a:buChar char="q"/>
            </a:pPr>
            <a:r>
              <a:rPr lang="en-US" sz="1800" b="1" u="sng" dirty="0" smtClean="0">
                <a:latin typeface="Bell MT" pitchFamily="18" charset="0"/>
              </a:rPr>
              <a:t>Key Steps in </a:t>
            </a:r>
            <a:r>
              <a:rPr lang="en-US" sz="1800" b="1" u="sng" dirty="0" smtClean="0">
                <a:latin typeface="Bell MT" pitchFamily="18" charset="0"/>
              </a:rPr>
              <a:t>PERT:-</a:t>
            </a:r>
            <a:endParaRPr lang="en-US" sz="1800" b="1" u="sng" dirty="0">
              <a:latin typeface="Bell MT" pitchFamily="18" charset="0"/>
            </a:endParaRPr>
          </a:p>
        </p:txBody>
      </p:sp>
      <p:sp>
        <p:nvSpPr>
          <p:cNvPr id="10" name="TextBox 9"/>
          <p:cNvSpPr txBox="1"/>
          <p:nvPr/>
        </p:nvSpPr>
        <p:spPr>
          <a:xfrm>
            <a:off x="546538" y="3069021"/>
            <a:ext cx="5665076" cy="1169551"/>
          </a:xfrm>
          <a:prstGeom prst="rect">
            <a:avLst/>
          </a:prstGeom>
          <a:noFill/>
        </p:spPr>
        <p:txBody>
          <a:bodyPr wrap="square" rtlCol="0">
            <a:spAutoFit/>
          </a:bodyPr>
          <a:lstStyle/>
          <a:p>
            <a:r>
              <a:rPr lang="en-US" dirty="0" smtClean="0"/>
              <a:t>To effectively use PERT, follow these key steps: Identify project activities and their dependencies. Estimate the duration of each activity. Determine the critical path and identify critical activities. Create a PERT chart to visualize the project timeline. Monitor and update the PERT chart as the project progresses.</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1531" y="0"/>
            <a:ext cx="7704000" cy="572700"/>
          </a:xfrm>
        </p:spPr>
        <p:txBody>
          <a:bodyPr/>
          <a:lstStyle/>
          <a:p>
            <a:r>
              <a:rPr lang="en-US" sz="3600" u="sng" dirty="0" smtClean="0">
                <a:latin typeface="Bell MT" pitchFamily="18" charset="0"/>
              </a:rPr>
              <a:t>The PERT Method Example</a:t>
            </a:r>
            <a:br>
              <a:rPr lang="en-US" sz="3600" u="sng" dirty="0" smtClean="0">
                <a:latin typeface="Bell MT" pitchFamily="18" charset="0"/>
              </a:rPr>
            </a:br>
            <a:endParaRPr lang="en-US" sz="3600" u="sng" dirty="0">
              <a:latin typeface="Bell MT" pitchFamily="18" charset="0"/>
            </a:endParaRPr>
          </a:p>
        </p:txBody>
      </p:sp>
      <p:sp>
        <p:nvSpPr>
          <p:cNvPr id="4" name="Subtitle 3"/>
          <p:cNvSpPr>
            <a:spLocks noGrp="1"/>
          </p:cNvSpPr>
          <p:nvPr>
            <p:ph type="subTitle" idx="2"/>
          </p:nvPr>
        </p:nvSpPr>
        <p:spPr>
          <a:xfrm>
            <a:off x="567559" y="585951"/>
            <a:ext cx="8082455" cy="1264620"/>
          </a:xfrm>
        </p:spPr>
        <p:txBody>
          <a:bodyPr/>
          <a:lstStyle/>
          <a:p>
            <a:r>
              <a:rPr lang="en-US" dirty="0" smtClean="0"/>
              <a:t>In the following PERT Method Example, you are a project manager of a power plant project. You tracked the steps mentioned above and listed the following inputs;</a:t>
            </a:r>
          </a:p>
          <a:p>
            <a:r>
              <a:rPr lang="en-US" dirty="0" smtClean="0"/>
              <a:t>All the </a:t>
            </a:r>
            <a:r>
              <a:rPr lang="en-US" dirty="0" smtClean="0"/>
              <a:t>Activities, Predecessors</a:t>
            </a:r>
            <a:endParaRPr lang="en-US" dirty="0" smtClean="0"/>
          </a:p>
          <a:p>
            <a:r>
              <a:rPr lang="en-US" dirty="0" smtClean="0"/>
              <a:t>Optimistic, Pessimistic, and Most Likely Activity Durations</a:t>
            </a:r>
            <a:br>
              <a:rPr lang="en-US" dirty="0" smtClean="0"/>
            </a:br>
            <a:r>
              <a:rPr lang="en-US" dirty="0" smtClean="0"/>
              <a:t>By using “The Pert Formula = (To + 4Tm + Tp)/6”, you calculated the expected duration for each </a:t>
            </a:r>
            <a:r>
              <a:rPr lang="en-US" dirty="0" smtClean="0"/>
              <a:t>activity. All </a:t>
            </a:r>
            <a:r>
              <a:rPr lang="en-US" dirty="0" smtClean="0"/>
              <a:t>the inputs are listed in the table below.</a:t>
            </a:r>
          </a:p>
          <a:p>
            <a:endParaRPr lang="en-US" dirty="0"/>
          </a:p>
        </p:txBody>
      </p:sp>
      <p:sp>
        <p:nvSpPr>
          <p:cNvPr id="11" name="TextBox 10"/>
          <p:cNvSpPr txBox="1"/>
          <p:nvPr/>
        </p:nvSpPr>
        <p:spPr>
          <a:xfrm>
            <a:off x="7463846" y="4423554"/>
            <a:ext cx="2990194" cy="523220"/>
          </a:xfrm>
          <a:prstGeom prst="rect">
            <a:avLst/>
          </a:prstGeom>
          <a:noFill/>
        </p:spPr>
        <p:txBody>
          <a:bodyPr wrap="square" rtlCol="0">
            <a:spAutoFit/>
          </a:bodyPr>
          <a:lstStyle/>
          <a:p>
            <a:r>
              <a:rPr lang="en-US" dirty="0" smtClean="0">
                <a:latin typeface="MV Boli" pitchFamily="2" charset="0"/>
                <a:cs typeface="MV Boli" pitchFamily="2" charset="0"/>
              </a:rPr>
              <a:t>ADITYA KUMAR, 34230821034</a:t>
            </a:r>
            <a:endParaRPr lang="en-US" dirty="0">
              <a:latin typeface="MV Boli" pitchFamily="2" charset="0"/>
              <a:cs typeface="MV Boli" pitchFamily="2" charset="0"/>
            </a:endParaRPr>
          </a:p>
        </p:txBody>
      </p:sp>
      <p:pic>
        <p:nvPicPr>
          <p:cNvPr id="12" name="Picture 11" descr="PERT-–-Program-Evaluation-and-Review-Technique-Example.png"/>
          <p:cNvPicPr>
            <a:picLocks noChangeAspect="1"/>
          </p:cNvPicPr>
          <p:nvPr/>
        </p:nvPicPr>
        <p:blipFill>
          <a:blip r:embed="rId2"/>
          <a:stretch>
            <a:fillRect/>
          </a:stretch>
        </p:blipFill>
        <p:spPr>
          <a:xfrm>
            <a:off x="408682" y="1741714"/>
            <a:ext cx="7146003" cy="319495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6421822" y="4620280"/>
            <a:ext cx="2921875" cy="307777"/>
          </a:xfrm>
          <a:prstGeom prst="rect">
            <a:avLst/>
          </a:prstGeom>
          <a:noFill/>
        </p:spPr>
        <p:txBody>
          <a:bodyPr wrap="square" rtlCol="0">
            <a:spAutoFit/>
          </a:bodyPr>
          <a:lstStyle/>
          <a:p>
            <a:r>
              <a:rPr lang="en-US" dirty="0" smtClean="0">
                <a:latin typeface="MV Boli" pitchFamily="2" charset="0"/>
                <a:cs typeface="MV Boli" pitchFamily="2" charset="0"/>
              </a:rPr>
              <a:t>Aditya Kumar,34230821034</a:t>
            </a:r>
            <a:endParaRPr lang="en-US" dirty="0">
              <a:latin typeface="MV Boli" pitchFamily="2" charset="0"/>
              <a:cs typeface="MV Boli" pitchFamily="2" charset="0"/>
            </a:endParaRPr>
          </a:p>
        </p:txBody>
      </p:sp>
      <p:sp>
        <p:nvSpPr>
          <p:cNvPr id="7" name="Subtitle 6"/>
          <p:cNvSpPr>
            <a:spLocks noGrp="1"/>
          </p:cNvSpPr>
          <p:nvPr>
            <p:ph type="subTitle" idx="1"/>
          </p:nvPr>
        </p:nvSpPr>
        <p:spPr>
          <a:xfrm>
            <a:off x="0" y="697177"/>
            <a:ext cx="4719144" cy="1772754"/>
          </a:xfrm>
        </p:spPr>
        <p:txBody>
          <a:bodyPr/>
          <a:lstStyle/>
          <a:p>
            <a:r>
              <a:rPr lang="en-US" sz="1400" dirty="0" smtClean="0">
                <a:latin typeface="+mn-lt"/>
              </a:rPr>
              <a:t>After building a network diagram and estimating </a:t>
            </a:r>
            <a:r>
              <a:rPr lang="en-US" sz="1400" dirty="0" smtClean="0">
                <a:latin typeface="+mn-lt"/>
              </a:rPr>
              <a:t>the</a:t>
            </a:r>
          </a:p>
          <a:p>
            <a:r>
              <a:rPr lang="en-US" sz="1400" dirty="0" smtClean="0">
                <a:latin typeface="+mn-lt"/>
              </a:rPr>
              <a:t>activity </a:t>
            </a:r>
            <a:r>
              <a:rPr lang="en-US" sz="1400" dirty="0" smtClean="0">
                <a:latin typeface="+mn-lt"/>
              </a:rPr>
              <a:t>durations, you will determine the critical </a:t>
            </a:r>
            <a:r>
              <a:rPr lang="en-US" sz="1400" dirty="0" smtClean="0">
                <a:latin typeface="+mn-lt"/>
              </a:rPr>
              <a:t>path</a:t>
            </a:r>
          </a:p>
          <a:p>
            <a:r>
              <a:rPr lang="en-US" sz="1400" dirty="0" smtClean="0">
                <a:latin typeface="+mn-lt"/>
              </a:rPr>
              <a:t>by </a:t>
            </a:r>
            <a:r>
              <a:rPr lang="en-US" sz="1400" dirty="0" smtClean="0">
                <a:latin typeface="+mn-lt"/>
              </a:rPr>
              <a:t>making forward and backward pass </a:t>
            </a:r>
            <a:r>
              <a:rPr lang="en-US" sz="1400" dirty="0" smtClean="0">
                <a:latin typeface="+mn-lt"/>
              </a:rPr>
              <a:t>calculations.</a:t>
            </a:r>
          </a:p>
          <a:p>
            <a:r>
              <a:rPr lang="en-US" sz="1400" dirty="0" smtClean="0">
                <a:latin typeface="+mn-lt"/>
              </a:rPr>
              <a:t>Forward </a:t>
            </a:r>
            <a:r>
              <a:rPr lang="en-US" sz="1400" dirty="0" smtClean="0">
                <a:latin typeface="+mn-lt"/>
              </a:rPr>
              <a:t>Pass Calculations specify the minimum </a:t>
            </a:r>
            <a:r>
              <a:rPr lang="en-US" sz="1400" dirty="0" smtClean="0">
                <a:latin typeface="+mn-lt"/>
              </a:rPr>
              <a:t>dates</a:t>
            </a:r>
          </a:p>
          <a:p>
            <a:r>
              <a:rPr lang="en-US" sz="1400" dirty="0" smtClean="0">
                <a:latin typeface="+mn-lt"/>
              </a:rPr>
              <a:t>at </a:t>
            </a:r>
            <a:r>
              <a:rPr lang="en-US" sz="1400" dirty="0" smtClean="0">
                <a:latin typeface="+mn-lt"/>
              </a:rPr>
              <a:t>which each activity can be performed </a:t>
            </a:r>
            <a:r>
              <a:rPr lang="en-US" sz="1400" dirty="0" smtClean="0">
                <a:latin typeface="+mn-lt"/>
              </a:rPr>
              <a:t>and,</a:t>
            </a:r>
          </a:p>
          <a:p>
            <a:r>
              <a:rPr lang="en-US" sz="1400" dirty="0" smtClean="0">
                <a:latin typeface="+mn-lt"/>
              </a:rPr>
              <a:t>ultimately</a:t>
            </a:r>
            <a:r>
              <a:rPr lang="en-US" sz="1400" dirty="0" smtClean="0">
                <a:latin typeface="+mn-lt"/>
              </a:rPr>
              <a:t>, the minimum duration of a project.</a:t>
            </a:r>
            <a:endParaRPr lang="en-US" sz="1400" dirty="0">
              <a:latin typeface="+mn-lt"/>
            </a:endParaRPr>
          </a:p>
        </p:txBody>
      </p:sp>
      <p:pic>
        <p:nvPicPr>
          <p:cNvPr id="8" name="Picture 7" descr="Screenshot (466).png"/>
          <p:cNvPicPr>
            <a:picLocks noChangeAspect="1"/>
          </p:cNvPicPr>
          <p:nvPr/>
        </p:nvPicPr>
        <p:blipFill>
          <a:blip r:embed="rId2"/>
          <a:stretch>
            <a:fillRect/>
          </a:stretch>
        </p:blipFill>
        <p:spPr>
          <a:xfrm>
            <a:off x="4561490" y="620110"/>
            <a:ext cx="4372304" cy="2375338"/>
          </a:xfrm>
          <a:prstGeom prst="rect">
            <a:avLst/>
          </a:prstGeom>
        </p:spPr>
      </p:pic>
      <p:sp>
        <p:nvSpPr>
          <p:cNvPr id="9" name="TextBox 8"/>
          <p:cNvSpPr txBox="1"/>
          <p:nvPr/>
        </p:nvSpPr>
        <p:spPr>
          <a:xfrm>
            <a:off x="4908331" y="3226677"/>
            <a:ext cx="4235669" cy="954107"/>
          </a:xfrm>
          <a:prstGeom prst="rect">
            <a:avLst/>
          </a:prstGeom>
          <a:noFill/>
        </p:spPr>
        <p:txBody>
          <a:bodyPr wrap="square" rtlCol="0">
            <a:spAutoFit/>
          </a:bodyPr>
          <a:lstStyle/>
          <a:p>
            <a:r>
              <a:rPr lang="en-US" dirty="0" smtClean="0"/>
              <a:t>Backward Pass Calculations of Program Evaluation and Review Technique determine the latest dates by which each activity can be performed without increasing the project’s minimum duration.</a:t>
            </a:r>
            <a:endParaRPr lang="en-US" dirty="0"/>
          </a:p>
        </p:txBody>
      </p:sp>
      <p:pic>
        <p:nvPicPr>
          <p:cNvPr id="13" name="Picture 12" descr="Screenshot (468).png"/>
          <p:cNvPicPr>
            <a:picLocks noChangeAspect="1"/>
          </p:cNvPicPr>
          <p:nvPr/>
        </p:nvPicPr>
        <p:blipFill>
          <a:blip r:embed="rId3"/>
          <a:stretch>
            <a:fillRect/>
          </a:stretch>
        </p:blipFill>
        <p:spPr>
          <a:xfrm>
            <a:off x="157656" y="2406869"/>
            <a:ext cx="4319752" cy="231227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2"/>
          </p:nvPr>
        </p:nvSpPr>
        <p:spPr>
          <a:xfrm>
            <a:off x="515007" y="2"/>
            <a:ext cx="7819695" cy="1019502"/>
          </a:xfrm>
        </p:spPr>
        <p:txBody>
          <a:bodyPr/>
          <a:lstStyle/>
          <a:p>
            <a:r>
              <a:rPr lang="en-US" sz="1400" dirty="0" smtClean="0">
                <a:latin typeface="+mn-lt"/>
              </a:rPr>
              <a:t>After completing the backward pass calculation, you can easily determine the critical path. </a:t>
            </a:r>
            <a:r>
              <a:rPr lang="en-US" sz="1400" dirty="0" smtClean="0">
                <a:latin typeface="+mn-lt"/>
              </a:rPr>
              <a:t>In</a:t>
            </a:r>
          </a:p>
          <a:p>
            <a:r>
              <a:rPr lang="en-US" sz="1400" dirty="0" smtClean="0">
                <a:latin typeface="+mn-lt"/>
              </a:rPr>
              <a:t>project </a:t>
            </a:r>
            <a:r>
              <a:rPr lang="en-US" sz="1400" dirty="0" smtClean="0">
                <a:latin typeface="+mn-lt"/>
              </a:rPr>
              <a:t>management, “float” or “slack” is the amount of time that a task can be delayed </a:t>
            </a:r>
            <a:r>
              <a:rPr lang="en-US" sz="1400" dirty="0" smtClean="0">
                <a:latin typeface="+mn-lt"/>
              </a:rPr>
              <a:t>without</a:t>
            </a:r>
          </a:p>
          <a:p>
            <a:r>
              <a:rPr lang="en-US" sz="1400" dirty="0" smtClean="0">
                <a:latin typeface="+mn-lt"/>
              </a:rPr>
              <a:t>affecting </a:t>
            </a:r>
            <a:r>
              <a:rPr lang="en-US" sz="1400" dirty="0" smtClean="0">
                <a:latin typeface="+mn-lt"/>
              </a:rPr>
              <a:t>the deadlines of other subsequent tasks, or the project’s final delivery date. </a:t>
            </a:r>
            <a:r>
              <a:rPr lang="en-US" sz="1400" dirty="0" smtClean="0">
                <a:latin typeface="+mn-lt"/>
              </a:rPr>
              <a:t>Total</a:t>
            </a:r>
          </a:p>
          <a:p>
            <a:r>
              <a:rPr lang="en-US" sz="1400" dirty="0" smtClean="0">
                <a:latin typeface="+mn-lt"/>
              </a:rPr>
              <a:t>float/slack </a:t>
            </a:r>
            <a:r>
              <a:rPr lang="en-US" sz="1400" dirty="0" smtClean="0">
                <a:latin typeface="+mn-lt"/>
              </a:rPr>
              <a:t>is 0 on the critical path.</a:t>
            </a:r>
            <a:endParaRPr lang="en-US" sz="1400" dirty="0">
              <a:latin typeface="+mn-lt"/>
            </a:endParaRPr>
          </a:p>
        </p:txBody>
      </p:sp>
      <p:pic>
        <p:nvPicPr>
          <p:cNvPr id="5" name="Picture 4" descr="PERT-Method-Activity.png"/>
          <p:cNvPicPr>
            <a:picLocks noChangeAspect="1"/>
          </p:cNvPicPr>
          <p:nvPr/>
        </p:nvPicPr>
        <p:blipFill>
          <a:blip r:embed="rId2"/>
          <a:stretch>
            <a:fillRect/>
          </a:stretch>
        </p:blipFill>
        <p:spPr>
          <a:xfrm>
            <a:off x="304635" y="1042004"/>
            <a:ext cx="2943225" cy="2079570"/>
          </a:xfrm>
          <a:prstGeom prst="rect">
            <a:avLst/>
          </a:prstGeom>
        </p:spPr>
      </p:pic>
      <p:sp>
        <p:nvSpPr>
          <p:cNvPr id="6" name="TextBox 5"/>
          <p:cNvSpPr txBox="1"/>
          <p:nvPr/>
        </p:nvSpPr>
        <p:spPr>
          <a:xfrm>
            <a:off x="3300250" y="1177158"/>
            <a:ext cx="3047998" cy="523220"/>
          </a:xfrm>
          <a:prstGeom prst="rect">
            <a:avLst/>
          </a:prstGeom>
          <a:noFill/>
        </p:spPr>
        <p:txBody>
          <a:bodyPr wrap="square" rtlCol="0">
            <a:spAutoFit/>
          </a:bodyPr>
          <a:lstStyle/>
          <a:p>
            <a:r>
              <a:rPr lang="en-US" dirty="0" smtClean="0"/>
              <a:t>Total Float: LS – ES = 18-15 = 3</a:t>
            </a:r>
            <a:br>
              <a:rPr lang="en-US" dirty="0" smtClean="0"/>
            </a:br>
            <a:r>
              <a:rPr lang="en-US" dirty="0" smtClean="0"/>
              <a:t>Total Float: LF – EF = 30-27 = 3</a:t>
            </a:r>
            <a:endParaRPr lang="en-US" dirty="0"/>
          </a:p>
        </p:txBody>
      </p:sp>
      <p:sp>
        <p:nvSpPr>
          <p:cNvPr id="7" name="TextBox 6"/>
          <p:cNvSpPr txBox="1"/>
          <p:nvPr/>
        </p:nvSpPr>
        <p:spPr>
          <a:xfrm>
            <a:off x="6106511" y="1051033"/>
            <a:ext cx="2879834" cy="1169551"/>
          </a:xfrm>
          <a:prstGeom prst="rect">
            <a:avLst/>
          </a:prstGeom>
          <a:noFill/>
        </p:spPr>
        <p:txBody>
          <a:bodyPr wrap="square" rtlCol="0">
            <a:spAutoFit/>
          </a:bodyPr>
          <a:lstStyle/>
          <a:p>
            <a:r>
              <a:rPr lang="en-US" dirty="0" smtClean="0"/>
              <a:t>The total float can be calculated by subtracting the Early Start date of an activity from its Late Start date or Early Finish date from its Late Finish date.</a:t>
            </a:r>
            <a:endParaRPr lang="en-US" dirty="0"/>
          </a:p>
        </p:txBody>
      </p:sp>
      <p:pic>
        <p:nvPicPr>
          <p:cNvPr id="8" name="Picture 7" descr="Screenshot (470).png"/>
          <p:cNvPicPr>
            <a:picLocks noChangeAspect="1"/>
          </p:cNvPicPr>
          <p:nvPr/>
        </p:nvPicPr>
        <p:blipFill>
          <a:blip r:embed="rId3"/>
          <a:stretch>
            <a:fillRect/>
          </a:stretch>
        </p:blipFill>
        <p:spPr>
          <a:xfrm>
            <a:off x="4256690" y="2207171"/>
            <a:ext cx="4887310" cy="2713759"/>
          </a:xfrm>
          <a:prstGeom prst="rect">
            <a:avLst/>
          </a:prstGeom>
        </p:spPr>
      </p:pic>
      <p:sp>
        <p:nvSpPr>
          <p:cNvPr id="10" name="TextBox 9"/>
          <p:cNvSpPr txBox="1"/>
          <p:nvPr/>
        </p:nvSpPr>
        <p:spPr>
          <a:xfrm>
            <a:off x="441434" y="3436883"/>
            <a:ext cx="3541987" cy="1384995"/>
          </a:xfrm>
          <a:prstGeom prst="rect">
            <a:avLst/>
          </a:prstGeom>
          <a:noFill/>
        </p:spPr>
        <p:txBody>
          <a:bodyPr wrap="square" rtlCol="0">
            <a:spAutoFit/>
          </a:bodyPr>
          <a:lstStyle/>
          <a:p>
            <a:r>
              <a:rPr lang="en-US" dirty="0" smtClean="0"/>
              <a:t>When we analyze the network diagram we will see that there are some paths and every path have duration.</a:t>
            </a:r>
            <a:br>
              <a:rPr lang="en-US" dirty="0" smtClean="0"/>
            </a:br>
            <a:r>
              <a:rPr lang="en-US" dirty="0" smtClean="0"/>
              <a:t>The critical path is the longest path in the network diagram and the </a:t>
            </a:r>
            <a:r>
              <a:rPr lang="en-US" dirty="0" smtClean="0">
                <a:hlinkClick r:id="rId4"/>
              </a:rPr>
              <a:t>total float</a:t>
            </a:r>
            <a:r>
              <a:rPr lang="en-US" dirty="0" smtClean="0"/>
              <a:t> of the critical path is zero.</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0414" y="0"/>
            <a:ext cx="7972054" cy="572700"/>
          </a:xfrm>
        </p:spPr>
        <p:txBody>
          <a:bodyPr/>
          <a:lstStyle/>
          <a:p>
            <a:r>
              <a:rPr lang="en-US" sz="3600" u="sng" dirty="0" smtClean="0">
                <a:solidFill>
                  <a:schemeClr val="tx1"/>
                </a:solidFill>
                <a:latin typeface="Bell MT" pitchFamily="18" charset="0"/>
              </a:rPr>
              <a:t>5.Advantages &amp; Disadvantages of PERT</a:t>
            </a:r>
            <a:endParaRPr lang="en-US" sz="3600" u="sng" dirty="0">
              <a:solidFill>
                <a:schemeClr val="tx1"/>
              </a:solidFill>
              <a:latin typeface="Bell MT" pitchFamily="18" charset="0"/>
            </a:endParaRPr>
          </a:p>
        </p:txBody>
      </p:sp>
      <p:sp>
        <p:nvSpPr>
          <p:cNvPr id="16" name="TextBox 15"/>
          <p:cNvSpPr txBox="1"/>
          <p:nvPr/>
        </p:nvSpPr>
        <p:spPr>
          <a:xfrm>
            <a:off x="6285186" y="4561489"/>
            <a:ext cx="2858814" cy="307777"/>
          </a:xfrm>
          <a:prstGeom prst="rect">
            <a:avLst/>
          </a:prstGeom>
          <a:noFill/>
        </p:spPr>
        <p:txBody>
          <a:bodyPr wrap="square" rtlCol="0">
            <a:spAutoFit/>
          </a:bodyPr>
          <a:lstStyle/>
          <a:p>
            <a:r>
              <a:rPr lang="en-US" dirty="0" smtClean="0">
                <a:solidFill>
                  <a:schemeClr val="tx1"/>
                </a:solidFill>
                <a:latin typeface="MV Boli" pitchFamily="2" charset="0"/>
                <a:cs typeface="MV Boli" pitchFamily="2" charset="0"/>
              </a:rPr>
              <a:t>Aditya Kumar,34230821034</a:t>
            </a:r>
            <a:endParaRPr lang="en-US" dirty="0">
              <a:solidFill>
                <a:schemeClr val="tx1"/>
              </a:solidFill>
              <a:latin typeface="MV Boli" pitchFamily="2" charset="0"/>
              <a:cs typeface="MV Boli" pitchFamily="2" charset="0"/>
            </a:endParaRPr>
          </a:p>
        </p:txBody>
      </p:sp>
      <p:graphicFrame>
        <p:nvGraphicFramePr>
          <p:cNvPr id="8" name="Table 7"/>
          <p:cNvGraphicFramePr>
            <a:graphicFrameLocks noGrp="1"/>
          </p:cNvGraphicFramePr>
          <p:nvPr/>
        </p:nvGraphicFramePr>
        <p:xfrm>
          <a:off x="609600" y="756746"/>
          <a:ext cx="8261132" cy="3689130"/>
        </p:xfrm>
        <a:graphic>
          <a:graphicData uri="http://schemas.openxmlformats.org/drawingml/2006/table">
            <a:tbl>
              <a:tblPr firstRow="1" bandRow="1">
                <a:tableStyleId>{FBBCAFF8-5E91-4839-BDFC-35487B323E13}</a:tableStyleId>
              </a:tblPr>
              <a:tblGrid>
                <a:gridCol w="4130566"/>
                <a:gridCol w="4130566"/>
              </a:tblGrid>
              <a:tr h="3689130">
                <a:tc>
                  <a:txBody>
                    <a:bodyPr/>
                    <a:lstStyle/>
                    <a:p>
                      <a:pPr marL="457200" indent="-457200">
                        <a:buFont typeface="+mj-lt"/>
                        <a:buAutoNum type="arabicPeriod"/>
                      </a:pPr>
                      <a:r>
                        <a:rPr lang="en-US" sz="1600" b="0" i="0" u="none" strike="noStrike" cap="none" dirty="0" smtClean="0">
                          <a:solidFill>
                            <a:srgbClr val="000000"/>
                          </a:solidFill>
                          <a:latin typeface="Arial"/>
                          <a:ea typeface="Arial"/>
                          <a:cs typeface="Arial"/>
                          <a:sym typeface="Arial"/>
                        </a:rPr>
                        <a:t>ADVANTAGES:-</a:t>
                      </a:r>
                    </a:p>
                    <a:p>
                      <a:pPr marL="457200" indent="-457200">
                        <a:buFont typeface="+mj-lt"/>
                        <a:buAutoNum type="arabicPeriod"/>
                      </a:pPr>
                      <a:endParaRPr lang="en-US" sz="1600" b="0" i="0" u="none" strike="noStrike" cap="none" dirty="0" smtClean="0">
                        <a:solidFill>
                          <a:srgbClr val="000000"/>
                        </a:solidFill>
                        <a:latin typeface="Arial"/>
                        <a:ea typeface="Arial"/>
                        <a:cs typeface="Arial"/>
                        <a:sym typeface="Arial"/>
                      </a:endParaRPr>
                    </a:p>
                    <a:p>
                      <a:pPr marL="457200" indent="-457200">
                        <a:buFont typeface="+mj-lt"/>
                        <a:buAutoNum type="arabicPeriod"/>
                      </a:pPr>
                      <a:r>
                        <a:rPr lang="en-US" sz="1600" b="0" i="0" u="none" strike="noStrike" cap="none" dirty="0" smtClean="0">
                          <a:solidFill>
                            <a:srgbClr val="000000"/>
                          </a:solidFill>
                          <a:latin typeface="Arial"/>
                          <a:ea typeface="Arial"/>
                          <a:cs typeface="Arial"/>
                          <a:sym typeface="Arial"/>
                        </a:rPr>
                        <a:t>It helps maximize the use of resources.</a:t>
                      </a:r>
                    </a:p>
                    <a:p>
                      <a:pPr marL="457200" indent="-457200">
                        <a:buFont typeface="+mj-lt"/>
                        <a:buAutoNum type="arabicPeriod"/>
                      </a:pPr>
                      <a:r>
                        <a:rPr lang="en-US" sz="1600" b="0" i="0" u="none" strike="noStrike" cap="none" dirty="0" smtClean="0">
                          <a:solidFill>
                            <a:srgbClr val="000000"/>
                          </a:solidFill>
                          <a:latin typeface="Arial"/>
                          <a:ea typeface="Arial"/>
                          <a:cs typeface="Arial"/>
                          <a:sym typeface="Arial"/>
                        </a:rPr>
                        <a:t>It makes project planning more manageable.</a:t>
                      </a:r>
                    </a:p>
                    <a:p>
                      <a:pPr marL="457200" indent="-457200">
                        <a:buFont typeface="+mj-lt"/>
                        <a:buAutoNum type="arabicPeriod"/>
                      </a:pPr>
                      <a:r>
                        <a:rPr lang="en-US" sz="1600" b="0" i="0" u="none" strike="noStrike" cap="none" dirty="0" smtClean="0">
                          <a:solidFill>
                            <a:srgbClr val="000000"/>
                          </a:solidFill>
                          <a:latin typeface="Arial"/>
                          <a:ea typeface="Arial"/>
                          <a:cs typeface="Arial"/>
                          <a:sym typeface="Arial"/>
                        </a:rPr>
                        <a:t>It’s useful even if there is little or no previous schedule data.</a:t>
                      </a:r>
                    </a:p>
                    <a:p>
                      <a:pPr marL="457200" indent="-457200">
                        <a:buFont typeface="+mj-lt"/>
                        <a:buAutoNum type="arabicPeriod"/>
                      </a:pPr>
                      <a:r>
                        <a:rPr lang="en-US" sz="1600" b="0" i="0" u="none" strike="noStrike" cap="none" dirty="0" smtClean="0">
                          <a:solidFill>
                            <a:srgbClr val="000000"/>
                          </a:solidFill>
                          <a:latin typeface="Arial"/>
                          <a:ea typeface="Arial"/>
                          <a:cs typeface="Arial"/>
                          <a:sym typeface="Arial"/>
                        </a:rPr>
                        <a:t>It enables project managers to better estimate or determine a more definite completion date.</a:t>
                      </a:r>
                    </a:p>
                    <a:p>
                      <a:pPr marL="457200" indent="-457200">
                        <a:buFont typeface="+mj-lt"/>
                        <a:buAutoNum type="arabicPeriod"/>
                      </a:pPr>
                      <a:endParaRPr lang="en-US" sz="1600" dirty="0"/>
                    </a:p>
                  </a:txBody>
                  <a:tcPr/>
                </a:tc>
                <a:tc>
                  <a:txBody>
                    <a:bodyPr/>
                    <a:lstStyle/>
                    <a:p>
                      <a:pPr marL="457200" indent="-457200">
                        <a:buFont typeface="+mj-lt"/>
                        <a:buNone/>
                      </a:pPr>
                      <a:r>
                        <a:rPr lang="en-US" sz="1600" b="0" i="0" u="none" strike="noStrike" cap="none" dirty="0" smtClean="0">
                          <a:solidFill>
                            <a:srgbClr val="000000"/>
                          </a:solidFill>
                          <a:latin typeface="Arial"/>
                          <a:ea typeface="Arial"/>
                          <a:cs typeface="Arial"/>
                          <a:sym typeface="Arial"/>
                        </a:rPr>
                        <a:t>DISADVANTAGES:-</a:t>
                      </a:r>
                    </a:p>
                    <a:p>
                      <a:pPr marL="457200" indent="-457200">
                        <a:buFont typeface="+mj-lt"/>
                        <a:buNone/>
                      </a:pPr>
                      <a:endParaRPr lang="en-US" sz="1600" b="0" i="0" u="none" strike="noStrike" cap="none" dirty="0" smtClean="0">
                        <a:solidFill>
                          <a:srgbClr val="000000"/>
                        </a:solidFill>
                        <a:latin typeface="Arial"/>
                        <a:ea typeface="Arial"/>
                        <a:cs typeface="Arial"/>
                        <a:sym typeface="Arial"/>
                      </a:endParaRPr>
                    </a:p>
                    <a:p>
                      <a:pPr marL="457200" indent="-457200">
                        <a:buFont typeface="+mj-lt"/>
                        <a:buAutoNum type="arabicPeriod"/>
                      </a:pPr>
                      <a:r>
                        <a:rPr lang="en-US" sz="1600" b="0" i="0" u="none" strike="noStrike" cap="none" dirty="0" smtClean="0">
                          <a:solidFill>
                            <a:srgbClr val="000000"/>
                          </a:solidFill>
                          <a:latin typeface="Arial"/>
                          <a:ea typeface="Arial"/>
                          <a:cs typeface="Arial"/>
                          <a:sym typeface="Arial"/>
                        </a:rPr>
                        <a:t>In complex projects, many find PERT hard to interpret, so they may also use a </a:t>
                      </a:r>
                      <a:r>
                        <a:rPr lang="en-US" sz="1600" b="0" i="0" u="none" strike="noStrike" cap="none" dirty="0" smtClean="0">
                          <a:solidFill>
                            <a:srgbClr val="000000"/>
                          </a:solidFill>
                          <a:latin typeface="Arial"/>
                          <a:ea typeface="Arial"/>
                          <a:cs typeface="Arial"/>
                          <a:sym typeface="Arial"/>
                          <a:hlinkClick r:id="rId2"/>
                        </a:rPr>
                        <a:t>Gantt chart</a:t>
                      </a:r>
                      <a:r>
                        <a:rPr lang="en-US" sz="1600" b="0" i="0" u="none" strike="noStrike" cap="none" dirty="0" smtClean="0">
                          <a:solidFill>
                            <a:srgbClr val="000000"/>
                          </a:solidFill>
                          <a:latin typeface="Arial"/>
                          <a:ea typeface="Arial"/>
                          <a:cs typeface="Arial"/>
                          <a:sym typeface="Arial"/>
                        </a:rPr>
                        <a:t>, another popular method for project management.</a:t>
                      </a:r>
                    </a:p>
                    <a:p>
                      <a:pPr marL="457200" indent="-457200">
                        <a:buFont typeface="+mj-lt"/>
                        <a:buAutoNum type="arabicPeriod"/>
                      </a:pPr>
                      <a:r>
                        <a:rPr lang="en-US" sz="1600" b="0" i="0" u="none" strike="noStrike" cap="none" dirty="0" smtClean="0">
                          <a:solidFill>
                            <a:srgbClr val="000000"/>
                          </a:solidFill>
                          <a:latin typeface="Arial"/>
                          <a:ea typeface="Arial"/>
                          <a:cs typeface="Arial"/>
                          <a:sym typeface="Arial"/>
                        </a:rPr>
                        <a:t>It can be tedious to update, modify, and maintain the PERT diagram.</a:t>
                      </a:r>
                    </a:p>
                    <a:p>
                      <a:pPr marL="457200" indent="-457200">
                        <a:buFont typeface="+mj-lt"/>
                        <a:buAutoNum type="arabicPeriod"/>
                      </a:pPr>
                      <a:r>
                        <a:rPr lang="en-US" sz="1600" b="0" i="0" u="none" strike="noStrike" cap="none" dirty="0" smtClean="0">
                          <a:solidFill>
                            <a:srgbClr val="000000"/>
                          </a:solidFill>
                          <a:latin typeface="Arial"/>
                          <a:ea typeface="Arial"/>
                          <a:cs typeface="Arial"/>
                          <a:sym typeface="Arial"/>
                        </a:rPr>
                        <a:t>It entails a subjective time analysis of activities and, for those who are less experienced or are biased, this may affect the project’s schedule.</a:t>
                      </a:r>
                    </a:p>
                    <a:p>
                      <a:pPr marL="457200" indent="-457200">
                        <a:buFont typeface="+mj-lt"/>
                        <a:buAutoNum type="arabicPeriod"/>
                      </a:pPr>
                      <a:endParaRPr lang="en-US" sz="1600" dirty="0"/>
                    </a:p>
                  </a:txBody>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06455" y="336331"/>
            <a:ext cx="3662814" cy="572700"/>
          </a:xfrm>
        </p:spPr>
        <p:txBody>
          <a:bodyPr/>
          <a:lstStyle/>
          <a:p>
            <a:pPr algn="ctr"/>
            <a:r>
              <a:rPr lang="en-US" sz="4400" u="sng" dirty="0" smtClean="0">
                <a:latin typeface="Bell MT" pitchFamily="18" charset="0"/>
              </a:rPr>
              <a:t>6. Conclusion</a:t>
            </a:r>
            <a:endParaRPr lang="en-US" sz="4400" u="sng" dirty="0">
              <a:latin typeface="Bell MT" pitchFamily="18" charset="0"/>
            </a:endParaRPr>
          </a:p>
        </p:txBody>
      </p:sp>
      <p:sp>
        <p:nvSpPr>
          <p:cNvPr id="4" name="Subtitle 3"/>
          <p:cNvSpPr>
            <a:spLocks noGrp="1"/>
          </p:cNvSpPr>
          <p:nvPr>
            <p:ph type="subTitle" idx="2"/>
          </p:nvPr>
        </p:nvSpPr>
        <p:spPr>
          <a:xfrm>
            <a:off x="534550" y="1261241"/>
            <a:ext cx="7831685" cy="1702676"/>
          </a:xfrm>
        </p:spPr>
        <p:txBody>
          <a:bodyPr/>
          <a:lstStyle/>
          <a:p>
            <a:pPr algn="ctr"/>
            <a:r>
              <a:rPr lang="en-US" sz="1600" dirty="0" smtClean="0"/>
              <a:t>Mastering PERT is crucial for optimizing project performance. By leveraging PERT's ability to identify critical activities, estimate project duration, and allocate resources effectively, project managers can ensure successful project outcomes. Start implementing PERT in your projects and witness the positive impact it can have on project management.</a:t>
            </a:r>
            <a:endParaRPr lang="en-US" sz="1600" dirty="0">
              <a:latin typeface="+mn-lt"/>
            </a:endParaRPr>
          </a:p>
        </p:txBody>
      </p:sp>
      <p:sp>
        <p:nvSpPr>
          <p:cNvPr id="5" name="TextBox 4"/>
          <p:cNvSpPr txBox="1"/>
          <p:nvPr/>
        </p:nvSpPr>
        <p:spPr>
          <a:xfrm>
            <a:off x="1692166" y="3205656"/>
            <a:ext cx="6022427" cy="1015663"/>
          </a:xfrm>
          <a:prstGeom prst="rect">
            <a:avLst/>
          </a:prstGeom>
          <a:noFill/>
        </p:spPr>
        <p:txBody>
          <a:bodyPr wrap="square" rtlCol="0">
            <a:spAutoFit/>
          </a:bodyPr>
          <a:lstStyle/>
          <a:p>
            <a:r>
              <a:rPr lang="en-US" sz="6000" b="1" dirty="0" smtClean="0">
                <a:latin typeface="MV Boli" pitchFamily="2" charset="0"/>
                <a:cs typeface="MV Boli" pitchFamily="2" charset="0"/>
              </a:rPr>
              <a:t>THANK YOU!</a:t>
            </a:r>
            <a:endParaRPr lang="en-US" sz="6000" b="1" dirty="0">
              <a:latin typeface="MV Boli" pitchFamily="2" charset="0"/>
              <a:cs typeface="MV Boli" pitchFamily="2" charset="0"/>
            </a:endParaRPr>
          </a:p>
        </p:txBody>
      </p:sp>
      <p:sp>
        <p:nvSpPr>
          <p:cNvPr id="6" name="TextBox 5"/>
          <p:cNvSpPr txBox="1"/>
          <p:nvPr/>
        </p:nvSpPr>
        <p:spPr>
          <a:xfrm>
            <a:off x="6442841" y="4572001"/>
            <a:ext cx="2953407" cy="307777"/>
          </a:xfrm>
          <a:prstGeom prst="rect">
            <a:avLst/>
          </a:prstGeom>
          <a:noFill/>
        </p:spPr>
        <p:txBody>
          <a:bodyPr wrap="square" rtlCol="0">
            <a:spAutoFit/>
          </a:bodyPr>
          <a:lstStyle/>
          <a:p>
            <a:r>
              <a:rPr lang="en-US" dirty="0" smtClean="0">
                <a:latin typeface="MV Boli" pitchFamily="2" charset="0"/>
                <a:cs typeface="MV Boli" pitchFamily="2" charset="0"/>
              </a:rPr>
              <a:t>Aditya Kumar,34230821034</a:t>
            </a:r>
            <a:endParaRPr lang="en-US" dirty="0">
              <a:latin typeface="MV Boli" pitchFamily="2" charset="0"/>
              <a:cs typeface="MV Boli" pitchFamily="2" charset="0"/>
            </a:endParaRPr>
          </a:p>
        </p:txBody>
      </p:sp>
    </p:spTree>
  </p:cSld>
  <p:clrMapOvr>
    <a:masterClrMapping/>
  </p:clrMapOvr>
</p:sld>
</file>

<file path=ppt/theme/theme1.xml><?xml version="1.0" encoding="utf-8"?>
<a:theme xmlns:a="http://schemas.openxmlformats.org/drawingml/2006/main" name="Entrepreneurial Ecosystem by Slidesgo">
  <a:themeElements>
    <a:clrScheme name="Simple Light">
      <a:dk1>
        <a:srgbClr val="242424"/>
      </a:dk1>
      <a:lt1>
        <a:srgbClr val="F8F8F8"/>
      </a:lt1>
      <a:dk2>
        <a:srgbClr val="EFEFEF"/>
      </a:dk2>
      <a:lt2>
        <a:srgbClr val="CCCCCC"/>
      </a:lt2>
      <a:accent1>
        <a:srgbClr val="595959"/>
      </a:accent1>
      <a:accent2>
        <a:srgbClr val="FF0000"/>
      </a:accent2>
      <a:accent3>
        <a:srgbClr val="FFFFFF"/>
      </a:accent3>
      <a:accent4>
        <a:srgbClr val="FFFFFF"/>
      </a:accent4>
      <a:accent5>
        <a:srgbClr val="FFFFFF"/>
      </a:accent5>
      <a:accent6>
        <a:srgbClr val="FFFFFF"/>
      </a:accent6>
      <a:hlink>
        <a:srgbClr val="242424"/>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Paper</Template>
  <TotalTime>2480</TotalTime>
  <Words>673</Words>
  <Application>Microsoft Office PowerPoint</Application>
  <PresentationFormat>On-screen Show (16:9)</PresentationFormat>
  <Paragraphs>60</Paragraphs>
  <Slides>8</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Arial</vt:lpstr>
      <vt:lpstr>Bell MT</vt:lpstr>
      <vt:lpstr>Libre Baskerville</vt:lpstr>
      <vt:lpstr>MV Boli</vt:lpstr>
      <vt:lpstr>DM Sans</vt:lpstr>
      <vt:lpstr>Wingdings</vt:lpstr>
      <vt:lpstr>Entrepreneurial Ecosystem by Slidesgo</vt:lpstr>
      <vt:lpstr>Project Evaluation and Review Technique (PERT): Optimizing Project Performance</vt:lpstr>
      <vt:lpstr>1. Introduction</vt:lpstr>
      <vt:lpstr>Characteristics of PERT</vt:lpstr>
      <vt:lpstr>The PERT Method Example </vt:lpstr>
      <vt:lpstr>Slide 5</vt:lpstr>
      <vt:lpstr>Slide 6</vt:lpstr>
      <vt:lpstr>5.Advantages &amp; Disadvantages of PERT</vt:lpstr>
      <vt:lpstr>6. Conclusion</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Exploring the Power of Polymorphism in Object-Oriented Programming with Java</dc:title>
  <dc:creator>Aditya</dc:creator>
  <cp:lastModifiedBy>Rishuraj</cp:lastModifiedBy>
  <cp:revision>105</cp:revision>
  <dcterms:modified xsi:type="dcterms:W3CDTF">2023-08-08T08:47:56Z</dcterms:modified>
</cp:coreProperties>
</file>