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2"/>
  </p:notesMasterIdLst>
  <p:sldIdLst>
    <p:sldId id="256" r:id="rId2"/>
    <p:sldId id="262" r:id="rId3"/>
    <p:sldId id="269" r:id="rId4"/>
    <p:sldId id="270" r:id="rId5"/>
    <p:sldId id="271" r:id="rId6"/>
    <p:sldId id="272" r:id="rId7"/>
    <p:sldId id="273" r:id="rId8"/>
    <p:sldId id="274" r:id="rId9"/>
    <p:sldId id="275" r:id="rId10"/>
    <p:sldId id="267" r:id="rId11"/>
  </p:sldIdLst>
  <p:sldSz cx="9144000" cy="5143500" type="screen16x9"/>
  <p:notesSz cx="6858000" cy="9144000"/>
  <p:embeddedFontLst>
    <p:embeddedFont>
      <p:font typeface="Bell MT" pitchFamily="18" charset="0"/>
      <p:regular r:id="rId13"/>
      <p:bold r:id="rId14"/>
      <p:italic r:id="rId15"/>
    </p:embeddedFont>
    <p:embeddedFont>
      <p:font typeface="Libre Baskerville" charset="0"/>
      <p:regular r:id="rId16"/>
      <p:bold r:id="rId17"/>
      <p:italic r:id="rId18"/>
    </p:embeddedFont>
    <p:embeddedFont>
      <p:font typeface="Cambria" pitchFamily="18" charset="0"/>
      <p:regular r:id="rId19"/>
      <p:bold r:id="rId20"/>
      <p:italic r:id="rId21"/>
      <p:boldItalic r:id="rId22"/>
    </p:embeddedFont>
    <p:embeddedFont>
      <p:font typeface="MV Boli" pitchFamily="2" charset="0"/>
      <p:regular r:id="rId23"/>
    </p:embeddedFont>
    <p:embeddedFont>
      <p:font typeface="DM Sans" charset="0"/>
      <p:regular r:id="rId24"/>
      <p:bold r:id="rId25"/>
      <p:italic r:id="rId26"/>
      <p:boldItalic r:id="rId27"/>
    </p:embeddedFont>
    <p:embeddedFont>
      <p:font typeface="Trebuchet MS" pitchFamily="34" charset="0"/>
      <p:regular r:id="rId28"/>
      <p:bold r:id="rId29"/>
      <p:italic r:id="rId30"/>
      <p:boldItalic r:id="rId31"/>
    </p:embeddedFont>
    <p:embeddedFont>
      <p:font typeface="Tahoma" pitchFamily="34" charset="0"/>
      <p:regular r:id="rId32"/>
      <p:bold r:id="rId33"/>
    </p:embeddedFont>
    <p:embeddedFont>
      <p:font typeface="Verdana"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BBCAFF8-5E91-4839-BDFC-35487B323E13}">
  <a:tblStyle styleId="{FBBCAFF8-5E91-4839-BDFC-35487B323E1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4153231-1AEA-42AA-A113-9BCB8BEE630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86" y="-102"/>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font" Target="fonts/font22.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font" Target="fonts/font2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font" Target="fonts/font24.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3116de41c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3116de41c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34950" y="1432275"/>
            <a:ext cx="6330600" cy="16101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000" b="0">
                <a:latin typeface="Libre Baskerville"/>
                <a:ea typeface="Libre Baskerville"/>
                <a:cs typeface="Libre Baskerville"/>
                <a:sym typeface="Libre Baskervill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834950" y="3083025"/>
            <a:ext cx="2472300" cy="717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7463650" y="4950"/>
            <a:ext cx="1680500" cy="5143500"/>
            <a:chOff x="7463650" y="4950"/>
            <a:chExt cx="1680500" cy="5143500"/>
          </a:xfrm>
        </p:grpSpPr>
        <p:sp>
          <p:nvSpPr>
            <p:cNvPr id="12" name="Google Shape;12;p2"/>
            <p:cNvSpPr/>
            <p:nvPr/>
          </p:nvSpPr>
          <p:spPr>
            <a:xfrm>
              <a:off x="7463650" y="4950"/>
              <a:ext cx="728700" cy="5143500"/>
            </a:xfrm>
            <a:prstGeom prst="rect">
              <a:avLst/>
            </a:prstGeom>
            <a:gradFill>
              <a:gsLst>
                <a:gs pos="0">
                  <a:schemeClr val="lt1"/>
                </a:gs>
                <a:gs pos="7400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678250" y="4950"/>
              <a:ext cx="465900" cy="5143500"/>
            </a:xfrm>
            <a:prstGeom prst="rect">
              <a:avLst/>
            </a:prstGeom>
            <a:gradFill>
              <a:gsLst>
                <a:gs pos="0">
                  <a:schemeClr val="dk2"/>
                </a:gs>
                <a:gs pos="46000">
                  <a:schemeClr val="lt1"/>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93175"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8192175" y="4950"/>
              <a:ext cx="201000" cy="5143500"/>
            </a:xfrm>
            <a:prstGeom prst="rect">
              <a:avLst/>
            </a:prstGeom>
            <a:gradFill>
              <a:gsLst>
                <a:gs pos="0">
                  <a:schemeClr val="lt1"/>
                </a:gs>
                <a:gs pos="32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flipH="1">
            <a:off x="-25" y="0"/>
            <a:ext cx="65961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2475" y="4840800"/>
            <a:ext cx="9159300" cy="151200"/>
            <a:chOff x="2475" y="4840800"/>
            <a:chExt cx="9159300" cy="151200"/>
          </a:xfrm>
        </p:grpSpPr>
        <p:sp>
          <p:nvSpPr>
            <p:cNvPr id="18" name="Google Shape;18;p2"/>
            <p:cNvSpPr/>
            <p:nvPr/>
          </p:nvSpPr>
          <p:spPr>
            <a:xfrm>
              <a:off x="945675" y="4840800"/>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 name="Google Shape;19;p2"/>
            <p:cNvCxnSpPr/>
            <p:nvPr/>
          </p:nvCxnSpPr>
          <p:spPr>
            <a:xfrm>
              <a:off x="1197075" y="4926450"/>
              <a:ext cx="7964700" cy="0"/>
            </a:xfrm>
            <a:prstGeom prst="straightConnector1">
              <a:avLst/>
            </a:prstGeom>
            <a:noFill/>
            <a:ln w="9525" cap="flat" cmpd="sng">
              <a:solidFill>
                <a:schemeClr val="dk1"/>
              </a:solidFill>
              <a:prstDash val="solid"/>
              <a:round/>
              <a:headEnd type="none" w="med" len="med"/>
              <a:tailEnd type="none" w="med" len="med"/>
            </a:ln>
          </p:spPr>
        </p:cxnSp>
        <p:cxnSp>
          <p:nvCxnSpPr>
            <p:cNvPr id="20" name="Google Shape;20;p2"/>
            <p:cNvCxnSpPr/>
            <p:nvPr/>
          </p:nvCxnSpPr>
          <p:spPr>
            <a:xfrm>
              <a:off x="2475" y="4926450"/>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35"/>
        <p:cNvGrpSpPr/>
        <p:nvPr/>
      </p:nvGrpSpPr>
      <p:grpSpPr>
        <a:xfrm>
          <a:off x="0" y="0"/>
          <a:ext cx="0" cy="0"/>
          <a:chOff x="0" y="0"/>
          <a:chExt cx="0" cy="0"/>
        </a:xfrm>
      </p:grpSpPr>
      <p:grpSp>
        <p:nvGrpSpPr>
          <p:cNvPr id="236" name="Google Shape;236;p22"/>
          <p:cNvGrpSpPr/>
          <p:nvPr/>
        </p:nvGrpSpPr>
        <p:grpSpPr>
          <a:xfrm>
            <a:off x="0" y="4950"/>
            <a:ext cx="486000" cy="5143500"/>
            <a:chOff x="0" y="4950"/>
            <a:chExt cx="486000" cy="5143500"/>
          </a:xfrm>
        </p:grpSpPr>
        <p:sp>
          <p:nvSpPr>
            <p:cNvPr id="237" name="Google Shape;237;p22"/>
            <p:cNvSpPr/>
            <p:nvPr/>
          </p:nvSpPr>
          <p:spPr>
            <a:xfrm flipH="1">
              <a:off x="0"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2"/>
            <p:cNvSpPr/>
            <p:nvPr/>
          </p:nvSpPr>
          <p:spPr>
            <a:xfrm>
              <a:off x="285000" y="4950"/>
              <a:ext cx="2010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 name="Google Shape;239;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22"/>
          <p:cNvSpPr txBox="1">
            <a:spLocks noGrp="1"/>
          </p:cNvSpPr>
          <p:nvPr>
            <p:ph type="subTitle" idx="1"/>
          </p:nvPr>
        </p:nvSpPr>
        <p:spPr>
          <a:xfrm>
            <a:off x="4505531" y="1743825"/>
            <a:ext cx="3040800" cy="2226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1" name="Google Shape;241;p22"/>
          <p:cNvSpPr txBox="1">
            <a:spLocks noGrp="1"/>
          </p:cNvSpPr>
          <p:nvPr>
            <p:ph type="subTitle" idx="2"/>
          </p:nvPr>
        </p:nvSpPr>
        <p:spPr>
          <a:xfrm>
            <a:off x="713225" y="1743825"/>
            <a:ext cx="3040800" cy="2226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2" name="Google Shape;242;p22"/>
          <p:cNvSpPr/>
          <p:nvPr/>
        </p:nvSpPr>
        <p:spPr>
          <a:xfrm flipH="1">
            <a:off x="8423925" y="-10075"/>
            <a:ext cx="7446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22"/>
          <p:cNvGrpSpPr/>
          <p:nvPr/>
        </p:nvGrpSpPr>
        <p:grpSpPr>
          <a:xfrm>
            <a:off x="-111811" y="4840700"/>
            <a:ext cx="9268661" cy="151200"/>
            <a:chOff x="-111811" y="184025"/>
            <a:chExt cx="9268661" cy="151200"/>
          </a:xfrm>
        </p:grpSpPr>
        <p:cxnSp>
          <p:nvCxnSpPr>
            <p:cNvPr id="244" name="Google Shape;244;p22"/>
            <p:cNvCxnSpPr/>
            <p:nvPr/>
          </p:nvCxnSpPr>
          <p:spPr>
            <a:xfrm>
              <a:off x="-111811" y="269675"/>
              <a:ext cx="8024400" cy="0"/>
            </a:xfrm>
            <a:prstGeom prst="straightConnector1">
              <a:avLst/>
            </a:prstGeom>
            <a:noFill/>
            <a:ln w="9525" cap="flat" cmpd="sng">
              <a:solidFill>
                <a:schemeClr val="dk1"/>
              </a:solidFill>
              <a:prstDash val="solid"/>
              <a:round/>
              <a:headEnd type="none" w="med" len="med"/>
              <a:tailEnd type="none" w="med" len="med"/>
            </a:ln>
          </p:spPr>
        </p:cxnSp>
        <p:sp>
          <p:nvSpPr>
            <p:cNvPr id="245" name="Google Shape;245;p22"/>
            <p:cNvSpPr/>
            <p:nvPr/>
          </p:nvSpPr>
          <p:spPr>
            <a:xfrm rot="10800000">
              <a:off x="8037613" y="184025"/>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6" name="Google Shape;246;p22"/>
            <p:cNvCxnSpPr/>
            <p:nvPr/>
          </p:nvCxnSpPr>
          <p:spPr>
            <a:xfrm>
              <a:off x="8313850" y="259625"/>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54"/>
        <p:cNvGrpSpPr/>
        <p:nvPr/>
      </p:nvGrpSpPr>
      <p:grpSpPr>
        <a:xfrm>
          <a:off x="0" y="0"/>
          <a:ext cx="0" cy="0"/>
          <a:chOff x="0" y="0"/>
          <a:chExt cx="0" cy="0"/>
        </a:xfrm>
      </p:grpSpPr>
      <p:grpSp>
        <p:nvGrpSpPr>
          <p:cNvPr id="455" name="Google Shape;455;p36"/>
          <p:cNvGrpSpPr/>
          <p:nvPr/>
        </p:nvGrpSpPr>
        <p:grpSpPr>
          <a:xfrm>
            <a:off x="8658000" y="4950"/>
            <a:ext cx="486000" cy="5143500"/>
            <a:chOff x="8658000" y="4950"/>
            <a:chExt cx="486000" cy="5143500"/>
          </a:xfrm>
        </p:grpSpPr>
        <p:sp>
          <p:nvSpPr>
            <p:cNvPr id="456" name="Google Shape;456;p36"/>
            <p:cNvSpPr/>
            <p:nvPr/>
          </p:nvSpPr>
          <p:spPr>
            <a:xfrm rot="10800000">
              <a:off x="8658000"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6"/>
            <p:cNvSpPr/>
            <p:nvPr/>
          </p:nvSpPr>
          <p:spPr>
            <a:xfrm rot="10800000" flipH="1">
              <a:off x="8943000" y="4950"/>
              <a:ext cx="2010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36"/>
          <p:cNvGrpSpPr/>
          <p:nvPr/>
        </p:nvGrpSpPr>
        <p:grpSpPr>
          <a:xfrm>
            <a:off x="-4102" y="4840700"/>
            <a:ext cx="9159300" cy="151200"/>
            <a:chOff x="2475" y="4840800"/>
            <a:chExt cx="9159300" cy="151200"/>
          </a:xfrm>
        </p:grpSpPr>
        <p:sp>
          <p:nvSpPr>
            <p:cNvPr id="459" name="Google Shape;459;p36"/>
            <p:cNvSpPr/>
            <p:nvPr/>
          </p:nvSpPr>
          <p:spPr>
            <a:xfrm>
              <a:off x="945675" y="4840800"/>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0" name="Google Shape;460;p36"/>
            <p:cNvCxnSpPr/>
            <p:nvPr/>
          </p:nvCxnSpPr>
          <p:spPr>
            <a:xfrm>
              <a:off x="1197075" y="4926450"/>
              <a:ext cx="7964700" cy="0"/>
            </a:xfrm>
            <a:prstGeom prst="straightConnector1">
              <a:avLst/>
            </a:prstGeom>
            <a:noFill/>
            <a:ln w="9525" cap="flat" cmpd="sng">
              <a:solidFill>
                <a:schemeClr val="dk1"/>
              </a:solidFill>
              <a:prstDash val="solid"/>
              <a:round/>
              <a:headEnd type="none" w="med" len="med"/>
              <a:tailEnd type="none" w="med" len="med"/>
            </a:ln>
          </p:spPr>
        </p:cxnSp>
        <p:cxnSp>
          <p:nvCxnSpPr>
            <p:cNvPr id="461" name="Google Shape;461;p36"/>
            <p:cNvCxnSpPr/>
            <p:nvPr/>
          </p:nvCxnSpPr>
          <p:spPr>
            <a:xfrm>
              <a:off x="2475" y="4926450"/>
              <a:ext cx="843000" cy="0"/>
            </a:xfrm>
            <a:prstGeom prst="straightConnector1">
              <a:avLst/>
            </a:prstGeom>
            <a:noFill/>
            <a:ln w="9525" cap="flat" cmpd="sng">
              <a:solidFill>
                <a:schemeClr val="dk1"/>
              </a:solidFill>
              <a:prstDash val="solid"/>
              <a:round/>
              <a:headEnd type="none" w="med" len="med"/>
              <a:tailEnd type="none" w="med" len="med"/>
            </a:ln>
          </p:spPr>
        </p:cxnSp>
      </p:grpSp>
      <p:sp>
        <p:nvSpPr>
          <p:cNvPr id="462" name="Google Shape;462;p36"/>
          <p:cNvSpPr/>
          <p:nvPr/>
        </p:nvSpPr>
        <p:spPr>
          <a:xfrm flipH="1">
            <a:off x="-100" y="0"/>
            <a:ext cx="16653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63"/>
        <p:cNvGrpSpPr/>
        <p:nvPr/>
      </p:nvGrpSpPr>
      <p:grpSpPr>
        <a:xfrm>
          <a:off x="0" y="0"/>
          <a:ext cx="0" cy="0"/>
          <a:chOff x="0" y="0"/>
          <a:chExt cx="0" cy="0"/>
        </a:xfrm>
      </p:grpSpPr>
      <p:grpSp>
        <p:nvGrpSpPr>
          <p:cNvPr id="464" name="Google Shape;464;p37"/>
          <p:cNvGrpSpPr/>
          <p:nvPr/>
        </p:nvGrpSpPr>
        <p:grpSpPr>
          <a:xfrm>
            <a:off x="0" y="4950"/>
            <a:ext cx="1569900" cy="5143500"/>
            <a:chOff x="0" y="4950"/>
            <a:chExt cx="1569900" cy="5143500"/>
          </a:xfrm>
        </p:grpSpPr>
        <p:sp>
          <p:nvSpPr>
            <p:cNvPr id="465" name="Google Shape;465;p37"/>
            <p:cNvSpPr/>
            <p:nvPr/>
          </p:nvSpPr>
          <p:spPr>
            <a:xfrm flipH="1">
              <a:off x="611700" y="4950"/>
              <a:ext cx="276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887700" y="4950"/>
              <a:ext cx="6822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0" y="4950"/>
              <a:ext cx="611700" cy="5143500"/>
            </a:xfrm>
            <a:prstGeom prst="rect">
              <a:avLst/>
            </a:prstGeom>
            <a:gradFill>
              <a:gsLst>
                <a:gs pos="0">
                  <a:schemeClr val="dk2"/>
                </a:gs>
                <a:gs pos="69000">
                  <a:schemeClr val="lt1"/>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8" name="Google Shape;468;p37"/>
          <p:cNvSpPr/>
          <p:nvPr/>
        </p:nvSpPr>
        <p:spPr>
          <a:xfrm flipH="1">
            <a:off x="6280975" y="4604000"/>
            <a:ext cx="28710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 name="Google Shape;469;p37"/>
          <p:cNvGrpSpPr/>
          <p:nvPr/>
        </p:nvGrpSpPr>
        <p:grpSpPr>
          <a:xfrm>
            <a:off x="-111811" y="184025"/>
            <a:ext cx="9268661" cy="151200"/>
            <a:chOff x="-111811" y="184025"/>
            <a:chExt cx="9268661" cy="151200"/>
          </a:xfrm>
        </p:grpSpPr>
        <p:cxnSp>
          <p:nvCxnSpPr>
            <p:cNvPr id="470" name="Google Shape;470;p37"/>
            <p:cNvCxnSpPr/>
            <p:nvPr/>
          </p:nvCxnSpPr>
          <p:spPr>
            <a:xfrm>
              <a:off x="-111811" y="269675"/>
              <a:ext cx="8024400" cy="0"/>
            </a:xfrm>
            <a:prstGeom prst="straightConnector1">
              <a:avLst/>
            </a:prstGeom>
            <a:noFill/>
            <a:ln w="9525" cap="flat" cmpd="sng">
              <a:solidFill>
                <a:schemeClr val="dk1"/>
              </a:solidFill>
              <a:prstDash val="solid"/>
              <a:round/>
              <a:headEnd type="none" w="med" len="med"/>
              <a:tailEnd type="none" w="med" len="med"/>
            </a:ln>
          </p:spPr>
        </p:cxnSp>
        <p:sp>
          <p:nvSpPr>
            <p:cNvPr id="471" name="Google Shape;471;p37"/>
            <p:cNvSpPr/>
            <p:nvPr/>
          </p:nvSpPr>
          <p:spPr>
            <a:xfrm rot="10800000">
              <a:off x="8037613" y="184025"/>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2" name="Google Shape;472;p37"/>
            <p:cNvCxnSpPr/>
            <p:nvPr/>
          </p:nvCxnSpPr>
          <p:spPr>
            <a:xfrm>
              <a:off x="8313850" y="259625"/>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a:xfrm>
            <a:off x="3108960" y="4302984"/>
            <a:ext cx="2926080" cy="231343"/>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302984"/>
            <a:ext cx="2103120" cy="231343"/>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3/15/2025</a:t>
            </a:fld>
            <a:endParaRPr lang="en-US"/>
          </a:p>
        </p:txBody>
      </p:sp>
      <p:sp>
        <p:nvSpPr>
          <p:cNvPr id="6" name="Holder 6"/>
          <p:cNvSpPr>
            <a:spLocks noGrp="1"/>
          </p:cNvSpPr>
          <p:nvPr>
            <p:ph type="sldNum" sz="quarter" idx="7"/>
          </p:nvPr>
        </p:nvSpPr>
        <p:spPr>
          <a:xfrm>
            <a:off x="6583680" y="4302984"/>
            <a:ext cx="2103120" cy="231343"/>
          </a:xfrm>
          <a:prstGeom prst="rect">
            <a:avLst/>
          </a:prstGeom>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457200" y="1064179"/>
            <a:ext cx="3977640" cy="18466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064179"/>
            <a:ext cx="3977640" cy="18466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4302984"/>
            <a:ext cx="2926080" cy="231343"/>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302984"/>
            <a:ext cx="2103120" cy="231343"/>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3/15/2025</a:t>
            </a:fld>
            <a:endParaRPr lang="en-US"/>
          </a:p>
        </p:txBody>
      </p:sp>
      <p:sp>
        <p:nvSpPr>
          <p:cNvPr id="7" name="Holder 7"/>
          <p:cNvSpPr>
            <a:spLocks noGrp="1"/>
          </p:cNvSpPr>
          <p:nvPr>
            <p:ph type="sldNum" sz="quarter" idx="7"/>
          </p:nvPr>
        </p:nvSpPr>
        <p:spPr>
          <a:xfrm>
            <a:off x="6583680" y="4302984"/>
            <a:ext cx="2103120" cy="231343"/>
          </a:xfrm>
          <a:prstGeom prst="rect">
            <a:avLst/>
          </a:prstGeom>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1pPr>
            <a:lvl2pPr lvl="1"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2"/>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68" r:id="rId3"/>
    <p:sldLayoutId id="2147483682" r:id="rId4"/>
    <p:sldLayoutId id="2147483683" r:id="rId5"/>
    <p:sldLayoutId id="2147483689" r:id="rId6"/>
    <p:sldLayoutId id="2147483690"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data-flair.training/blogs/machine-learning-algorith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4"/>
          <p:cNvSpPr txBox="1">
            <a:spLocks noGrp="1"/>
          </p:cNvSpPr>
          <p:nvPr>
            <p:ph type="ctrTitle"/>
          </p:nvPr>
        </p:nvSpPr>
        <p:spPr>
          <a:xfrm>
            <a:off x="336331" y="738590"/>
            <a:ext cx="8113986" cy="1610100"/>
          </a:xfrm>
          <a:prstGeom prst="rect">
            <a:avLst/>
          </a:prstGeom>
        </p:spPr>
        <p:txBody>
          <a:bodyPr spcFirstLastPara="1" wrap="square" lIns="91425" tIns="91425" rIns="91425" bIns="91425" anchor="b" anchorCtr="0">
            <a:noAutofit/>
          </a:bodyPr>
          <a:lstStyle/>
          <a:p>
            <a:pPr lvl="0"/>
            <a:r>
              <a:rPr lang="en-US" sz="4400" b="1" u="sng" spc="-100" dirty="0" smtClean="0">
                <a:latin typeface="Bell MT" pitchFamily="18" charset="0"/>
                <a:cs typeface="Cambria"/>
              </a:rPr>
              <a:t>E</a:t>
            </a:r>
            <a:r>
              <a:rPr lang="en-US" sz="4400" b="1" u="sng" spc="-250" dirty="0" smtClean="0">
                <a:latin typeface="Bell MT" pitchFamily="18" charset="0"/>
                <a:cs typeface="Cambria"/>
              </a:rPr>
              <a:t>x</a:t>
            </a:r>
            <a:r>
              <a:rPr lang="en-US" sz="4400" b="1" u="sng" spc="-335" dirty="0" smtClean="0">
                <a:latin typeface="Bell MT" pitchFamily="18" charset="0"/>
                <a:cs typeface="Cambria"/>
              </a:rPr>
              <a:t>p</a:t>
            </a:r>
            <a:r>
              <a:rPr lang="en-US" sz="4400" b="1" u="sng" spc="-290" dirty="0" smtClean="0">
                <a:latin typeface="Bell MT" pitchFamily="18" charset="0"/>
                <a:cs typeface="Cambria"/>
              </a:rPr>
              <a:t>l</a:t>
            </a:r>
            <a:r>
              <a:rPr lang="en-US" sz="4400" b="1" u="sng" spc="-215" dirty="0" smtClean="0">
                <a:latin typeface="Bell MT" pitchFamily="18" charset="0"/>
                <a:cs typeface="Cambria"/>
              </a:rPr>
              <a:t>o</a:t>
            </a:r>
            <a:r>
              <a:rPr lang="en-US" sz="4400" b="1" u="sng" spc="-350" dirty="0" smtClean="0">
                <a:latin typeface="Bell MT" pitchFamily="18" charset="0"/>
                <a:cs typeface="Cambria"/>
              </a:rPr>
              <a:t>r</a:t>
            </a:r>
            <a:r>
              <a:rPr lang="en-US" sz="4400" b="1" u="sng" spc="-245" dirty="0" smtClean="0">
                <a:latin typeface="Bell MT" pitchFamily="18" charset="0"/>
                <a:cs typeface="Cambria"/>
              </a:rPr>
              <a:t>i</a:t>
            </a:r>
            <a:r>
              <a:rPr lang="en-US" sz="4400" b="1" u="sng" spc="-360" dirty="0" smtClean="0">
                <a:latin typeface="Bell MT" pitchFamily="18" charset="0"/>
                <a:cs typeface="Cambria"/>
              </a:rPr>
              <a:t>n</a:t>
            </a:r>
            <a:r>
              <a:rPr lang="en-US" sz="4400" b="1" u="sng" spc="55" dirty="0" smtClean="0">
                <a:latin typeface="Bell MT" pitchFamily="18" charset="0"/>
                <a:cs typeface="Cambria"/>
              </a:rPr>
              <a:t>g</a:t>
            </a:r>
            <a:r>
              <a:rPr lang="en-US" sz="4400" b="1" u="sng" spc="-190" dirty="0" smtClean="0">
                <a:latin typeface="Bell MT" pitchFamily="18" charset="0"/>
                <a:cs typeface="Cambria"/>
              </a:rPr>
              <a:t> </a:t>
            </a:r>
            <a:r>
              <a:rPr lang="en-US" sz="4400" b="1" u="sng" spc="-120" dirty="0" smtClean="0">
                <a:latin typeface="Bell MT" pitchFamily="18" charset="0"/>
                <a:cs typeface="Cambria"/>
              </a:rPr>
              <a:t>A</a:t>
            </a:r>
            <a:r>
              <a:rPr lang="en-US" sz="4400" b="1" u="sng" spc="140" dirty="0" smtClean="0">
                <a:latin typeface="Bell MT" pitchFamily="18" charset="0"/>
                <a:cs typeface="Cambria"/>
              </a:rPr>
              <a:t>NN</a:t>
            </a:r>
            <a:r>
              <a:rPr lang="en-US" sz="4400" b="1" u="sng" spc="260" dirty="0" smtClean="0">
                <a:latin typeface="Bell MT" pitchFamily="18" charset="0"/>
                <a:cs typeface="Cambria"/>
              </a:rPr>
              <a:t>-</a:t>
            </a:r>
            <a:r>
              <a:rPr lang="en-US" sz="4400" b="1" u="sng" spc="-235" dirty="0" smtClean="0">
                <a:latin typeface="Bell MT" pitchFamily="18" charset="0"/>
                <a:cs typeface="Cambria"/>
              </a:rPr>
              <a:t>b</a:t>
            </a:r>
            <a:r>
              <a:rPr lang="en-US" sz="4400" b="1" u="sng" spc="-370" dirty="0" smtClean="0">
                <a:latin typeface="Bell MT" pitchFamily="18" charset="0"/>
                <a:cs typeface="Cambria"/>
              </a:rPr>
              <a:t>a</a:t>
            </a:r>
            <a:r>
              <a:rPr lang="en-US" sz="4400" b="1" u="sng" spc="-114" dirty="0" smtClean="0">
                <a:latin typeface="Bell MT" pitchFamily="18" charset="0"/>
                <a:cs typeface="Cambria"/>
              </a:rPr>
              <a:t>s</a:t>
            </a:r>
            <a:r>
              <a:rPr lang="en-US" sz="4400" b="1" u="sng" spc="-270" dirty="0" smtClean="0">
                <a:latin typeface="Bell MT" pitchFamily="18" charset="0"/>
                <a:cs typeface="Cambria"/>
              </a:rPr>
              <a:t>e</a:t>
            </a:r>
            <a:r>
              <a:rPr lang="en-US" sz="4400" b="1" u="sng" spc="-125" dirty="0" smtClean="0">
                <a:latin typeface="Bell MT" pitchFamily="18" charset="0"/>
                <a:cs typeface="Cambria"/>
              </a:rPr>
              <a:t>d  </a:t>
            </a:r>
            <a:r>
              <a:rPr lang="en-US" sz="4400" b="1" u="sng" spc="145" dirty="0" smtClean="0">
                <a:latin typeface="Bell MT" pitchFamily="18" charset="0"/>
                <a:cs typeface="Cambria"/>
              </a:rPr>
              <a:t>C</a:t>
            </a:r>
            <a:r>
              <a:rPr lang="en-US" sz="4400" b="1" u="sng" spc="-290" dirty="0" smtClean="0">
                <a:latin typeface="Bell MT" pitchFamily="18" charset="0"/>
                <a:cs typeface="Cambria"/>
              </a:rPr>
              <a:t>l</a:t>
            </a:r>
            <a:r>
              <a:rPr lang="en-US" sz="4400" b="1" u="sng" spc="-370" dirty="0" smtClean="0">
                <a:latin typeface="Bell MT" pitchFamily="18" charset="0"/>
                <a:cs typeface="Cambria"/>
              </a:rPr>
              <a:t>a</a:t>
            </a:r>
            <a:r>
              <a:rPr lang="en-US" sz="4400" b="1" u="sng" spc="-114" dirty="0" smtClean="0">
                <a:latin typeface="Bell MT" pitchFamily="18" charset="0"/>
                <a:cs typeface="Cambria"/>
              </a:rPr>
              <a:t>ss</a:t>
            </a:r>
            <a:r>
              <a:rPr lang="en-US" sz="4400" b="1" u="sng" spc="-245" dirty="0" smtClean="0">
                <a:latin typeface="Bell MT" pitchFamily="18" charset="0"/>
                <a:cs typeface="Cambria"/>
              </a:rPr>
              <a:t>i</a:t>
            </a:r>
            <a:r>
              <a:rPr lang="en-US" sz="4400" b="1" u="sng" spc="5" dirty="0" smtClean="0">
                <a:latin typeface="Bell MT" pitchFamily="18" charset="0"/>
                <a:cs typeface="Cambria"/>
              </a:rPr>
              <a:t>f</a:t>
            </a:r>
            <a:r>
              <a:rPr lang="en-US" sz="4400" b="1" u="sng" spc="-245" dirty="0" smtClean="0">
                <a:latin typeface="Bell MT" pitchFamily="18" charset="0"/>
                <a:cs typeface="Cambria"/>
              </a:rPr>
              <a:t>i</a:t>
            </a:r>
            <a:r>
              <a:rPr lang="en-US" sz="4400" b="1" u="sng" spc="-85" dirty="0" smtClean="0">
                <a:latin typeface="Bell MT" pitchFamily="18" charset="0"/>
                <a:cs typeface="Cambria"/>
              </a:rPr>
              <a:t>c</a:t>
            </a:r>
            <a:r>
              <a:rPr lang="en-US" sz="4400" b="1" u="sng" spc="-370" dirty="0" smtClean="0">
                <a:latin typeface="Bell MT" pitchFamily="18" charset="0"/>
                <a:cs typeface="Cambria"/>
              </a:rPr>
              <a:t>a</a:t>
            </a:r>
            <a:r>
              <a:rPr lang="en-US" sz="4400" b="1" u="sng" spc="-160" dirty="0" smtClean="0">
                <a:latin typeface="Bell MT" pitchFamily="18" charset="0"/>
                <a:cs typeface="Cambria"/>
              </a:rPr>
              <a:t>t</a:t>
            </a:r>
            <a:r>
              <a:rPr lang="en-US" sz="4400" b="1" u="sng" spc="-245" dirty="0" smtClean="0">
                <a:latin typeface="Bell MT" pitchFamily="18" charset="0"/>
                <a:cs typeface="Cambria"/>
              </a:rPr>
              <a:t>i</a:t>
            </a:r>
            <a:r>
              <a:rPr lang="en-US" sz="4400" b="1" u="sng" spc="-215" dirty="0" smtClean="0">
                <a:latin typeface="Bell MT" pitchFamily="18" charset="0"/>
                <a:cs typeface="Cambria"/>
              </a:rPr>
              <a:t>o</a:t>
            </a:r>
            <a:r>
              <a:rPr lang="en-US" sz="4400" b="1" u="sng" spc="-245" dirty="0" smtClean="0">
                <a:latin typeface="Bell MT" pitchFamily="18" charset="0"/>
                <a:cs typeface="Cambria"/>
              </a:rPr>
              <a:t>n</a:t>
            </a:r>
            <a:r>
              <a:rPr lang="en-US" sz="4400" b="1" u="sng" spc="-175" dirty="0" smtClean="0">
                <a:latin typeface="Bell MT" pitchFamily="18" charset="0"/>
                <a:cs typeface="Cambria"/>
              </a:rPr>
              <a:t> </a:t>
            </a:r>
            <a:r>
              <a:rPr lang="en-US" sz="4400" b="1" u="sng" spc="-245" dirty="0" smtClean="0">
                <a:latin typeface="Bell MT" pitchFamily="18" charset="0"/>
                <a:cs typeface="Cambria"/>
              </a:rPr>
              <a:t>in</a:t>
            </a:r>
            <a:r>
              <a:rPr lang="en-US" sz="4400" b="1" u="sng" spc="-175" dirty="0" smtClean="0">
                <a:latin typeface="Bell MT" pitchFamily="18" charset="0"/>
                <a:cs typeface="Cambria"/>
              </a:rPr>
              <a:t> </a:t>
            </a:r>
            <a:r>
              <a:rPr lang="en-US" sz="4400" b="1" u="sng" spc="250" dirty="0" smtClean="0">
                <a:latin typeface="Bell MT" pitchFamily="18" charset="0"/>
                <a:cs typeface="Cambria"/>
              </a:rPr>
              <a:t>M</a:t>
            </a:r>
            <a:r>
              <a:rPr lang="en-US" sz="4400" b="1" u="sng" spc="-370" dirty="0" smtClean="0">
                <a:latin typeface="Bell MT" pitchFamily="18" charset="0"/>
                <a:cs typeface="Cambria"/>
              </a:rPr>
              <a:t>a</a:t>
            </a:r>
            <a:r>
              <a:rPr lang="en-US" sz="4400" b="1" u="sng" spc="-85" dirty="0" smtClean="0">
                <a:latin typeface="Bell MT" pitchFamily="18" charset="0"/>
                <a:cs typeface="Cambria"/>
              </a:rPr>
              <a:t>c</a:t>
            </a:r>
            <a:r>
              <a:rPr lang="en-US" sz="4400" b="1" u="sng" spc="-330" dirty="0" smtClean="0">
                <a:latin typeface="Bell MT" pitchFamily="18" charset="0"/>
                <a:cs typeface="Cambria"/>
              </a:rPr>
              <a:t>h</a:t>
            </a:r>
            <a:r>
              <a:rPr lang="en-US" sz="4400" b="1" u="sng" spc="-245" dirty="0" smtClean="0">
                <a:latin typeface="Bell MT" pitchFamily="18" charset="0"/>
                <a:cs typeface="Cambria"/>
              </a:rPr>
              <a:t>i</a:t>
            </a:r>
            <a:r>
              <a:rPr lang="en-US" sz="4400" b="1" u="sng" spc="-360" dirty="0" smtClean="0">
                <a:latin typeface="Bell MT" pitchFamily="18" charset="0"/>
                <a:cs typeface="Cambria"/>
              </a:rPr>
              <a:t>n</a:t>
            </a:r>
            <a:r>
              <a:rPr lang="en-US" sz="4400" b="1" u="sng" spc="-105" dirty="0" smtClean="0">
                <a:latin typeface="Bell MT" pitchFamily="18" charset="0"/>
                <a:cs typeface="Cambria"/>
              </a:rPr>
              <a:t>e  </a:t>
            </a:r>
            <a:r>
              <a:rPr lang="en-US" sz="4400" b="1" u="sng" spc="-235" dirty="0" smtClean="0">
                <a:latin typeface="Bell MT" pitchFamily="18" charset="0"/>
                <a:cs typeface="Cambria"/>
              </a:rPr>
              <a:t>Learning</a:t>
            </a:r>
            <a:endParaRPr sz="4400" b="1" u="sng" dirty="0">
              <a:latin typeface="Bell MT" pitchFamily="18" charset="0"/>
            </a:endParaRPr>
          </a:p>
        </p:txBody>
      </p:sp>
      <p:sp>
        <p:nvSpPr>
          <p:cNvPr id="490" name="Google Shape;490;p44"/>
          <p:cNvSpPr txBox="1">
            <a:spLocks noGrp="1"/>
          </p:cNvSpPr>
          <p:nvPr>
            <p:ph type="subTitle" idx="1"/>
          </p:nvPr>
        </p:nvSpPr>
        <p:spPr>
          <a:xfrm>
            <a:off x="834949" y="2883329"/>
            <a:ext cx="3705520" cy="71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smtClean="0">
                <a:latin typeface="MV Boli" pitchFamily="2" charset="0"/>
                <a:cs typeface="MV Boli" pitchFamily="2" charset="0"/>
              </a:rPr>
              <a:t>Presented by</a:t>
            </a:r>
          </a:p>
          <a:p>
            <a:pPr marL="0" lvl="0" indent="0" algn="l" rtl="0">
              <a:spcBef>
                <a:spcPts val="0"/>
              </a:spcBef>
              <a:spcAft>
                <a:spcPts val="0"/>
              </a:spcAft>
              <a:buNone/>
            </a:pPr>
            <a:r>
              <a:rPr lang="en-US" sz="1800" dirty="0" smtClean="0">
                <a:latin typeface="MV Boli" pitchFamily="2" charset="0"/>
                <a:cs typeface="MV Boli" pitchFamily="2" charset="0"/>
              </a:rPr>
              <a:t>Name – </a:t>
            </a:r>
          </a:p>
          <a:p>
            <a:pPr marL="0" lvl="0" indent="0" algn="l" rtl="0">
              <a:spcBef>
                <a:spcPts val="0"/>
              </a:spcBef>
              <a:spcAft>
                <a:spcPts val="0"/>
              </a:spcAft>
              <a:buNone/>
            </a:pPr>
            <a:r>
              <a:rPr lang="en-US" sz="1800" dirty="0" smtClean="0">
                <a:latin typeface="MV Boli" pitchFamily="2" charset="0"/>
                <a:cs typeface="MV Boli" pitchFamily="2" charset="0"/>
              </a:rPr>
              <a:t>Roll No. – </a:t>
            </a:r>
          </a:p>
          <a:p>
            <a:pPr marL="0" lvl="0" indent="0" algn="l" rtl="0">
              <a:spcBef>
                <a:spcPts val="0"/>
              </a:spcBef>
              <a:spcAft>
                <a:spcPts val="0"/>
              </a:spcAft>
              <a:buNone/>
            </a:pPr>
            <a:r>
              <a:rPr lang="en-US" sz="1800" dirty="0" smtClean="0">
                <a:latin typeface="MV Boli" pitchFamily="2" charset="0"/>
                <a:cs typeface="MV Boli" pitchFamily="2" charset="0"/>
              </a:rPr>
              <a:t>Dept. – CSE(AI &amp; ML)</a:t>
            </a:r>
          </a:p>
          <a:p>
            <a:pPr marL="0" lvl="0" indent="0" algn="l" rtl="0">
              <a:spcBef>
                <a:spcPts val="0"/>
              </a:spcBef>
              <a:spcAft>
                <a:spcPts val="0"/>
              </a:spcAft>
              <a:buNone/>
            </a:pPr>
            <a:r>
              <a:rPr lang="en-US" sz="1800" dirty="0" smtClean="0">
                <a:latin typeface="MV Boli" pitchFamily="2" charset="0"/>
                <a:cs typeface="MV Boli" pitchFamily="2" charset="0"/>
              </a:rPr>
              <a:t>3</a:t>
            </a:r>
            <a:r>
              <a:rPr lang="en-US" sz="1800" baseline="30000" dirty="0" smtClean="0">
                <a:latin typeface="MV Boli" pitchFamily="2" charset="0"/>
                <a:cs typeface="MV Boli" pitchFamily="2" charset="0"/>
              </a:rPr>
              <a:t>rd</a:t>
            </a:r>
            <a:r>
              <a:rPr lang="en-US" sz="1800" dirty="0" smtClean="0">
                <a:latin typeface="MV Boli" pitchFamily="2" charset="0"/>
                <a:cs typeface="MV Boli" pitchFamily="2" charset="0"/>
              </a:rPr>
              <a:t> year (5</a:t>
            </a:r>
            <a:r>
              <a:rPr lang="en-US" sz="1800" baseline="30000" dirty="0" smtClean="0">
                <a:latin typeface="MV Boli" pitchFamily="2" charset="0"/>
                <a:cs typeface="MV Boli" pitchFamily="2" charset="0"/>
              </a:rPr>
              <a:t>th</a:t>
            </a:r>
            <a:r>
              <a:rPr lang="en-US" sz="1800" dirty="0" smtClean="0">
                <a:latin typeface="MV Boli" pitchFamily="2" charset="0"/>
                <a:cs typeface="MV Boli" pitchFamily="2" charset="0"/>
              </a:rPr>
              <a:t> semester)</a:t>
            </a:r>
          </a:p>
          <a:p>
            <a:pPr marL="0" lvl="0" indent="0" algn="l" rtl="0">
              <a:spcBef>
                <a:spcPts val="0"/>
              </a:spcBef>
              <a:spcAft>
                <a:spcPts val="0"/>
              </a:spcAft>
              <a:buNone/>
            </a:pPr>
            <a:endParaRPr lang="en-US" sz="1800" dirty="0" smtClean="0">
              <a:latin typeface="MV Boli" pitchFamily="2" charset="0"/>
              <a:cs typeface="MV Boli" pitchFamily="2" charset="0"/>
            </a:endParaRPr>
          </a:p>
          <a:p>
            <a:pPr marL="0" lvl="0" indent="0" algn="l" rtl="0">
              <a:spcBef>
                <a:spcPts val="0"/>
              </a:spcBef>
              <a:spcAft>
                <a:spcPts val="0"/>
              </a:spcAft>
              <a:buNone/>
            </a:pPr>
            <a:endParaRPr sz="1800" dirty="0">
              <a:latin typeface="MV Boli" pitchFamily="2" charset="0"/>
              <a:cs typeface="MV Boli" pitchFamily="2" charset="0"/>
            </a:endParaRPr>
          </a:p>
        </p:txBody>
      </p:sp>
      <p:pic>
        <p:nvPicPr>
          <p:cNvPr id="6" name="Picture 5" descr="6cdc84cf2555ee4c406f80e1a8e24643.jpg"/>
          <p:cNvPicPr>
            <a:picLocks noChangeAspect="1"/>
          </p:cNvPicPr>
          <p:nvPr/>
        </p:nvPicPr>
        <p:blipFill>
          <a:blip r:embed="rId3"/>
          <a:stretch>
            <a:fillRect/>
          </a:stretch>
        </p:blipFill>
        <p:spPr>
          <a:xfrm>
            <a:off x="5002925" y="3133363"/>
            <a:ext cx="3142594" cy="16698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566" y="0"/>
            <a:ext cx="6085489" cy="683173"/>
          </a:xfrm>
        </p:spPr>
        <p:txBody>
          <a:bodyPr/>
          <a:lstStyle/>
          <a:p>
            <a:pPr algn="ctr"/>
            <a:r>
              <a:rPr lang="en-US" sz="3200" b="1" u="sng" dirty="0" smtClean="0">
                <a:latin typeface="Bell MT" pitchFamily="18" charset="0"/>
              </a:rPr>
              <a:t>INTRODUCTION TO ANN</a:t>
            </a:r>
            <a:endParaRPr lang="en-US" sz="3200" b="1" u="sng" dirty="0">
              <a:latin typeface="Bell MT" pitchFamily="18" charset="0"/>
            </a:endParaRPr>
          </a:p>
        </p:txBody>
      </p:sp>
      <p:sp>
        <p:nvSpPr>
          <p:cNvPr id="10" name="TextBox 9"/>
          <p:cNvSpPr txBox="1"/>
          <p:nvPr/>
        </p:nvSpPr>
        <p:spPr>
          <a:xfrm>
            <a:off x="536028" y="630621"/>
            <a:ext cx="5959365" cy="4401205"/>
          </a:xfrm>
          <a:prstGeom prst="rect">
            <a:avLst/>
          </a:prstGeom>
          <a:noFill/>
        </p:spPr>
        <p:txBody>
          <a:bodyPr wrap="square" rtlCol="0">
            <a:spAutoFit/>
          </a:bodyPr>
          <a:lstStyle/>
          <a:p>
            <a:pPr>
              <a:buFont typeface="Wingdings" pitchFamily="2" charset="2"/>
              <a:buChar char="Ø"/>
            </a:pPr>
            <a:r>
              <a:rPr lang="en-US" dirty="0" smtClean="0"/>
              <a:t>Artificial Neural Networks are the most popular </a:t>
            </a:r>
            <a:r>
              <a:rPr lang="en-US" b="1" i="1" u="sng" dirty="0" smtClean="0">
                <a:hlinkClick r:id="rId2"/>
              </a:rPr>
              <a:t>machine learning algorithms</a:t>
            </a:r>
            <a:r>
              <a:rPr lang="en-US" dirty="0" smtClean="0"/>
              <a:t> today. The invention of these Neural Networks took place in the 1970s but they have achieved huge popularity due to the recent increase in computation power because of which they are now virtually everywhere.</a:t>
            </a:r>
          </a:p>
          <a:p>
            <a:endParaRPr lang="en-US" dirty="0" smtClean="0"/>
          </a:p>
          <a:p>
            <a:pPr>
              <a:buFont typeface="Wingdings" pitchFamily="2" charset="2"/>
              <a:buChar char="Ø"/>
            </a:pPr>
            <a:r>
              <a:rPr lang="en-US" dirty="0" smtClean="0"/>
              <a:t>Artificial Neural Networks are computational models inspired by the structure and functioning of the human brain. </a:t>
            </a:r>
          </a:p>
          <a:p>
            <a:endParaRPr lang="en-US" dirty="0" smtClean="0"/>
          </a:p>
          <a:p>
            <a:pPr>
              <a:buFont typeface="Wingdings" pitchFamily="2" charset="2"/>
              <a:buChar char="Ø"/>
            </a:pPr>
            <a:r>
              <a:rPr lang="en-US" dirty="0" smtClean="0"/>
              <a:t>Composed of interconnected nodes or neurons, ANNs can learn and generalize from data.</a:t>
            </a:r>
          </a:p>
          <a:p>
            <a:endParaRPr lang="en-US" dirty="0" smtClean="0"/>
          </a:p>
          <a:p>
            <a:pPr>
              <a:buFont typeface="Wingdings" pitchFamily="2" charset="2"/>
              <a:buChar char="Ø"/>
            </a:pPr>
            <a:r>
              <a:rPr lang="en-US" dirty="0" smtClean="0"/>
              <a:t>By simulating the brain's neural connections, ANNs are capable of performing complex tasks such as classification, pattern recognition, and more. </a:t>
            </a:r>
          </a:p>
          <a:p>
            <a:pPr>
              <a:buFont typeface="Wingdings" pitchFamily="2" charset="2"/>
              <a:buChar char="Ø"/>
            </a:pPr>
            <a:endParaRPr lang="en-US" dirty="0" smtClean="0"/>
          </a:p>
          <a:p>
            <a:pPr lvl="0">
              <a:buFont typeface="Wingdings" pitchFamily="2" charset="2"/>
              <a:buChar char="Ø"/>
            </a:pPr>
            <a:r>
              <a:rPr lang="en-US" dirty="0" smtClean="0"/>
              <a:t>Artificial neural network (ANN) is a computational model that consists of several processing elements that receive inputs and deliver outputs based on their predefined activation functions.</a:t>
            </a:r>
          </a:p>
          <a:p>
            <a:endParaRPr lang="en-US" dirty="0"/>
          </a:p>
        </p:txBody>
      </p:sp>
      <p:pic>
        <p:nvPicPr>
          <p:cNvPr id="12" name="Picture 11" descr="469200ff0f5d439249a0b91f0a107168.jpg"/>
          <p:cNvPicPr>
            <a:picLocks noChangeAspect="1"/>
          </p:cNvPicPr>
          <p:nvPr/>
        </p:nvPicPr>
        <p:blipFill>
          <a:blip r:embed="rId3"/>
          <a:stretch>
            <a:fillRect/>
          </a:stretch>
        </p:blipFill>
        <p:spPr>
          <a:xfrm rot="5400000">
            <a:off x="6158718" y="1113752"/>
            <a:ext cx="3205658" cy="23865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4697730"/>
          </a:xfrm>
          <a:prstGeom prst="rect">
            <a:avLst/>
          </a:prstGeom>
        </p:spPr>
      </p:pic>
      <p:sp>
        <p:nvSpPr>
          <p:cNvPr id="3" name="object 3"/>
          <p:cNvSpPr/>
          <p:nvPr/>
        </p:nvSpPr>
        <p:spPr>
          <a:xfrm>
            <a:off x="0" y="21020"/>
            <a:ext cx="9144000" cy="5143500"/>
          </a:xfrm>
          <a:custGeom>
            <a:avLst/>
            <a:gdLst/>
            <a:ahLst/>
            <a:cxnLst/>
            <a:rect l="l" t="t" r="r" b="b"/>
            <a:pathLst>
              <a:path w="11430000" h="6524625">
                <a:moveTo>
                  <a:pt x="11430000" y="6524625"/>
                </a:moveTo>
                <a:lnTo>
                  <a:pt x="0" y="6524625"/>
                </a:lnTo>
                <a:lnTo>
                  <a:pt x="0" y="0"/>
                </a:lnTo>
                <a:lnTo>
                  <a:pt x="11430000" y="0"/>
                </a:lnTo>
                <a:lnTo>
                  <a:pt x="11430000" y="6524625"/>
                </a:lnTo>
                <a:close/>
              </a:path>
            </a:pathLst>
          </a:custGeom>
          <a:solidFill>
            <a:srgbClr val="FFFFFF">
              <a:alpha val="74899"/>
            </a:srgbClr>
          </a:solidFill>
        </p:spPr>
        <p:txBody>
          <a:bodyPr wrap="square" lIns="0" tIns="0" rIns="0" bIns="0" rtlCol="0"/>
          <a:lstStyle/>
          <a:p>
            <a:endParaRPr/>
          </a:p>
        </p:txBody>
      </p:sp>
      <p:sp>
        <p:nvSpPr>
          <p:cNvPr id="4" name="object 4"/>
          <p:cNvSpPr txBox="1">
            <a:spLocks noGrp="1"/>
          </p:cNvSpPr>
          <p:nvPr>
            <p:ph type="title"/>
          </p:nvPr>
        </p:nvSpPr>
        <p:spPr>
          <a:xfrm>
            <a:off x="1304290" y="328202"/>
            <a:ext cx="5825236" cy="441639"/>
          </a:xfrm>
          <a:prstGeom prst="rect">
            <a:avLst/>
          </a:prstGeom>
        </p:spPr>
        <p:txBody>
          <a:bodyPr vert="horz" wrap="square" lIns="0" tIns="13188" rIns="0" bIns="0" rtlCol="0">
            <a:spAutoFit/>
          </a:bodyPr>
          <a:lstStyle/>
          <a:p>
            <a:pPr marL="9769">
              <a:spcBef>
                <a:spcPts val="104"/>
              </a:spcBef>
            </a:pPr>
            <a:r>
              <a:rPr spc="-88" dirty="0"/>
              <a:t>Supervised</a:t>
            </a:r>
            <a:r>
              <a:rPr spc="-308" dirty="0"/>
              <a:t> </a:t>
            </a:r>
            <a:r>
              <a:rPr spc="-112" dirty="0"/>
              <a:t>Learning</a:t>
            </a:r>
            <a:r>
              <a:rPr spc="-265" dirty="0"/>
              <a:t> </a:t>
            </a:r>
            <a:r>
              <a:rPr lang="en-US" spc="-265" dirty="0" smtClean="0"/>
              <a:t> </a:t>
            </a:r>
            <a:r>
              <a:rPr spc="-81" dirty="0" smtClean="0"/>
              <a:t>for</a:t>
            </a:r>
            <a:r>
              <a:rPr spc="-315" dirty="0" smtClean="0"/>
              <a:t> </a:t>
            </a:r>
            <a:r>
              <a:rPr spc="-96" dirty="0"/>
              <a:t>Classification</a:t>
            </a:r>
          </a:p>
        </p:txBody>
      </p:sp>
      <p:pic>
        <p:nvPicPr>
          <p:cNvPr id="5" name="object 5"/>
          <p:cNvPicPr/>
          <p:nvPr/>
        </p:nvPicPr>
        <p:blipFill>
          <a:blip r:embed="rId3" cstate="print"/>
          <a:stretch>
            <a:fillRect/>
          </a:stretch>
        </p:blipFill>
        <p:spPr>
          <a:xfrm>
            <a:off x="1318260" y="1035559"/>
            <a:ext cx="2019299" cy="1124711"/>
          </a:xfrm>
          <a:prstGeom prst="rect">
            <a:avLst/>
          </a:prstGeom>
        </p:spPr>
      </p:pic>
      <p:sp>
        <p:nvSpPr>
          <p:cNvPr id="6" name="object 6"/>
          <p:cNvSpPr txBox="1"/>
          <p:nvPr/>
        </p:nvSpPr>
        <p:spPr>
          <a:xfrm>
            <a:off x="1304290" y="2295830"/>
            <a:ext cx="1999996" cy="2355773"/>
          </a:xfrm>
          <a:prstGeom prst="rect">
            <a:avLst/>
          </a:prstGeom>
        </p:spPr>
        <p:txBody>
          <a:bodyPr vert="horz" wrap="square" lIns="0" tIns="0" rIns="0" bIns="0" rtlCol="0">
            <a:spAutoFit/>
          </a:bodyPr>
          <a:lstStyle/>
          <a:p>
            <a:pPr marL="9769" marR="507491">
              <a:lnSpc>
                <a:spcPct val="104200"/>
              </a:lnSpc>
            </a:pPr>
            <a:r>
              <a:rPr b="1" spc="15" dirty="0">
                <a:latin typeface="Trebuchet MS"/>
                <a:cs typeface="Trebuchet MS"/>
              </a:rPr>
              <a:t>W</a:t>
            </a:r>
            <a:r>
              <a:rPr b="1" spc="-104" dirty="0">
                <a:latin typeface="Trebuchet MS"/>
                <a:cs typeface="Trebuchet MS"/>
              </a:rPr>
              <a:t>h</a:t>
            </a:r>
            <a:r>
              <a:rPr b="1" spc="-77" dirty="0">
                <a:latin typeface="Trebuchet MS"/>
                <a:cs typeface="Trebuchet MS"/>
              </a:rPr>
              <a:t>a</a:t>
            </a:r>
            <a:r>
              <a:rPr b="1" spc="-73" dirty="0">
                <a:latin typeface="Trebuchet MS"/>
                <a:cs typeface="Trebuchet MS"/>
              </a:rPr>
              <a:t>t</a:t>
            </a:r>
            <a:r>
              <a:rPr b="1" spc="-146" dirty="0">
                <a:latin typeface="Trebuchet MS"/>
                <a:cs typeface="Trebuchet MS"/>
              </a:rPr>
              <a:t> </a:t>
            </a:r>
            <a:r>
              <a:rPr b="1" spc="-42" dirty="0">
                <a:latin typeface="Trebuchet MS"/>
                <a:cs typeface="Trebuchet MS"/>
              </a:rPr>
              <a:t>i</a:t>
            </a:r>
            <a:r>
              <a:rPr b="1" spc="23" dirty="0">
                <a:latin typeface="Trebuchet MS"/>
                <a:cs typeface="Trebuchet MS"/>
              </a:rPr>
              <a:t>s</a:t>
            </a:r>
            <a:r>
              <a:rPr b="1" spc="-115" dirty="0">
                <a:latin typeface="Trebuchet MS"/>
                <a:cs typeface="Trebuchet MS"/>
              </a:rPr>
              <a:t> </a:t>
            </a:r>
            <a:r>
              <a:rPr b="1" spc="8" dirty="0">
                <a:latin typeface="Trebuchet MS"/>
                <a:cs typeface="Trebuchet MS"/>
              </a:rPr>
              <a:t>s</a:t>
            </a:r>
            <a:r>
              <a:rPr b="1" spc="-100" dirty="0">
                <a:latin typeface="Trebuchet MS"/>
                <a:cs typeface="Trebuchet MS"/>
              </a:rPr>
              <a:t>u</a:t>
            </a:r>
            <a:r>
              <a:rPr b="1" spc="-88" dirty="0">
                <a:latin typeface="Trebuchet MS"/>
                <a:cs typeface="Trebuchet MS"/>
              </a:rPr>
              <a:t>p</a:t>
            </a:r>
            <a:r>
              <a:rPr b="1" spc="-135" dirty="0">
                <a:latin typeface="Trebuchet MS"/>
                <a:cs typeface="Trebuchet MS"/>
              </a:rPr>
              <a:t>e</a:t>
            </a:r>
            <a:r>
              <a:rPr b="1" spc="-46" dirty="0">
                <a:latin typeface="Trebuchet MS"/>
                <a:cs typeface="Trebuchet MS"/>
              </a:rPr>
              <a:t>r</a:t>
            </a:r>
            <a:r>
              <a:rPr b="1" spc="-69" dirty="0">
                <a:latin typeface="Trebuchet MS"/>
                <a:cs typeface="Trebuchet MS"/>
              </a:rPr>
              <a:t>v</a:t>
            </a:r>
            <a:r>
              <a:rPr b="1" spc="-42" dirty="0">
                <a:latin typeface="Trebuchet MS"/>
                <a:cs typeface="Trebuchet MS"/>
              </a:rPr>
              <a:t>i</a:t>
            </a:r>
            <a:r>
              <a:rPr b="1" spc="8" dirty="0">
                <a:latin typeface="Trebuchet MS"/>
                <a:cs typeface="Trebuchet MS"/>
              </a:rPr>
              <a:t>s</a:t>
            </a:r>
            <a:r>
              <a:rPr b="1" spc="-135" dirty="0">
                <a:latin typeface="Trebuchet MS"/>
                <a:cs typeface="Trebuchet MS"/>
              </a:rPr>
              <a:t>e</a:t>
            </a:r>
            <a:r>
              <a:rPr b="1" spc="-35" dirty="0">
                <a:latin typeface="Trebuchet MS"/>
                <a:cs typeface="Trebuchet MS"/>
              </a:rPr>
              <a:t>d  </a:t>
            </a:r>
            <a:r>
              <a:rPr b="1" spc="-50" dirty="0">
                <a:latin typeface="Trebuchet MS"/>
                <a:cs typeface="Trebuchet MS"/>
              </a:rPr>
              <a:t>learning</a:t>
            </a:r>
            <a:r>
              <a:rPr b="1" spc="-50" dirty="0" smtClean="0">
                <a:latin typeface="Trebuchet MS"/>
                <a:cs typeface="Trebuchet MS"/>
              </a:rPr>
              <a:t>?</a:t>
            </a:r>
            <a:endParaRPr lang="en-US" b="1" spc="-50" dirty="0" smtClean="0">
              <a:latin typeface="Trebuchet MS"/>
              <a:cs typeface="Trebuchet MS"/>
            </a:endParaRPr>
          </a:p>
          <a:p>
            <a:pPr marL="9769" marR="507491">
              <a:lnSpc>
                <a:spcPct val="104200"/>
              </a:lnSpc>
            </a:pPr>
            <a:r>
              <a:rPr lang="en-US" sz="1200" dirty="0" smtClean="0"/>
              <a:t>Supervised learning is a machine learning technique where the algorithm is trained on labeled data. The algorithm learns from the labeled data and then tries to make predictions on new, unlabeled data.</a:t>
            </a:r>
            <a:endParaRPr sz="1200" dirty="0">
              <a:latin typeface="Trebuchet MS"/>
              <a:cs typeface="Trebuchet MS"/>
            </a:endParaRPr>
          </a:p>
        </p:txBody>
      </p:sp>
      <p:pic>
        <p:nvPicPr>
          <p:cNvPr id="7" name="object 7"/>
          <p:cNvPicPr/>
          <p:nvPr/>
        </p:nvPicPr>
        <p:blipFill>
          <a:blip r:embed="rId4" cstate="print"/>
          <a:stretch>
            <a:fillRect/>
          </a:stretch>
        </p:blipFill>
        <p:spPr>
          <a:xfrm>
            <a:off x="3558540" y="1035559"/>
            <a:ext cx="2026907" cy="1124711"/>
          </a:xfrm>
          <a:prstGeom prst="rect">
            <a:avLst/>
          </a:prstGeom>
        </p:spPr>
      </p:pic>
      <p:sp>
        <p:nvSpPr>
          <p:cNvPr id="8" name="object 8"/>
          <p:cNvSpPr txBox="1"/>
          <p:nvPr/>
        </p:nvSpPr>
        <p:spPr>
          <a:xfrm>
            <a:off x="3548860" y="2295830"/>
            <a:ext cx="1970532" cy="1714473"/>
          </a:xfrm>
          <a:prstGeom prst="rect">
            <a:avLst/>
          </a:prstGeom>
        </p:spPr>
        <p:txBody>
          <a:bodyPr vert="horz" wrap="square" lIns="0" tIns="8792" rIns="0" bIns="0" rtlCol="0">
            <a:spAutoFit/>
          </a:bodyPr>
          <a:lstStyle/>
          <a:p>
            <a:pPr marL="9769">
              <a:spcBef>
                <a:spcPts val="69"/>
              </a:spcBef>
            </a:pPr>
            <a:r>
              <a:rPr b="1" spc="15" dirty="0">
                <a:latin typeface="Trebuchet MS"/>
                <a:cs typeface="Trebuchet MS"/>
              </a:rPr>
              <a:t>W</a:t>
            </a:r>
            <a:r>
              <a:rPr b="1" spc="-104" dirty="0">
                <a:latin typeface="Trebuchet MS"/>
                <a:cs typeface="Trebuchet MS"/>
              </a:rPr>
              <a:t>h</a:t>
            </a:r>
            <a:r>
              <a:rPr b="1" spc="-77" dirty="0">
                <a:latin typeface="Trebuchet MS"/>
                <a:cs typeface="Trebuchet MS"/>
              </a:rPr>
              <a:t>a</a:t>
            </a:r>
            <a:r>
              <a:rPr b="1" spc="-73" dirty="0">
                <a:latin typeface="Trebuchet MS"/>
                <a:cs typeface="Trebuchet MS"/>
              </a:rPr>
              <a:t>t</a:t>
            </a:r>
            <a:r>
              <a:rPr b="1" spc="-146" dirty="0">
                <a:latin typeface="Trebuchet MS"/>
                <a:cs typeface="Trebuchet MS"/>
              </a:rPr>
              <a:t> </a:t>
            </a:r>
            <a:r>
              <a:rPr b="1" spc="-42" dirty="0">
                <a:latin typeface="Trebuchet MS"/>
                <a:cs typeface="Trebuchet MS"/>
              </a:rPr>
              <a:t>i</a:t>
            </a:r>
            <a:r>
              <a:rPr b="1" spc="23" dirty="0">
                <a:latin typeface="Trebuchet MS"/>
                <a:cs typeface="Trebuchet MS"/>
              </a:rPr>
              <a:t>s</a:t>
            </a:r>
            <a:r>
              <a:rPr b="1" spc="-115" dirty="0">
                <a:latin typeface="Trebuchet MS"/>
                <a:cs typeface="Trebuchet MS"/>
              </a:rPr>
              <a:t> </a:t>
            </a:r>
            <a:r>
              <a:rPr b="1" spc="-104" dirty="0">
                <a:latin typeface="Trebuchet MS"/>
                <a:cs typeface="Trebuchet MS"/>
              </a:rPr>
              <a:t>c</a:t>
            </a:r>
            <a:r>
              <a:rPr b="1" spc="-38" dirty="0">
                <a:latin typeface="Trebuchet MS"/>
                <a:cs typeface="Trebuchet MS"/>
              </a:rPr>
              <a:t>l</a:t>
            </a:r>
            <a:r>
              <a:rPr b="1" spc="-77" dirty="0">
                <a:latin typeface="Trebuchet MS"/>
                <a:cs typeface="Trebuchet MS"/>
              </a:rPr>
              <a:t>a</a:t>
            </a:r>
            <a:r>
              <a:rPr b="1" spc="8" dirty="0">
                <a:latin typeface="Trebuchet MS"/>
                <a:cs typeface="Trebuchet MS"/>
              </a:rPr>
              <a:t>ss</a:t>
            </a:r>
            <a:r>
              <a:rPr b="1" spc="-42" dirty="0">
                <a:latin typeface="Trebuchet MS"/>
                <a:cs typeface="Trebuchet MS"/>
              </a:rPr>
              <a:t>i</a:t>
            </a:r>
            <a:r>
              <a:rPr b="1" spc="-81" dirty="0">
                <a:latin typeface="Trebuchet MS"/>
                <a:cs typeface="Trebuchet MS"/>
              </a:rPr>
              <a:t>f</a:t>
            </a:r>
            <a:r>
              <a:rPr b="1" spc="-42" dirty="0">
                <a:latin typeface="Trebuchet MS"/>
                <a:cs typeface="Trebuchet MS"/>
              </a:rPr>
              <a:t>i</a:t>
            </a:r>
            <a:r>
              <a:rPr b="1" spc="-104" dirty="0">
                <a:latin typeface="Trebuchet MS"/>
                <a:cs typeface="Trebuchet MS"/>
              </a:rPr>
              <a:t>c</a:t>
            </a:r>
            <a:r>
              <a:rPr b="1" spc="-77" dirty="0">
                <a:latin typeface="Trebuchet MS"/>
                <a:cs typeface="Trebuchet MS"/>
              </a:rPr>
              <a:t>a</a:t>
            </a:r>
            <a:r>
              <a:rPr b="1" spc="-119" dirty="0">
                <a:latin typeface="Trebuchet MS"/>
                <a:cs typeface="Trebuchet MS"/>
              </a:rPr>
              <a:t>t</a:t>
            </a:r>
            <a:r>
              <a:rPr b="1" spc="-42" dirty="0">
                <a:latin typeface="Trebuchet MS"/>
                <a:cs typeface="Trebuchet MS"/>
              </a:rPr>
              <a:t>i</a:t>
            </a:r>
            <a:r>
              <a:rPr b="1" spc="-62" dirty="0">
                <a:latin typeface="Trebuchet MS"/>
                <a:cs typeface="Trebuchet MS"/>
              </a:rPr>
              <a:t>o</a:t>
            </a:r>
            <a:r>
              <a:rPr b="1" spc="-100" dirty="0">
                <a:latin typeface="Trebuchet MS"/>
                <a:cs typeface="Trebuchet MS"/>
              </a:rPr>
              <a:t>n</a:t>
            </a:r>
            <a:r>
              <a:rPr b="1" spc="77" dirty="0" smtClean="0">
                <a:latin typeface="Trebuchet MS"/>
                <a:cs typeface="Trebuchet MS"/>
              </a:rPr>
              <a:t>?</a:t>
            </a:r>
            <a:endParaRPr lang="en-US" b="1" spc="77" dirty="0" smtClean="0">
              <a:latin typeface="Trebuchet MS"/>
              <a:cs typeface="Trebuchet MS"/>
            </a:endParaRPr>
          </a:p>
          <a:p>
            <a:pPr marL="9769">
              <a:spcBef>
                <a:spcPts val="69"/>
              </a:spcBef>
            </a:pPr>
            <a:r>
              <a:rPr lang="en-US" sz="1200" dirty="0" smtClean="0"/>
              <a:t>Classification is a type of supervised learning where the algorithm learns to assign input data to one of several predefined categories. For example, classifying emails as spam or not spam.</a:t>
            </a:r>
            <a:endParaRPr sz="1200" dirty="0">
              <a:latin typeface="Trebuchet MS"/>
              <a:cs typeface="Trebuchet MS"/>
            </a:endParaRPr>
          </a:p>
        </p:txBody>
      </p:sp>
      <p:pic>
        <p:nvPicPr>
          <p:cNvPr id="9" name="object 9"/>
          <p:cNvPicPr/>
          <p:nvPr/>
        </p:nvPicPr>
        <p:blipFill>
          <a:blip r:embed="rId5" cstate="print"/>
          <a:stretch>
            <a:fillRect/>
          </a:stretch>
        </p:blipFill>
        <p:spPr>
          <a:xfrm>
            <a:off x="5806441" y="1035559"/>
            <a:ext cx="2026919" cy="1124711"/>
          </a:xfrm>
          <a:prstGeom prst="rect">
            <a:avLst/>
          </a:prstGeom>
        </p:spPr>
      </p:pic>
      <p:sp>
        <p:nvSpPr>
          <p:cNvPr id="10" name="object 10"/>
          <p:cNvSpPr txBox="1"/>
          <p:nvPr/>
        </p:nvSpPr>
        <p:spPr>
          <a:xfrm>
            <a:off x="5793422" y="2295830"/>
            <a:ext cx="2003552" cy="2456792"/>
          </a:xfrm>
          <a:prstGeom prst="rect">
            <a:avLst/>
          </a:prstGeom>
        </p:spPr>
        <p:txBody>
          <a:bodyPr vert="horz" wrap="square" lIns="0" tIns="8792" rIns="0" bIns="0" rtlCol="0">
            <a:spAutoFit/>
          </a:bodyPr>
          <a:lstStyle/>
          <a:p>
            <a:pPr marL="9769">
              <a:spcBef>
                <a:spcPts val="69"/>
              </a:spcBef>
            </a:pPr>
            <a:r>
              <a:rPr b="1" spc="23" dirty="0">
                <a:latin typeface="Trebuchet MS"/>
                <a:cs typeface="Trebuchet MS"/>
              </a:rPr>
              <a:t>P</a:t>
            </a:r>
            <a:r>
              <a:rPr b="1" spc="-135" dirty="0">
                <a:latin typeface="Trebuchet MS"/>
                <a:cs typeface="Trebuchet MS"/>
              </a:rPr>
              <a:t>e</a:t>
            </a:r>
            <a:r>
              <a:rPr b="1" spc="-46" dirty="0">
                <a:latin typeface="Trebuchet MS"/>
                <a:cs typeface="Trebuchet MS"/>
              </a:rPr>
              <a:t>r</a:t>
            </a:r>
            <a:r>
              <a:rPr b="1" spc="-81" dirty="0">
                <a:latin typeface="Trebuchet MS"/>
                <a:cs typeface="Trebuchet MS"/>
              </a:rPr>
              <a:t>f</a:t>
            </a:r>
            <a:r>
              <a:rPr b="1" spc="-62" dirty="0">
                <a:latin typeface="Trebuchet MS"/>
                <a:cs typeface="Trebuchet MS"/>
              </a:rPr>
              <a:t>o</a:t>
            </a:r>
            <a:r>
              <a:rPr b="1" spc="-46" dirty="0">
                <a:latin typeface="Trebuchet MS"/>
                <a:cs typeface="Trebuchet MS"/>
              </a:rPr>
              <a:t>r</a:t>
            </a:r>
            <a:r>
              <a:rPr b="1" spc="-123" dirty="0">
                <a:latin typeface="Trebuchet MS"/>
                <a:cs typeface="Trebuchet MS"/>
              </a:rPr>
              <a:t>m</a:t>
            </a:r>
            <a:r>
              <a:rPr b="1" spc="-77" dirty="0">
                <a:latin typeface="Trebuchet MS"/>
                <a:cs typeface="Trebuchet MS"/>
              </a:rPr>
              <a:t>a</a:t>
            </a:r>
            <a:r>
              <a:rPr b="1" spc="-100" dirty="0">
                <a:latin typeface="Trebuchet MS"/>
                <a:cs typeface="Trebuchet MS"/>
              </a:rPr>
              <a:t>n</a:t>
            </a:r>
            <a:r>
              <a:rPr b="1" spc="-104" dirty="0">
                <a:latin typeface="Trebuchet MS"/>
                <a:cs typeface="Trebuchet MS"/>
              </a:rPr>
              <a:t>c</a:t>
            </a:r>
            <a:r>
              <a:rPr b="1" spc="-119" dirty="0">
                <a:latin typeface="Trebuchet MS"/>
                <a:cs typeface="Trebuchet MS"/>
              </a:rPr>
              <a:t>e</a:t>
            </a:r>
            <a:r>
              <a:rPr b="1" spc="-112" dirty="0">
                <a:latin typeface="Trebuchet MS"/>
                <a:cs typeface="Trebuchet MS"/>
              </a:rPr>
              <a:t> </a:t>
            </a:r>
            <a:r>
              <a:rPr b="1" spc="204" dirty="0" smtClean="0">
                <a:latin typeface="Trebuchet MS"/>
                <a:cs typeface="Trebuchet MS"/>
              </a:rPr>
              <a:t>M</a:t>
            </a:r>
            <a:r>
              <a:rPr b="1" spc="-135" dirty="0" smtClean="0">
                <a:latin typeface="Trebuchet MS"/>
                <a:cs typeface="Trebuchet MS"/>
              </a:rPr>
              <a:t>e</a:t>
            </a:r>
            <a:r>
              <a:rPr b="1" spc="-119" dirty="0" smtClean="0">
                <a:latin typeface="Trebuchet MS"/>
                <a:cs typeface="Trebuchet MS"/>
              </a:rPr>
              <a:t>t</a:t>
            </a:r>
            <a:r>
              <a:rPr b="1" spc="-46" dirty="0" smtClean="0">
                <a:latin typeface="Trebuchet MS"/>
                <a:cs typeface="Trebuchet MS"/>
              </a:rPr>
              <a:t>r</a:t>
            </a:r>
            <a:r>
              <a:rPr b="1" spc="-42" dirty="0" smtClean="0">
                <a:latin typeface="Trebuchet MS"/>
                <a:cs typeface="Trebuchet MS"/>
              </a:rPr>
              <a:t>i</a:t>
            </a:r>
            <a:r>
              <a:rPr b="1" spc="-104" dirty="0" smtClean="0">
                <a:latin typeface="Trebuchet MS"/>
                <a:cs typeface="Trebuchet MS"/>
              </a:rPr>
              <a:t>c</a:t>
            </a:r>
            <a:r>
              <a:rPr b="1" spc="23" dirty="0" smtClean="0">
                <a:latin typeface="Trebuchet MS"/>
                <a:cs typeface="Trebuchet MS"/>
              </a:rPr>
              <a:t>s</a:t>
            </a:r>
            <a:endParaRPr lang="en-US" b="1" spc="23" dirty="0" smtClean="0">
              <a:latin typeface="Trebuchet MS"/>
              <a:cs typeface="Trebuchet MS"/>
            </a:endParaRPr>
          </a:p>
          <a:p>
            <a:pPr marL="9769">
              <a:spcBef>
                <a:spcPts val="69"/>
              </a:spcBef>
            </a:pPr>
            <a:r>
              <a:rPr lang="en-US" sz="1200" dirty="0" smtClean="0"/>
              <a:t>Performance evaluation metrics such as confusion matrix, precision, recall, accuracy, and F1 score can be used to evaluate the algorithm's performance. These metrics help us determine the algorithm's accuracy, efficiency, and reliability</a:t>
            </a:r>
            <a:endParaRPr sz="1200" dirty="0">
              <a:latin typeface="Trebuchet MS"/>
              <a:cs typeface="Trebuchet MS"/>
            </a:endParaRPr>
          </a:p>
          <a:p>
            <a:pPr marL="9769" marR="3908">
              <a:lnSpc>
                <a:spcPct val="136500"/>
              </a:lnSpc>
              <a:spcBef>
                <a:spcPts val="1061"/>
              </a:spcBef>
            </a:pPr>
            <a:r>
              <a:rPr sz="1100" spc="-54" dirty="0" smtClean="0">
                <a:solidFill>
                  <a:srgbClr val="262525"/>
                </a:solidFill>
                <a:latin typeface="Tahoma"/>
                <a:cs typeface="Tahoma"/>
              </a:rPr>
              <a:t>.</a:t>
            </a:r>
            <a:endParaRPr sz="1100" dirty="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4290" y="389923"/>
            <a:ext cx="2166112" cy="441639"/>
          </a:xfrm>
          <a:prstGeom prst="rect">
            <a:avLst/>
          </a:prstGeom>
        </p:spPr>
        <p:txBody>
          <a:bodyPr vert="horz" wrap="square" lIns="0" tIns="13188" rIns="0" bIns="0" rtlCol="0">
            <a:spAutoFit/>
          </a:bodyPr>
          <a:lstStyle/>
          <a:p>
            <a:pPr marL="9769">
              <a:spcBef>
                <a:spcPts val="104"/>
              </a:spcBef>
            </a:pPr>
            <a:r>
              <a:rPr spc="-115" dirty="0"/>
              <a:t>T</a:t>
            </a:r>
            <a:r>
              <a:rPr spc="-77" dirty="0"/>
              <a:t>y</a:t>
            </a:r>
            <a:r>
              <a:rPr spc="-92" dirty="0"/>
              <a:t>p</a:t>
            </a:r>
            <a:r>
              <a:rPr spc="-242" dirty="0"/>
              <a:t>e</a:t>
            </a:r>
            <a:r>
              <a:rPr spc="62" dirty="0"/>
              <a:t>s</a:t>
            </a:r>
            <a:r>
              <a:rPr spc="-273" dirty="0"/>
              <a:t> </a:t>
            </a:r>
            <a:r>
              <a:rPr spc="-108" dirty="0"/>
              <a:t>o</a:t>
            </a:r>
            <a:r>
              <a:rPr spc="-38" dirty="0"/>
              <a:t>f</a:t>
            </a:r>
            <a:r>
              <a:rPr spc="-292" dirty="0"/>
              <a:t> </a:t>
            </a:r>
            <a:r>
              <a:rPr dirty="0"/>
              <a:t>A</a:t>
            </a:r>
            <a:r>
              <a:rPr spc="138" dirty="0"/>
              <a:t>N</a:t>
            </a:r>
            <a:r>
              <a:rPr spc="200" dirty="0"/>
              <a:t>N</a:t>
            </a:r>
          </a:p>
        </p:txBody>
      </p:sp>
      <p:grpSp>
        <p:nvGrpSpPr>
          <p:cNvPr id="3" name="object 3"/>
          <p:cNvGrpSpPr/>
          <p:nvPr/>
        </p:nvGrpSpPr>
        <p:grpSpPr>
          <a:xfrm>
            <a:off x="4408042" y="1097280"/>
            <a:ext cx="838708" cy="3099816"/>
            <a:chOff x="5510052" y="1524000"/>
            <a:chExt cx="1048385" cy="4305300"/>
          </a:xfrm>
        </p:grpSpPr>
        <p:sp>
          <p:nvSpPr>
            <p:cNvPr id="4" name="object 4"/>
            <p:cNvSpPr/>
            <p:nvPr/>
          </p:nvSpPr>
          <p:spPr>
            <a:xfrm>
              <a:off x="5695950" y="1523999"/>
              <a:ext cx="862330" cy="4305300"/>
            </a:xfrm>
            <a:custGeom>
              <a:avLst/>
              <a:gdLst/>
              <a:ahLst/>
              <a:cxnLst/>
              <a:rect l="l" t="t" r="r" b="b"/>
              <a:pathLst>
                <a:path w="862329" h="4305300">
                  <a:moveTo>
                    <a:pt x="38100" y="0"/>
                  </a:moveTo>
                  <a:lnTo>
                    <a:pt x="0" y="0"/>
                  </a:lnTo>
                  <a:lnTo>
                    <a:pt x="0" y="4305300"/>
                  </a:lnTo>
                  <a:lnTo>
                    <a:pt x="38100" y="4305300"/>
                  </a:lnTo>
                  <a:lnTo>
                    <a:pt x="38100" y="0"/>
                  </a:lnTo>
                  <a:close/>
                </a:path>
                <a:path w="862329" h="4305300">
                  <a:moveTo>
                    <a:pt x="861860" y="324751"/>
                  </a:moveTo>
                  <a:lnTo>
                    <a:pt x="223685" y="324751"/>
                  </a:lnTo>
                  <a:lnTo>
                    <a:pt x="223685" y="362851"/>
                  </a:lnTo>
                  <a:lnTo>
                    <a:pt x="861860" y="362851"/>
                  </a:lnTo>
                  <a:lnTo>
                    <a:pt x="861860" y="324751"/>
                  </a:lnTo>
                  <a:close/>
                </a:path>
              </a:pathLst>
            </a:custGeom>
            <a:solidFill>
              <a:srgbClr val="E1A8EF"/>
            </a:solidFill>
          </p:spPr>
          <p:txBody>
            <a:bodyPr wrap="square" lIns="0" tIns="0" rIns="0" bIns="0" rtlCol="0"/>
            <a:lstStyle/>
            <a:p>
              <a:endParaRPr/>
            </a:p>
          </p:txBody>
        </p:sp>
        <p:sp>
          <p:nvSpPr>
            <p:cNvPr id="5" name="object 5"/>
            <p:cNvSpPr/>
            <p:nvPr/>
          </p:nvSpPr>
          <p:spPr>
            <a:xfrm>
              <a:off x="5514814" y="1662112"/>
              <a:ext cx="400050" cy="409575"/>
            </a:xfrm>
            <a:custGeom>
              <a:avLst/>
              <a:gdLst/>
              <a:ahLst/>
              <a:cxnLst/>
              <a:rect l="l" t="t" r="r" b="b"/>
              <a:pathLst>
                <a:path w="400050" h="409575">
                  <a:moveTo>
                    <a:pt x="351101" y="409575"/>
                  </a:moveTo>
                  <a:lnTo>
                    <a:pt x="48947" y="409575"/>
                  </a:lnTo>
                  <a:lnTo>
                    <a:pt x="45540" y="409239"/>
                  </a:lnTo>
                  <a:lnTo>
                    <a:pt x="10739" y="389152"/>
                  </a:lnTo>
                  <a:lnTo>
                    <a:pt x="0" y="360626"/>
                  </a:lnTo>
                  <a:lnTo>
                    <a:pt x="0" y="357187"/>
                  </a:lnTo>
                  <a:lnTo>
                    <a:pt x="0" y="48947"/>
                  </a:lnTo>
                  <a:lnTo>
                    <a:pt x="17776" y="12911"/>
                  </a:lnTo>
                  <a:lnTo>
                    <a:pt x="48947" y="0"/>
                  </a:lnTo>
                  <a:lnTo>
                    <a:pt x="351101" y="0"/>
                  </a:lnTo>
                  <a:lnTo>
                    <a:pt x="387137" y="17776"/>
                  </a:lnTo>
                  <a:lnTo>
                    <a:pt x="400050" y="48947"/>
                  </a:lnTo>
                  <a:lnTo>
                    <a:pt x="400050" y="360626"/>
                  </a:lnTo>
                  <a:lnTo>
                    <a:pt x="382273" y="396662"/>
                  </a:lnTo>
                  <a:lnTo>
                    <a:pt x="354509" y="409239"/>
                  </a:lnTo>
                  <a:lnTo>
                    <a:pt x="351101" y="409575"/>
                  </a:lnTo>
                  <a:close/>
                </a:path>
              </a:pathLst>
            </a:custGeom>
            <a:solidFill>
              <a:srgbClr val="F0D4F6"/>
            </a:solidFill>
          </p:spPr>
          <p:txBody>
            <a:bodyPr wrap="square" lIns="0" tIns="0" rIns="0" bIns="0" rtlCol="0"/>
            <a:lstStyle/>
            <a:p>
              <a:endParaRPr/>
            </a:p>
          </p:txBody>
        </p:sp>
        <p:sp>
          <p:nvSpPr>
            <p:cNvPr id="6" name="object 6"/>
            <p:cNvSpPr/>
            <p:nvPr/>
          </p:nvSpPr>
          <p:spPr>
            <a:xfrm>
              <a:off x="5514814" y="1662112"/>
              <a:ext cx="400050" cy="409575"/>
            </a:xfrm>
            <a:custGeom>
              <a:avLst/>
              <a:gdLst/>
              <a:ahLst/>
              <a:cxnLst/>
              <a:rect l="l" t="t" r="r" b="b"/>
              <a:pathLst>
                <a:path w="400050" h="409575">
                  <a:moveTo>
                    <a:pt x="0" y="357187"/>
                  </a:moveTo>
                  <a:lnTo>
                    <a:pt x="0" y="52387"/>
                  </a:lnTo>
                  <a:lnTo>
                    <a:pt x="0" y="48947"/>
                  </a:lnTo>
                  <a:lnTo>
                    <a:pt x="335" y="45540"/>
                  </a:lnTo>
                  <a:lnTo>
                    <a:pt x="8828" y="23282"/>
                  </a:lnTo>
                  <a:lnTo>
                    <a:pt x="10739" y="20422"/>
                  </a:lnTo>
                  <a:lnTo>
                    <a:pt x="23282" y="8828"/>
                  </a:lnTo>
                  <a:lnTo>
                    <a:pt x="26142" y="6917"/>
                  </a:lnTo>
                  <a:lnTo>
                    <a:pt x="48947" y="0"/>
                  </a:lnTo>
                  <a:lnTo>
                    <a:pt x="52387" y="0"/>
                  </a:lnTo>
                  <a:lnTo>
                    <a:pt x="347662" y="0"/>
                  </a:lnTo>
                  <a:lnTo>
                    <a:pt x="351101" y="0"/>
                  </a:lnTo>
                  <a:lnTo>
                    <a:pt x="354509" y="335"/>
                  </a:lnTo>
                  <a:lnTo>
                    <a:pt x="376767" y="8828"/>
                  </a:lnTo>
                  <a:lnTo>
                    <a:pt x="379627" y="10739"/>
                  </a:lnTo>
                  <a:lnTo>
                    <a:pt x="399043" y="42167"/>
                  </a:lnTo>
                  <a:lnTo>
                    <a:pt x="399714" y="45540"/>
                  </a:lnTo>
                  <a:lnTo>
                    <a:pt x="400050" y="48947"/>
                  </a:lnTo>
                  <a:lnTo>
                    <a:pt x="400050" y="52387"/>
                  </a:lnTo>
                  <a:lnTo>
                    <a:pt x="400050" y="357187"/>
                  </a:lnTo>
                  <a:lnTo>
                    <a:pt x="400050" y="360626"/>
                  </a:lnTo>
                  <a:lnTo>
                    <a:pt x="399714" y="364034"/>
                  </a:lnTo>
                  <a:lnTo>
                    <a:pt x="399043" y="367407"/>
                  </a:lnTo>
                  <a:lnTo>
                    <a:pt x="398372" y="370781"/>
                  </a:lnTo>
                  <a:lnTo>
                    <a:pt x="373907" y="402656"/>
                  </a:lnTo>
                  <a:lnTo>
                    <a:pt x="357882" y="408568"/>
                  </a:lnTo>
                  <a:lnTo>
                    <a:pt x="354509" y="409239"/>
                  </a:lnTo>
                  <a:lnTo>
                    <a:pt x="351101" y="409575"/>
                  </a:lnTo>
                  <a:lnTo>
                    <a:pt x="347662" y="409575"/>
                  </a:lnTo>
                  <a:lnTo>
                    <a:pt x="52387" y="409575"/>
                  </a:lnTo>
                  <a:lnTo>
                    <a:pt x="48947" y="409575"/>
                  </a:lnTo>
                  <a:lnTo>
                    <a:pt x="45540" y="409239"/>
                  </a:lnTo>
                  <a:lnTo>
                    <a:pt x="42167" y="408568"/>
                  </a:lnTo>
                  <a:lnTo>
                    <a:pt x="38793" y="407897"/>
                  </a:lnTo>
                  <a:lnTo>
                    <a:pt x="8828" y="386292"/>
                  </a:lnTo>
                  <a:lnTo>
                    <a:pt x="6917" y="383432"/>
                  </a:lnTo>
                  <a:lnTo>
                    <a:pt x="1006" y="367407"/>
                  </a:lnTo>
                  <a:lnTo>
                    <a:pt x="335" y="364034"/>
                  </a:lnTo>
                  <a:lnTo>
                    <a:pt x="0" y="360626"/>
                  </a:lnTo>
                  <a:lnTo>
                    <a:pt x="0" y="357187"/>
                  </a:lnTo>
                  <a:close/>
                </a:path>
              </a:pathLst>
            </a:custGeom>
            <a:ln w="9525">
              <a:solidFill>
                <a:srgbClr val="E1A8EF"/>
              </a:solidFill>
            </a:ln>
          </p:spPr>
          <p:txBody>
            <a:bodyPr wrap="square" lIns="0" tIns="0" rIns="0" bIns="0" rtlCol="0"/>
            <a:lstStyle/>
            <a:p>
              <a:endParaRPr/>
            </a:p>
          </p:txBody>
        </p:sp>
      </p:grpSp>
      <p:sp>
        <p:nvSpPr>
          <p:cNvPr id="7" name="object 7"/>
          <p:cNvSpPr txBox="1"/>
          <p:nvPr/>
        </p:nvSpPr>
        <p:spPr>
          <a:xfrm>
            <a:off x="4499204" y="1193201"/>
            <a:ext cx="144780" cy="271474"/>
          </a:xfrm>
          <a:prstGeom prst="rect">
            <a:avLst/>
          </a:prstGeom>
        </p:spPr>
        <p:txBody>
          <a:bodyPr vert="horz" wrap="square" lIns="0" tIns="9769" rIns="0" bIns="0" rtlCol="0">
            <a:spAutoFit/>
          </a:bodyPr>
          <a:lstStyle/>
          <a:p>
            <a:pPr marL="9769">
              <a:spcBef>
                <a:spcPts val="77"/>
              </a:spcBef>
            </a:pPr>
            <a:r>
              <a:rPr sz="1700" b="1" spc="-31" dirty="0">
                <a:solidFill>
                  <a:srgbClr val="262525"/>
                </a:solidFill>
                <a:latin typeface="Trebuchet MS"/>
                <a:cs typeface="Trebuchet MS"/>
              </a:rPr>
              <a:t>1</a:t>
            </a:r>
            <a:endParaRPr sz="1700" dirty="0">
              <a:latin typeface="Trebuchet MS"/>
              <a:cs typeface="Trebuchet MS"/>
            </a:endParaRPr>
          </a:p>
        </p:txBody>
      </p:sp>
      <p:sp>
        <p:nvSpPr>
          <p:cNvPr id="8" name="object 8"/>
          <p:cNvSpPr txBox="1"/>
          <p:nvPr/>
        </p:nvSpPr>
        <p:spPr>
          <a:xfrm>
            <a:off x="5363365" y="1198550"/>
            <a:ext cx="2461768" cy="1362582"/>
          </a:xfrm>
          <a:prstGeom prst="rect">
            <a:avLst/>
          </a:prstGeom>
        </p:spPr>
        <p:txBody>
          <a:bodyPr vert="horz" wrap="square" lIns="0" tIns="8792" rIns="0" bIns="0" rtlCol="0">
            <a:spAutoFit/>
          </a:bodyPr>
          <a:lstStyle/>
          <a:p>
            <a:pPr marL="9769">
              <a:spcBef>
                <a:spcPts val="69"/>
              </a:spcBef>
            </a:pPr>
            <a:r>
              <a:rPr b="1" spc="-77" dirty="0">
                <a:solidFill>
                  <a:srgbClr val="262525"/>
                </a:solidFill>
                <a:latin typeface="Trebuchet MS"/>
                <a:cs typeface="Trebuchet MS"/>
              </a:rPr>
              <a:t>Perceptron</a:t>
            </a:r>
            <a:endParaRPr dirty="0">
              <a:latin typeface="Trebuchet MS"/>
              <a:cs typeface="Trebuchet MS"/>
            </a:endParaRPr>
          </a:p>
          <a:p>
            <a:pPr marL="9769" marR="3908">
              <a:lnSpc>
                <a:spcPct val="135400"/>
              </a:lnSpc>
              <a:spcBef>
                <a:spcPts val="1073"/>
              </a:spcBef>
            </a:pPr>
            <a:r>
              <a:rPr lang="en-US" sz="1200" dirty="0" smtClean="0"/>
              <a:t>The simplest type of ANN, consisting of a single layer of artificial neurons that process input data and produce an output.</a:t>
            </a:r>
            <a:r>
              <a:rPr sz="1200" spc="-81" dirty="0" smtClean="0">
                <a:solidFill>
                  <a:srgbClr val="262525"/>
                </a:solidFill>
                <a:latin typeface="+mn-lt"/>
                <a:cs typeface="Verdana"/>
              </a:rPr>
              <a:t>.</a:t>
            </a:r>
            <a:endParaRPr sz="1200" dirty="0">
              <a:latin typeface="+mn-lt"/>
              <a:cs typeface="Verdana"/>
            </a:endParaRPr>
          </a:p>
        </p:txBody>
      </p:sp>
      <p:grpSp>
        <p:nvGrpSpPr>
          <p:cNvPr id="9" name="object 9"/>
          <p:cNvGrpSpPr/>
          <p:nvPr/>
        </p:nvGrpSpPr>
        <p:grpSpPr>
          <a:xfrm>
            <a:off x="3897758" y="1851660"/>
            <a:ext cx="838200" cy="294894"/>
            <a:chOff x="4872197" y="2571750"/>
            <a:chExt cx="1047750" cy="409575"/>
          </a:xfrm>
        </p:grpSpPr>
        <p:sp>
          <p:nvSpPr>
            <p:cNvPr id="10" name="object 10"/>
            <p:cNvSpPr/>
            <p:nvPr/>
          </p:nvSpPr>
          <p:spPr>
            <a:xfrm>
              <a:off x="4872197" y="2763143"/>
              <a:ext cx="638175" cy="28575"/>
            </a:xfrm>
            <a:custGeom>
              <a:avLst/>
              <a:gdLst/>
              <a:ahLst/>
              <a:cxnLst/>
              <a:rect l="l" t="t" r="r" b="b"/>
              <a:pathLst>
                <a:path w="638175" h="28575">
                  <a:moveTo>
                    <a:pt x="638175" y="28575"/>
                  </a:moveTo>
                  <a:lnTo>
                    <a:pt x="0" y="28575"/>
                  </a:lnTo>
                  <a:lnTo>
                    <a:pt x="0" y="0"/>
                  </a:lnTo>
                  <a:lnTo>
                    <a:pt x="638175" y="0"/>
                  </a:lnTo>
                  <a:lnTo>
                    <a:pt x="638175" y="28575"/>
                  </a:lnTo>
                  <a:close/>
                </a:path>
              </a:pathLst>
            </a:custGeom>
            <a:solidFill>
              <a:srgbClr val="E1A8EF"/>
            </a:solidFill>
          </p:spPr>
          <p:txBody>
            <a:bodyPr wrap="square" lIns="0" tIns="0" rIns="0" bIns="0" rtlCol="0"/>
            <a:lstStyle/>
            <a:p>
              <a:endParaRPr/>
            </a:p>
          </p:txBody>
        </p:sp>
        <p:sp>
          <p:nvSpPr>
            <p:cNvPr id="11" name="object 11"/>
            <p:cNvSpPr/>
            <p:nvPr/>
          </p:nvSpPr>
          <p:spPr>
            <a:xfrm>
              <a:off x="5515119" y="2576512"/>
              <a:ext cx="400050" cy="400050"/>
            </a:xfrm>
            <a:custGeom>
              <a:avLst/>
              <a:gdLst/>
              <a:ahLst/>
              <a:cxnLst/>
              <a:rect l="l" t="t" r="r" b="b"/>
              <a:pathLst>
                <a:path w="400050" h="400050">
                  <a:moveTo>
                    <a:pt x="351101" y="400050"/>
                  </a:moveTo>
                  <a:lnTo>
                    <a:pt x="48947" y="400050"/>
                  </a:lnTo>
                  <a:lnTo>
                    <a:pt x="45540" y="399714"/>
                  </a:lnTo>
                  <a:lnTo>
                    <a:pt x="10739" y="379627"/>
                  </a:lnTo>
                  <a:lnTo>
                    <a:pt x="0" y="351101"/>
                  </a:lnTo>
                  <a:lnTo>
                    <a:pt x="0" y="347662"/>
                  </a:lnTo>
                  <a:lnTo>
                    <a:pt x="0" y="48947"/>
                  </a:lnTo>
                  <a:lnTo>
                    <a:pt x="17776" y="12911"/>
                  </a:lnTo>
                  <a:lnTo>
                    <a:pt x="48947" y="0"/>
                  </a:lnTo>
                  <a:lnTo>
                    <a:pt x="351101" y="0"/>
                  </a:lnTo>
                  <a:lnTo>
                    <a:pt x="387137" y="17776"/>
                  </a:lnTo>
                  <a:lnTo>
                    <a:pt x="400050" y="48947"/>
                  </a:lnTo>
                  <a:lnTo>
                    <a:pt x="400050" y="351101"/>
                  </a:lnTo>
                  <a:lnTo>
                    <a:pt x="382273" y="387137"/>
                  </a:lnTo>
                  <a:lnTo>
                    <a:pt x="354509" y="399714"/>
                  </a:lnTo>
                  <a:lnTo>
                    <a:pt x="351101" y="400050"/>
                  </a:lnTo>
                  <a:close/>
                </a:path>
              </a:pathLst>
            </a:custGeom>
            <a:solidFill>
              <a:srgbClr val="F0D4F6"/>
            </a:solidFill>
          </p:spPr>
          <p:txBody>
            <a:bodyPr wrap="square" lIns="0" tIns="0" rIns="0" bIns="0" rtlCol="0"/>
            <a:lstStyle/>
            <a:p>
              <a:endParaRPr/>
            </a:p>
          </p:txBody>
        </p:sp>
        <p:sp>
          <p:nvSpPr>
            <p:cNvPr id="12" name="object 12"/>
            <p:cNvSpPr/>
            <p:nvPr/>
          </p:nvSpPr>
          <p:spPr>
            <a:xfrm>
              <a:off x="5515119" y="2576512"/>
              <a:ext cx="400050" cy="400050"/>
            </a:xfrm>
            <a:custGeom>
              <a:avLst/>
              <a:gdLst/>
              <a:ahLst/>
              <a:cxnLst/>
              <a:rect l="l" t="t" r="r" b="b"/>
              <a:pathLst>
                <a:path w="400050" h="400050">
                  <a:moveTo>
                    <a:pt x="0" y="347662"/>
                  </a:moveTo>
                  <a:lnTo>
                    <a:pt x="0" y="52387"/>
                  </a:lnTo>
                  <a:lnTo>
                    <a:pt x="0" y="48947"/>
                  </a:lnTo>
                  <a:lnTo>
                    <a:pt x="335" y="45540"/>
                  </a:lnTo>
                  <a:lnTo>
                    <a:pt x="8828" y="23282"/>
                  </a:lnTo>
                  <a:lnTo>
                    <a:pt x="10739" y="20422"/>
                  </a:lnTo>
                  <a:lnTo>
                    <a:pt x="23282" y="8828"/>
                  </a:lnTo>
                  <a:lnTo>
                    <a:pt x="26142" y="6917"/>
                  </a:lnTo>
                  <a:lnTo>
                    <a:pt x="48947" y="0"/>
                  </a:lnTo>
                  <a:lnTo>
                    <a:pt x="52387" y="0"/>
                  </a:lnTo>
                  <a:lnTo>
                    <a:pt x="347662" y="0"/>
                  </a:lnTo>
                  <a:lnTo>
                    <a:pt x="351101" y="0"/>
                  </a:lnTo>
                  <a:lnTo>
                    <a:pt x="354509" y="335"/>
                  </a:lnTo>
                  <a:lnTo>
                    <a:pt x="376767" y="8828"/>
                  </a:lnTo>
                  <a:lnTo>
                    <a:pt x="379627" y="10739"/>
                  </a:lnTo>
                  <a:lnTo>
                    <a:pt x="399043" y="42167"/>
                  </a:lnTo>
                  <a:lnTo>
                    <a:pt x="399714" y="45540"/>
                  </a:lnTo>
                  <a:lnTo>
                    <a:pt x="400050" y="48947"/>
                  </a:lnTo>
                  <a:lnTo>
                    <a:pt x="400050" y="52387"/>
                  </a:lnTo>
                  <a:lnTo>
                    <a:pt x="400050" y="347662"/>
                  </a:lnTo>
                  <a:lnTo>
                    <a:pt x="400050" y="351101"/>
                  </a:lnTo>
                  <a:lnTo>
                    <a:pt x="399714" y="354509"/>
                  </a:lnTo>
                  <a:lnTo>
                    <a:pt x="399043" y="357882"/>
                  </a:lnTo>
                  <a:lnTo>
                    <a:pt x="398372" y="361256"/>
                  </a:lnTo>
                  <a:lnTo>
                    <a:pt x="373907" y="393131"/>
                  </a:lnTo>
                  <a:lnTo>
                    <a:pt x="357882" y="399043"/>
                  </a:lnTo>
                  <a:lnTo>
                    <a:pt x="354509" y="399714"/>
                  </a:lnTo>
                  <a:lnTo>
                    <a:pt x="351101" y="400050"/>
                  </a:lnTo>
                  <a:lnTo>
                    <a:pt x="347662" y="400050"/>
                  </a:lnTo>
                  <a:lnTo>
                    <a:pt x="52387" y="400050"/>
                  </a:lnTo>
                  <a:lnTo>
                    <a:pt x="48947" y="400050"/>
                  </a:lnTo>
                  <a:lnTo>
                    <a:pt x="45540" y="399714"/>
                  </a:lnTo>
                  <a:lnTo>
                    <a:pt x="42167" y="399043"/>
                  </a:lnTo>
                  <a:lnTo>
                    <a:pt x="38793" y="398372"/>
                  </a:lnTo>
                  <a:lnTo>
                    <a:pt x="8828" y="376767"/>
                  </a:lnTo>
                  <a:lnTo>
                    <a:pt x="6917" y="373907"/>
                  </a:lnTo>
                  <a:lnTo>
                    <a:pt x="1006" y="357882"/>
                  </a:lnTo>
                  <a:lnTo>
                    <a:pt x="335" y="354509"/>
                  </a:lnTo>
                  <a:lnTo>
                    <a:pt x="0" y="351101"/>
                  </a:lnTo>
                  <a:lnTo>
                    <a:pt x="0" y="347662"/>
                  </a:lnTo>
                  <a:close/>
                </a:path>
              </a:pathLst>
            </a:custGeom>
            <a:ln w="9525">
              <a:solidFill>
                <a:srgbClr val="E1A8EF"/>
              </a:solidFill>
            </a:ln>
          </p:spPr>
          <p:txBody>
            <a:bodyPr wrap="square" lIns="0" tIns="0" rIns="0" bIns="0" rtlCol="0"/>
            <a:lstStyle/>
            <a:p>
              <a:endParaRPr/>
            </a:p>
          </p:txBody>
        </p:sp>
      </p:grpSp>
      <p:sp>
        <p:nvSpPr>
          <p:cNvPr id="13" name="object 13"/>
          <p:cNvSpPr txBox="1"/>
          <p:nvPr/>
        </p:nvSpPr>
        <p:spPr>
          <a:xfrm>
            <a:off x="4499210" y="1851569"/>
            <a:ext cx="144780" cy="271474"/>
          </a:xfrm>
          <a:prstGeom prst="rect">
            <a:avLst/>
          </a:prstGeom>
        </p:spPr>
        <p:txBody>
          <a:bodyPr vert="horz" wrap="square" lIns="0" tIns="9769" rIns="0" bIns="0" rtlCol="0">
            <a:spAutoFit/>
          </a:bodyPr>
          <a:lstStyle/>
          <a:p>
            <a:pPr marL="9769">
              <a:spcBef>
                <a:spcPts val="77"/>
              </a:spcBef>
            </a:pPr>
            <a:r>
              <a:rPr sz="1700" b="1" spc="-31" dirty="0">
                <a:solidFill>
                  <a:srgbClr val="262525"/>
                </a:solidFill>
                <a:latin typeface="Trebuchet MS"/>
                <a:cs typeface="Trebuchet MS"/>
              </a:rPr>
              <a:t>2</a:t>
            </a:r>
            <a:endParaRPr sz="1700" dirty="0">
              <a:latin typeface="Trebuchet MS"/>
              <a:cs typeface="Trebuchet MS"/>
            </a:endParaRPr>
          </a:p>
        </p:txBody>
      </p:sp>
      <p:sp>
        <p:nvSpPr>
          <p:cNvPr id="14" name="object 14"/>
          <p:cNvSpPr txBox="1"/>
          <p:nvPr/>
        </p:nvSpPr>
        <p:spPr>
          <a:xfrm>
            <a:off x="1304290" y="1850060"/>
            <a:ext cx="2485136" cy="1514418"/>
          </a:xfrm>
          <a:prstGeom prst="rect">
            <a:avLst/>
          </a:prstGeom>
        </p:spPr>
        <p:txBody>
          <a:bodyPr vert="horz" wrap="square" lIns="0" tIns="8792" rIns="0" bIns="0" rtlCol="0">
            <a:spAutoFit/>
          </a:bodyPr>
          <a:lstStyle/>
          <a:p>
            <a:pPr marL="9769">
              <a:spcBef>
                <a:spcPts val="69"/>
              </a:spcBef>
            </a:pPr>
            <a:r>
              <a:rPr b="1" spc="-12" dirty="0">
                <a:solidFill>
                  <a:srgbClr val="262525"/>
                </a:solidFill>
                <a:latin typeface="Trebuchet MS"/>
                <a:cs typeface="Trebuchet MS"/>
              </a:rPr>
              <a:t>C</a:t>
            </a:r>
            <a:r>
              <a:rPr b="1" spc="-62" dirty="0">
                <a:solidFill>
                  <a:srgbClr val="262525"/>
                </a:solidFill>
                <a:latin typeface="Trebuchet MS"/>
                <a:cs typeface="Trebuchet MS"/>
              </a:rPr>
              <a:t>o</a:t>
            </a:r>
            <a:r>
              <a:rPr b="1" spc="-100" dirty="0">
                <a:solidFill>
                  <a:srgbClr val="262525"/>
                </a:solidFill>
                <a:latin typeface="Trebuchet MS"/>
                <a:cs typeface="Trebuchet MS"/>
              </a:rPr>
              <a:t>n</a:t>
            </a:r>
            <a:r>
              <a:rPr b="1" spc="-69" dirty="0">
                <a:solidFill>
                  <a:srgbClr val="262525"/>
                </a:solidFill>
                <a:latin typeface="Trebuchet MS"/>
                <a:cs typeface="Trebuchet MS"/>
              </a:rPr>
              <a:t>v</a:t>
            </a:r>
            <a:r>
              <a:rPr b="1" spc="-62" dirty="0">
                <a:solidFill>
                  <a:srgbClr val="262525"/>
                </a:solidFill>
                <a:latin typeface="Trebuchet MS"/>
                <a:cs typeface="Trebuchet MS"/>
              </a:rPr>
              <a:t>o</a:t>
            </a:r>
            <a:r>
              <a:rPr b="1" spc="-38" dirty="0">
                <a:solidFill>
                  <a:srgbClr val="262525"/>
                </a:solidFill>
                <a:latin typeface="Trebuchet MS"/>
                <a:cs typeface="Trebuchet MS"/>
              </a:rPr>
              <a:t>l</a:t>
            </a:r>
            <a:r>
              <a:rPr b="1" spc="-100" dirty="0">
                <a:solidFill>
                  <a:srgbClr val="262525"/>
                </a:solidFill>
                <a:latin typeface="Trebuchet MS"/>
                <a:cs typeface="Trebuchet MS"/>
              </a:rPr>
              <a:t>u</a:t>
            </a:r>
            <a:r>
              <a:rPr b="1" spc="-119" dirty="0">
                <a:solidFill>
                  <a:srgbClr val="262525"/>
                </a:solidFill>
                <a:latin typeface="Trebuchet MS"/>
                <a:cs typeface="Trebuchet MS"/>
              </a:rPr>
              <a:t>t</a:t>
            </a:r>
            <a:r>
              <a:rPr b="1" spc="-42" dirty="0">
                <a:solidFill>
                  <a:srgbClr val="262525"/>
                </a:solidFill>
                <a:latin typeface="Trebuchet MS"/>
                <a:cs typeface="Trebuchet MS"/>
              </a:rPr>
              <a:t>i</a:t>
            </a:r>
            <a:r>
              <a:rPr b="1" spc="-62" dirty="0">
                <a:solidFill>
                  <a:srgbClr val="262525"/>
                </a:solidFill>
                <a:latin typeface="Trebuchet MS"/>
                <a:cs typeface="Trebuchet MS"/>
              </a:rPr>
              <a:t>o</a:t>
            </a:r>
            <a:r>
              <a:rPr b="1" spc="-100" dirty="0">
                <a:solidFill>
                  <a:srgbClr val="262525"/>
                </a:solidFill>
                <a:latin typeface="Trebuchet MS"/>
                <a:cs typeface="Trebuchet MS"/>
              </a:rPr>
              <a:t>n</a:t>
            </a:r>
            <a:r>
              <a:rPr b="1" spc="-77" dirty="0">
                <a:solidFill>
                  <a:srgbClr val="262525"/>
                </a:solidFill>
                <a:latin typeface="Trebuchet MS"/>
                <a:cs typeface="Trebuchet MS"/>
              </a:rPr>
              <a:t>a</a:t>
            </a:r>
            <a:r>
              <a:rPr b="1" spc="-38" dirty="0">
                <a:solidFill>
                  <a:srgbClr val="262525"/>
                </a:solidFill>
                <a:latin typeface="Trebuchet MS"/>
                <a:cs typeface="Trebuchet MS"/>
              </a:rPr>
              <a:t>l</a:t>
            </a:r>
            <a:r>
              <a:rPr b="1" spc="-96" dirty="0">
                <a:solidFill>
                  <a:srgbClr val="262525"/>
                </a:solidFill>
                <a:latin typeface="Trebuchet MS"/>
                <a:cs typeface="Trebuchet MS"/>
              </a:rPr>
              <a:t> </a:t>
            </a:r>
            <a:r>
              <a:rPr b="1" spc="81" dirty="0">
                <a:solidFill>
                  <a:srgbClr val="262525"/>
                </a:solidFill>
                <a:latin typeface="Trebuchet MS"/>
                <a:cs typeface="Trebuchet MS"/>
              </a:rPr>
              <a:t>N</a:t>
            </a:r>
            <a:r>
              <a:rPr b="1" spc="-135" dirty="0">
                <a:solidFill>
                  <a:srgbClr val="262525"/>
                </a:solidFill>
                <a:latin typeface="Trebuchet MS"/>
                <a:cs typeface="Trebuchet MS"/>
              </a:rPr>
              <a:t>e</a:t>
            </a:r>
            <a:r>
              <a:rPr b="1" spc="-100" dirty="0">
                <a:solidFill>
                  <a:srgbClr val="262525"/>
                </a:solidFill>
                <a:latin typeface="Trebuchet MS"/>
                <a:cs typeface="Trebuchet MS"/>
              </a:rPr>
              <a:t>u</a:t>
            </a:r>
            <a:r>
              <a:rPr b="1" spc="-46" dirty="0">
                <a:solidFill>
                  <a:srgbClr val="262525"/>
                </a:solidFill>
                <a:latin typeface="Trebuchet MS"/>
                <a:cs typeface="Trebuchet MS"/>
              </a:rPr>
              <a:t>r</a:t>
            </a:r>
            <a:r>
              <a:rPr b="1" spc="-77" dirty="0">
                <a:solidFill>
                  <a:srgbClr val="262525"/>
                </a:solidFill>
                <a:latin typeface="Trebuchet MS"/>
                <a:cs typeface="Trebuchet MS"/>
              </a:rPr>
              <a:t>a</a:t>
            </a:r>
            <a:r>
              <a:rPr b="1" spc="-38" dirty="0">
                <a:solidFill>
                  <a:srgbClr val="262525"/>
                </a:solidFill>
                <a:latin typeface="Trebuchet MS"/>
                <a:cs typeface="Trebuchet MS"/>
              </a:rPr>
              <a:t>l</a:t>
            </a:r>
            <a:r>
              <a:rPr b="1" spc="-96" dirty="0">
                <a:solidFill>
                  <a:srgbClr val="262525"/>
                </a:solidFill>
                <a:latin typeface="Trebuchet MS"/>
                <a:cs typeface="Trebuchet MS"/>
              </a:rPr>
              <a:t> </a:t>
            </a:r>
            <a:r>
              <a:rPr b="1" spc="81" dirty="0">
                <a:solidFill>
                  <a:srgbClr val="262525"/>
                </a:solidFill>
                <a:latin typeface="Trebuchet MS"/>
                <a:cs typeface="Trebuchet MS"/>
              </a:rPr>
              <a:t>N</a:t>
            </a:r>
            <a:r>
              <a:rPr b="1" spc="-135" dirty="0">
                <a:solidFill>
                  <a:srgbClr val="262525"/>
                </a:solidFill>
                <a:latin typeface="Trebuchet MS"/>
                <a:cs typeface="Trebuchet MS"/>
              </a:rPr>
              <a:t>e</a:t>
            </a:r>
            <a:r>
              <a:rPr b="1" spc="-119" dirty="0">
                <a:solidFill>
                  <a:srgbClr val="262525"/>
                </a:solidFill>
                <a:latin typeface="Trebuchet MS"/>
                <a:cs typeface="Trebuchet MS"/>
              </a:rPr>
              <a:t>t</a:t>
            </a:r>
            <a:r>
              <a:rPr b="1" spc="-135" dirty="0">
                <a:solidFill>
                  <a:srgbClr val="262525"/>
                </a:solidFill>
                <a:latin typeface="Trebuchet MS"/>
                <a:cs typeface="Trebuchet MS"/>
              </a:rPr>
              <a:t>w</a:t>
            </a:r>
            <a:r>
              <a:rPr b="1" spc="-62" dirty="0">
                <a:solidFill>
                  <a:srgbClr val="262525"/>
                </a:solidFill>
                <a:latin typeface="Trebuchet MS"/>
                <a:cs typeface="Trebuchet MS"/>
              </a:rPr>
              <a:t>o</a:t>
            </a:r>
            <a:r>
              <a:rPr b="1" spc="-46" dirty="0">
                <a:solidFill>
                  <a:srgbClr val="262525"/>
                </a:solidFill>
                <a:latin typeface="Trebuchet MS"/>
                <a:cs typeface="Trebuchet MS"/>
              </a:rPr>
              <a:t>r</a:t>
            </a:r>
            <a:r>
              <a:rPr b="1" spc="-96" dirty="0">
                <a:solidFill>
                  <a:srgbClr val="262525"/>
                </a:solidFill>
                <a:latin typeface="Trebuchet MS"/>
                <a:cs typeface="Trebuchet MS"/>
              </a:rPr>
              <a:t>k</a:t>
            </a:r>
            <a:r>
              <a:rPr b="1" spc="23" dirty="0">
                <a:solidFill>
                  <a:srgbClr val="262525"/>
                </a:solidFill>
                <a:latin typeface="Trebuchet MS"/>
                <a:cs typeface="Trebuchet MS"/>
              </a:rPr>
              <a:t>s</a:t>
            </a:r>
            <a:endParaRPr dirty="0">
              <a:latin typeface="Trebuchet MS"/>
              <a:cs typeface="Trebuchet MS"/>
            </a:endParaRPr>
          </a:p>
          <a:p>
            <a:pPr marR="6838" algn="r">
              <a:spcBef>
                <a:spcPts val="69"/>
              </a:spcBef>
            </a:pPr>
            <a:r>
              <a:rPr b="1" spc="8" dirty="0">
                <a:solidFill>
                  <a:srgbClr val="262525"/>
                </a:solidFill>
                <a:latin typeface="Trebuchet MS"/>
                <a:cs typeface="Trebuchet MS"/>
              </a:rPr>
              <a:t>(CNNs)</a:t>
            </a:r>
            <a:endParaRPr dirty="0">
              <a:latin typeface="Trebuchet MS"/>
              <a:cs typeface="Trebuchet MS"/>
            </a:endParaRPr>
          </a:p>
          <a:p>
            <a:pPr marL="9769" marR="29307" indent="306742" algn="r">
              <a:lnSpc>
                <a:spcPct val="136200"/>
              </a:lnSpc>
              <a:spcBef>
                <a:spcPts val="1065"/>
              </a:spcBef>
            </a:pPr>
            <a:r>
              <a:rPr lang="en-US" sz="1100" dirty="0" smtClean="0"/>
              <a:t>Commonly used in image and video recognition, CNNs consist of multiple layers, including convolutional layers and pooling layers.</a:t>
            </a:r>
            <a:r>
              <a:rPr sz="1100" spc="-119" dirty="0" smtClean="0">
                <a:solidFill>
                  <a:srgbClr val="262525"/>
                </a:solidFill>
                <a:latin typeface="Verdana"/>
                <a:cs typeface="Verdana"/>
              </a:rPr>
              <a:t>.</a:t>
            </a:r>
            <a:endParaRPr sz="1100" dirty="0">
              <a:latin typeface="Verdana"/>
              <a:cs typeface="Verdana"/>
            </a:endParaRPr>
          </a:p>
        </p:txBody>
      </p:sp>
      <p:grpSp>
        <p:nvGrpSpPr>
          <p:cNvPr id="15" name="object 15"/>
          <p:cNvGrpSpPr/>
          <p:nvPr/>
        </p:nvGrpSpPr>
        <p:grpSpPr>
          <a:xfrm>
            <a:off x="4408042" y="2763774"/>
            <a:ext cx="838708" cy="294894"/>
            <a:chOff x="5510052" y="3838575"/>
            <a:chExt cx="1048385" cy="409575"/>
          </a:xfrm>
        </p:grpSpPr>
        <p:sp>
          <p:nvSpPr>
            <p:cNvPr id="16" name="object 16"/>
            <p:cNvSpPr/>
            <p:nvPr/>
          </p:nvSpPr>
          <p:spPr>
            <a:xfrm>
              <a:off x="5919642" y="4029974"/>
              <a:ext cx="638175" cy="38100"/>
            </a:xfrm>
            <a:custGeom>
              <a:avLst/>
              <a:gdLst/>
              <a:ahLst/>
              <a:cxnLst/>
              <a:rect l="l" t="t" r="r" b="b"/>
              <a:pathLst>
                <a:path w="638175" h="38100">
                  <a:moveTo>
                    <a:pt x="638175" y="38100"/>
                  </a:moveTo>
                  <a:lnTo>
                    <a:pt x="0" y="38100"/>
                  </a:lnTo>
                  <a:lnTo>
                    <a:pt x="0" y="0"/>
                  </a:lnTo>
                  <a:lnTo>
                    <a:pt x="638175" y="0"/>
                  </a:lnTo>
                  <a:lnTo>
                    <a:pt x="638175" y="38100"/>
                  </a:lnTo>
                  <a:close/>
                </a:path>
              </a:pathLst>
            </a:custGeom>
            <a:solidFill>
              <a:srgbClr val="E1A8EF"/>
            </a:solidFill>
          </p:spPr>
          <p:txBody>
            <a:bodyPr wrap="square" lIns="0" tIns="0" rIns="0" bIns="0" rtlCol="0"/>
            <a:lstStyle/>
            <a:p>
              <a:endParaRPr/>
            </a:p>
          </p:txBody>
        </p:sp>
        <p:sp>
          <p:nvSpPr>
            <p:cNvPr id="17" name="object 17"/>
            <p:cNvSpPr/>
            <p:nvPr/>
          </p:nvSpPr>
          <p:spPr>
            <a:xfrm>
              <a:off x="5514814" y="3843337"/>
              <a:ext cx="400050" cy="400050"/>
            </a:xfrm>
            <a:custGeom>
              <a:avLst/>
              <a:gdLst/>
              <a:ahLst/>
              <a:cxnLst/>
              <a:rect l="l" t="t" r="r" b="b"/>
              <a:pathLst>
                <a:path w="400050" h="400050">
                  <a:moveTo>
                    <a:pt x="351101" y="400050"/>
                  </a:moveTo>
                  <a:lnTo>
                    <a:pt x="48947" y="400050"/>
                  </a:lnTo>
                  <a:lnTo>
                    <a:pt x="45540" y="399714"/>
                  </a:lnTo>
                  <a:lnTo>
                    <a:pt x="10739" y="379627"/>
                  </a:lnTo>
                  <a:lnTo>
                    <a:pt x="0" y="351101"/>
                  </a:lnTo>
                  <a:lnTo>
                    <a:pt x="0" y="347662"/>
                  </a:lnTo>
                  <a:lnTo>
                    <a:pt x="0" y="48947"/>
                  </a:lnTo>
                  <a:lnTo>
                    <a:pt x="17776" y="12911"/>
                  </a:lnTo>
                  <a:lnTo>
                    <a:pt x="48947" y="0"/>
                  </a:lnTo>
                  <a:lnTo>
                    <a:pt x="351101" y="0"/>
                  </a:lnTo>
                  <a:lnTo>
                    <a:pt x="387137" y="17776"/>
                  </a:lnTo>
                  <a:lnTo>
                    <a:pt x="400050" y="48947"/>
                  </a:lnTo>
                  <a:lnTo>
                    <a:pt x="400050" y="351101"/>
                  </a:lnTo>
                  <a:lnTo>
                    <a:pt x="382273" y="387137"/>
                  </a:lnTo>
                  <a:lnTo>
                    <a:pt x="354509" y="399714"/>
                  </a:lnTo>
                  <a:lnTo>
                    <a:pt x="351101" y="400050"/>
                  </a:lnTo>
                  <a:close/>
                </a:path>
              </a:pathLst>
            </a:custGeom>
            <a:solidFill>
              <a:srgbClr val="F0D4F6"/>
            </a:solidFill>
          </p:spPr>
          <p:txBody>
            <a:bodyPr wrap="square" lIns="0" tIns="0" rIns="0" bIns="0" rtlCol="0"/>
            <a:lstStyle/>
            <a:p>
              <a:endParaRPr/>
            </a:p>
          </p:txBody>
        </p:sp>
        <p:sp>
          <p:nvSpPr>
            <p:cNvPr id="18" name="object 18"/>
            <p:cNvSpPr/>
            <p:nvPr/>
          </p:nvSpPr>
          <p:spPr>
            <a:xfrm>
              <a:off x="5514814" y="3843337"/>
              <a:ext cx="400050" cy="400050"/>
            </a:xfrm>
            <a:custGeom>
              <a:avLst/>
              <a:gdLst/>
              <a:ahLst/>
              <a:cxnLst/>
              <a:rect l="l" t="t" r="r" b="b"/>
              <a:pathLst>
                <a:path w="400050" h="400050">
                  <a:moveTo>
                    <a:pt x="0" y="347662"/>
                  </a:moveTo>
                  <a:lnTo>
                    <a:pt x="0" y="52387"/>
                  </a:lnTo>
                  <a:lnTo>
                    <a:pt x="0" y="48947"/>
                  </a:lnTo>
                  <a:lnTo>
                    <a:pt x="335" y="45540"/>
                  </a:lnTo>
                  <a:lnTo>
                    <a:pt x="8828" y="23282"/>
                  </a:lnTo>
                  <a:lnTo>
                    <a:pt x="10739" y="20422"/>
                  </a:lnTo>
                  <a:lnTo>
                    <a:pt x="23282" y="8828"/>
                  </a:lnTo>
                  <a:lnTo>
                    <a:pt x="26142" y="6917"/>
                  </a:lnTo>
                  <a:lnTo>
                    <a:pt x="48947" y="0"/>
                  </a:lnTo>
                  <a:lnTo>
                    <a:pt x="52387" y="0"/>
                  </a:lnTo>
                  <a:lnTo>
                    <a:pt x="347662" y="0"/>
                  </a:lnTo>
                  <a:lnTo>
                    <a:pt x="351101" y="0"/>
                  </a:lnTo>
                  <a:lnTo>
                    <a:pt x="354509" y="335"/>
                  </a:lnTo>
                  <a:lnTo>
                    <a:pt x="376767" y="8828"/>
                  </a:lnTo>
                  <a:lnTo>
                    <a:pt x="379627" y="10739"/>
                  </a:lnTo>
                  <a:lnTo>
                    <a:pt x="399043" y="42167"/>
                  </a:lnTo>
                  <a:lnTo>
                    <a:pt x="399714" y="45540"/>
                  </a:lnTo>
                  <a:lnTo>
                    <a:pt x="400050" y="48947"/>
                  </a:lnTo>
                  <a:lnTo>
                    <a:pt x="400050" y="52387"/>
                  </a:lnTo>
                  <a:lnTo>
                    <a:pt x="400050" y="347662"/>
                  </a:lnTo>
                  <a:lnTo>
                    <a:pt x="400050" y="351101"/>
                  </a:lnTo>
                  <a:lnTo>
                    <a:pt x="399714" y="354509"/>
                  </a:lnTo>
                  <a:lnTo>
                    <a:pt x="399043" y="357882"/>
                  </a:lnTo>
                  <a:lnTo>
                    <a:pt x="398372" y="361256"/>
                  </a:lnTo>
                  <a:lnTo>
                    <a:pt x="373907" y="393131"/>
                  </a:lnTo>
                  <a:lnTo>
                    <a:pt x="357882" y="399043"/>
                  </a:lnTo>
                  <a:lnTo>
                    <a:pt x="354509" y="399714"/>
                  </a:lnTo>
                  <a:lnTo>
                    <a:pt x="351101" y="400050"/>
                  </a:lnTo>
                  <a:lnTo>
                    <a:pt x="347662" y="400050"/>
                  </a:lnTo>
                  <a:lnTo>
                    <a:pt x="52387" y="400050"/>
                  </a:lnTo>
                  <a:lnTo>
                    <a:pt x="48947" y="400050"/>
                  </a:lnTo>
                  <a:lnTo>
                    <a:pt x="45540" y="399714"/>
                  </a:lnTo>
                  <a:lnTo>
                    <a:pt x="42167" y="399043"/>
                  </a:lnTo>
                  <a:lnTo>
                    <a:pt x="38793" y="398372"/>
                  </a:lnTo>
                  <a:lnTo>
                    <a:pt x="8828" y="376767"/>
                  </a:lnTo>
                  <a:lnTo>
                    <a:pt x="6917" y="373907"/>
                  </a:lnTo>
                  <a:lnTo>
                    <a:pt x="1006" y="357882"/>
                  </a:lnTo>
                  <a:lnTo>
                    <a:pt x="335" y="354509"/>
                  </a:lnTo>
                  <a:lnTo>
                    <a:pt x="0" y="351101"/>
                  </a:lnTo>
                  <a:lnTo>
                    <a:pt x="0" y="347662"/>
                  </a:lnTo>
                  <a:close/>
                </a:path>
              </a:pathLst>
            </a:custGeom>
            <a:ln w="9525">
              <a:solidFill>
                <a:srgbClr val="E1A8EF"/>
              </a:solidFill>
            </a:ln>
          </p:spPr>
          <p:txBody>
            <a:bodyPr wrap="square" lIns="0" tIns="0" rIns="0" bIns="0" rtlCol="0"/>
            <a:lstStyle/>
            <a:p>
              <a:endParaRPr/>
            </a:p>
          </p:txBody>
        </p:sp>
      </p:grpSp>
      <p:sp>
        <p:nvSpPr>
          <p:cNvPr id="19" name="object 19"/>
          <p:cNvSpPr txBox="1"/>
          <p:nvPr/>
        </p:nvSpPr>
        <p:spPr>
          <a:xfrm>
            <a:off x="4499204" y="2763683"/>
            <a:ext cx="144780" cy="271474"/>
          </a:xfrm>
          <a:prstGeom prst="rect">
            <a:avLst/>
          </a:prstGeom>
        </p:spPr>
        <p:txBody>
          <a:bodyPr vert="horz" wrap="square" lIns="0" tIns="9769" rIns="0" bIns="0" rtlCol="0">
            <a:spAutoFit/>
          </a:bodyPr>
          <a:lstStyle/>
          <a:p>
            <a:pPr marL="9769">
              <a:spcBef>
                <a:spcPts val="77"/>
              </a:spcBef>
            </a:pPr>
            <a:r>
              <a:rPr sz="1700" b="1" spc="-31" dirty="0">
                <a:solidFill>
                  <a:srgbClr val="262525"/>
                </a:solidFill>
                <a:latin typeface="Trebuchet MS"/>
                <a:cs typeface="Trebuchet MS"/>
              </a:rPr>
              <a:t>3</a:t>
            </a:r>
            <a:endParaRPr sz="1700" dirty="0">
              <a:latin typeface="Trebuchet MS"/>
              <a:cs typeface="Trebuchet MS"/>
            </a:endParaRPr>
          </a:p>
        </p:txBody>
      </p:sp>
      <p:sp>
        <p:nvSpPr>
          <p:cNvPr id="20" name="object 20"/>
          <p:cNvSpPr txBox="1"/>
          <p:nvPr/>
        </p:nvSpPr>
        <p:spPr>
          <a:xfrm>
            <a:off x="5363365" y="2762174"/>
            <a:ext cx="2446528" cy="1203535"/>
          </a:xfrm>
          <a:prstGeom prst="rect">
            <a:avLst/>
          </a:prstGeom>
        </p:spPr>
        <p:txBody>
          <a:bodyPr vert="horz" wrap="square" lIns="0" tIns="0" rIns="0" bIns="0" rtlCol="0">
            <a:spAutoFit/>
          </a:bodyPr>
          <a:lstStyle/>
          <a:p>
            <a:pPr marL="9769" marR="296973">
              <a:lnSpc>
                <a:spcPct val="104200"/>
              </a:lnSpc>
            </a:pPr>
            <a:r>
              <a:rPr b="1" spc="46" dirty="0">
                <a:solidFill>
                  <a:srgbClr val="262525"/>
                </a:solidFill>
                <a:latin typeface="Trebuchet MS"/>
                <a:cs typeface="Trebuchet MS"/>
              </a:rPr>
              <a:t>R</a:t>
            </a:r>
            <a:r>
              <a:rPr b="1" spc="-135" dirty="0">
                <a:solidFill>
                  <a:srgbClr val="262525"/>
                </a:solidFill>
                <a:latin typeface="Trebuchet MS"/>
                <a:cs typeface="Trebuchet MS"/>
              </a:rPr>
              <a:t>e</a:t>
            </a:r>
            <a:r>
              <a:rPr b="1" spc="-104" dirty="0">
                <a:solidFill>
                  <a:srgbClr val="262525"/>
                </a:solidFill>
                <a:latin typeface="Trebuchet MS"/>
                <a:cs typeface="Trebuchet MS"/>
              </a:rPr>
              <a:t>c</a:t>
            </a:r>
            <a:r>
              <a:rPr b="1" spc="-100" dirty="0">
                <a:solidFill>
                  <a:srgbClr val="262525"/>
                </a:solidFill>
                <a:latin typeface="Trebuchet MS"/>
                <a:cs typeface="Trebuchet MS"/>
              </a:rPr>
              <a:t>u</a:t>
            </a:r>
            <a:r>
              <a:rPr b="1" spc="-46" dirty="0">
                <a:solidFill>
                  <a:srgbClr val="262525"/>
                </a:solidFill>
                <a:latin typeface="Trebuchet MS"/>
                <a:cs typeface="Trebuchet MS"/>
              </a:rPr>
              <a:t>rr</a:t>
            </a:r>
            <a:r>
              <a:rPr b="1" spc="-135" dirty="0">
                <a:solidFill>
                  <a:srgbClr val="262525"/>
                </a:solidFill>
                <a:latin typeface="Trebuchet MS"/>
                <a:cs typeface="Trebuchet MS"/>
              </a:rPr>
              <a:t>e</a:t>
            </a:r>
            <a:r>
              <a:rPr b="1" spc="-100" dirty="0">
                <a:solidFill>
                  <a:srgbClr val="262525"/>
                </a:solidFill>
                <a:latin typeface="Trebuchet MS"/>
                <a:cs typeface="Trebuchet MS"/>
              </a:rPr>
              <a:t>n</a:t>
            </a:r>
            <a:r>
              <a:rPr b="1" spc="-73" dirty="0">
                <a:solidFill>
                  <a:srgbClr val="262525"/>
                </a:solidFill>
                <a:latin typeface="Trebuchet MS"/>
                <a:cs typeface="Trebuchet MS"/>
              </a:rPr>
              <a:t>t</a:t>
            </a:r>
            <a:r>
              <a:rPr b="1" spc="-146" dirty="0">
                <a:solidFill>
                  <a:srgbClr val="262525"/>
                </a:solidFill>
                <a:latin typeface="Trebuchet MS"/>
                <a:cs typeface="Trebuchet MS"/>
              </a:rPr>
              <a:t> </a:t>
            </a:r>
            <a:r>
              <a:rPr b="1" spc="81" dirty="0">
                <a:solidFill>
                  <a:srgbClr val="262525"/>
                </a:solidFill>
                <a:latin typeface="Trebuchet MS"/>
                <a:cs typeface="Trebuchet MS"/>
              </a:rPr>
              <a:t>N</a:t>
            </a:r>
            <a:r>
              <a:rPr b="1" spc="-135" dirty="0">
                <a:solidFill>
                  <a:srgbClr val="262525"/>
                </a:solidFill>
                <a:latin typeface="Trebuchet MS"/>
                <a:cs typeface="Trebuchet MS"/>
              </a:rPr>
              <a:t>e</a:t>
            </a:r>
            <a:r>
              <a:rPr b="1" spc="-100" dirty="0">
                <a:solidFill>
                  <a:srgbClr val="262525"/>
                </a:solidFill>
                <a:latin typeface="Trebuchet MS"/>
                <a:cs typeface="Trebuchet MS"/>
              </a:rPr>
              <a:t>u</a:t>
            </a:r>
            <a:r>
              <a:rPr b="1" spc="-46" dirty="0">
                <a:solidFill>
                  <a:srgbClr val="262525"/>
                </a:solidFill>
                <a:latin typeface="Trebuchet MS"/>
                <a:cs typeface="Trebuchet MS"/>
              </a:rPr>
              <a:t>r</a:t>
            </a:r>
            <a:r>
              <a:rPr b="1" spc="-77" dirty="0">
                <a:solidFill>
                  <a:srgbClr val="262525"/>
                </a:solidFill>
                <a:latin typeface="Trebuchet MS"/>
                <a:cs typeface="Trebuchet MS"/>
              </a:rPr>
              <a:t>a</a:t>
            </a:r>
            <a:r>
              <a:rPr b="1" spc="-38" dirty="0">
                <a:solidFill>
                  <a:srgbClr val="262525"/>
                </a:solidFill>
                <a:latin typeface="Trebuchet MS"/>
                <a:cs typeface="Trebuchet MS"/>
              </a:rPr>
              <a:t>l</a:t>
            </a:r>
            <a:r>
              <a:rPr b="1" spc="-96" dirty="0">
                <a:solidFill>
                  <a:srgbClr val="262525"/>
                </a:solidFill>
                <a:latin typeface="Trebuchet MS"/>
                <a:cs typeface="Trebuchet MS"/>
              </a:rPr>
              <a:t> </a:t>
            </a:r>
            <a:r>
              <a:rPr b="1" spc="81" dirty="0">
                <a:solidFill>
                  <a:srgbClr val="262525"/>
                </a:solidFill>
                <a:latin typeface="Trebuchet MS"/>
                <a:cs typeface="Trebuchet MS"/>
              </a:rPr>
              <a:t>N</a:t>
            </a:r>
            <a:r>
              <a:rPr b="1" spc="-135" dirty="0">
                <a:solidFill>
                  <a:srgbClr val="262525"/>
                </a:solidFill>
                <a:latin typeface="Trebuchet MS"/>
                <a:cs typeface="Trebuchet MS"/>
              </a:rPr>
              <a:t>e</a:t>
            </a:r>
            <a:r>
              <a:rPr b="1" spc="-119" dirty="0">
                <a:solidFill>
                  <a:srgbClr val="262525"/>
                </a:solidFill>
                <a:latin typeface="Trebuchet MS"/>
                <a:cs typeface="Trebuchet MS"/>
              </a:rPr>
              <a:t>t</a:t>
            </a:r>
            <a:r>
              <a:rPr b="1" spc="-135" dirty="0">
                <a:solidFill>
                  <a:srgbClr val="262525"/>
                </a:solidFill>
                <a:latin typeface="Trebuchet MS"/>
                <a:cs typeface="Trebuchet MS"/>
              </a:rPr>
              <a:t>w</a:t>
            </a:r>
            <a:r>
              <a:rPr b="1" spc="-62" dirty="0">
                <a:solidFill>
                  <a:srgbClr val="262525"/>
                </a:solidFill>
                <a:latin typeface="Trebuchet MS"/>
                <a:cs typeface="Trebuchet MS"/>
              </a:rPr>
              <a:t>o</a:t>
            </a:r>
            <a:r>
              <a:rPr b="1" spc="-46" dirty="0">
                <a:solidFill>
                  <a:srgbClr val="262525"/>
                </a:solidFill>
                <a:latin typeface="Trebuchet MS"/>
                <a:cs typeface="Trebuchet MS"/>
              </a:rPr>
              <a:t>r</a:t>
            </a:r>
            <a:r>
              <a:rPr b="1" spc="-96" dirty="0">
                <a:solidFill>
                  <a:srgbClr val="262525"/>
                </a:solidFill>
                <a:latin typeface="Trebuchet MS"/>
                <a:cs typeface="Trebuchet MS"/>
              </a:rPr>
              <a:t>k</a:t>
            </a:r>
            <a:r>
              <a:rPr b="1" spc="19" dirty="0">
                <a:solidFill>
                  <a:srgbClr val="262525"/>
                </a:solidFill>
                <a:latin typeface="Trebuchet MS"/>
                <a:cs typeface="Trebuchet MS"/>
              </a:rPr>
              <a:t>s  </a:t>
            </a:r>
            <a:r>
              <a:rPr b="1" spc="15" dirty="0">
                <a:solidFill>
                  <a:srgbClr val="262525"/>
                </a:solidFill>
                <a:latin typeface="Trebuchet MS"/>
                <a:cs typeface="Trebuchet MS"/>
              </a:rPr>
              <a:t>(RNNs</a:t>
            </a:r>
            <a:r>
              <a:rPr sz="1200" b="1" spc="15" dirty="0" smtClean="0">
                <a:solidFill>
                  <a:srgbClr val="262525"/>
                </a:solidFill>
                <a:latin typeface="Trebuchet MS"/>
                <a:cs typeface="Trebuchet MS"/>
              </a:rPr>
              <a:t>)</a:t>
            </a:r>
            <a:r>
              <a:rPr lang="en-US" sz="1200" dirty="0" smtClean="0"/>
              <a:t> </a:t>
            </a:r>
          </a:p>
          <a:p>
            <a:pPr marL="9769" marR="296973">
              <a:lnSpc>
                <a:spcPct val="104200"/>
              </a:lnSpc>
            </a:pPr>
            <a:r>
              <a:rPr lang="en-US" sz="1200" dirty="0" smtClean="0"/>
              <a:t>RNNs are designed to process sequential data, such as text and speech, by taking the order of the data into account</a:t>
            </a:r>
            <a:endParaRPr sz="1200" dirty="0">
              <a:latin typeface="Trebuchet MS"/>
              <a:cs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7352" y="513445"/>
            <a:ext cx="4739158" cy="457028"/>
          </a:xfrm>
          <a:prstGeom prst="rect">
            <a:avLst/>
          </a:prstGeom>
        </p:spPr>
        <p:txBody>
          <a:bodyPr vert="horz" wrap="square" lIns="0" tIns="13188" rIns="0" bIns="0" rtlCol="0">
            <a:spAutoFit/>
          </a:bodyPr>
          <a:lstStyle/>
          <a:p>
            <a:pPr marL="9769">
              <a:spcBef>
                <a:spcPts val="104"/>
              </a:spcBef>
            </a:pPr>
            <a:r>
              <a:rPr lang="en-US" sz="2800" u="sng" dirty="0" smtClean="0">
                <a:latin typeface="Bell MT" pitchFamily="18" charset="0"/>
              </a:rPr>
              <a:t>Feedforward Neural Network</a:t>
            </a:r>
            <a:endParaRPr sz="2800" u="sng" spc="-85" dirty="0">
              <a:latin typeface="Bell MT" pitchFamily="18" charset="0"/>
            </a:endParaRPr>
          </a:p>
        </p:txBody>
      </p:sp>
      <p:grpSp>
        <p:nvGrpSpPr>
          <p:cNvPr id="3" name="object 3"/>
          <p:cNvGrpSpPr/>
          <p:nvPr/>
        </p:nvGrpSpPr>
        <p:grpSpPr>
          <a:xfrm>
            <a:off x="1318260" y="1378457"/>
            <a:ext cx="2072640" cy="3183033"/>
            <a:chOff x="1647825" y="1914525"/>
            <a:chExt cx="2590800" cy="3524250"/>
          </a:xfrm>
        </p:grpSpPr>
        <p:sp>
          <p:nvSpPr>
            <p:cNvPr id="4" name="object 4"/>
            <p:cNvSpPr/>
            <p:nvPr/>
          </p:nvSpPr>
          <p:spPr>
            <a:xfrm>
              <a:off x="1652587" y="1919287"/>
              <a:ext cx="2581275" cy="3514725"/>
            </a:xfrm>
            <a:custGeom>
              <a:avLst/>
              <a:gdLst/>
              <a:ahLst/>
              <a:cxnLst/>
              <a:rect l="l" t="t" r="r" b="b"/>
              <a:pathLst>
                <a:path w="2581275" h="3514725">
                  <a:moveTo>
                    <a:pt x="2532326" y="3514725"/>
                  </a:moveTo>
                  <a:lnTo>
                    <a:pt x="48948" y="3514725"/>
                  </a:lnTo>
                  <a:lnTo>
                    <a:pt x="45539" y="3514391"/>
                  </a:lnTo>
                  <a:lnTo>
                    <a:pt x="10744" y="3494303"/>
                  </a:lnTo>
                  <a:lnTo>
                    <a:pt x="0" y="3465776"/>
                  </a:lnTo>
                  <a:lnTo>
                    <a:pt x="0" y="3462337"/>
                  </a:lnTo>
                  <a:lnTo>
                    <a:pt x="0" y="48948"/>
                  </a:lnTo>
                  <a:lnTo>
                    <a:pt x="17773" y="12915"/>
                  </a:lnTo>
                  <a:lnTo>
                    <a:pt x="48948" y="0"/>
                  </a:lnTo>
                  <a:lnTo>
                    <a:pt x="2532326" y="0"/>
                  </a:lnTo>
                  <a:lnTo>
                    <a:pt x="2568359" y="17773"/>
                  </a:lnTo>
                  <a:lnTo>
                    <a:pt x="2581275" y="48948"/>
                  </a:lnTo>
                  <a:lnTo>
                    <a:pt x="2581275" y="3465776"/>
                  </a:lnTo>
                  <a:lnTo>
                    <a:pt x="2563501" y="3501809"/>
                  </a:lnTo>
                  <a:lnTo>
                    <a:pt x="2535735" y="3514391"/>
                  </a:lnTo>
                  <a:lnTo>
                    <a:pt x="2532326" y="3514725"/>
                  </a:lnTo>
                  <a:close/>
                </a:path>
              </a:pathLst>
            </a:custGeom>
            <a:solidFill>
              <a:srgbClr val="F0D4F6"/>
            </a:solidFill>
          </p:spPr>
          <p:txBody>
            <a:bodyPr wrap="square" lIns="0" tIns="0" rIns="0" bIns="0" rtlCol="0"/>
            <a:lstStyle/>
            <a:p>
              <a:endParaRPr/>
            </a:p>
          </p:txBody>
        </p:sp>
        <p:sp>
          <p:nvSpPr>
            <p:cNvPr id="5" name="object 5"/>
            <p:cNvSpPr/>
            <p:nvPr/>
          </p:nvSpPr>
          <p:spPr>
            <a:xfrm>
              <a:off x="1652587" y="1919287"/>
              <a:ext cx="2581275" cy="3514725"/>
            </a:xfrm>
            <a:custGeom>
              <a:avLst/>
              <a:gdLst/>
              <a:ahLst/>
              <a:cxnLst/>
              <a:rect l="l" t="t" r="r" b="b"/>
              <a:pathLst>
                <a:path w="2581275" h="3514725">
                  <a:moveTo>
                    <a:pt x="0" y="3462337"/>
                  </a:moveTo>
                  <a:lnTo>
                    <a:pt x="0" y="52387"/>
                  </a:lnTo>
                  <a:lnTo>
                    <a:pt x="0" y="48948"/>
                  </a:lnTo>
                  <a:lnTo>
                    <a:pt x="333" y="45539"/>
                  </a:lnTo>
                  <a:lnTo>
                    <a:pt x="1009" y="42167"/>
                  </a:lnTo>
                  <a:lnTo>
                    <a:pt x="1676" y="38795"/>
                  </a:lnTo>
                  <a:lnTo>
                    <a:pt x="2667" y="35518"/>
                  </a:lnTo>
                  <a:lnTo>
                    <a:pt x="3990" y="32337"/>
                  </a:lnTo>
                  <a:lnTo>
                    <a:pt x="5305" y="29165"/>
                  </a:lnTo>
                  <a:lnTo>
                    <a:pt x="6915" y="26146"/>
                  </a:lnTo>
                  <a:lnTo>
                    <a:pt x="32337" y="3990"/>
                  </a:lnTo>
                  <a:lnTo>
                    <a:pt x="35518" y="2667"/>
                  </a:lnTo>
                  <a:lnTo>
                    <a:pt x="38795" y="1676"/>
                  </a:lnTo>
                  <a:lnTo>
                    <a:pt x="42167" y="1009"/>
                  </a:lnTo>
                  <a:lnTo>
                    <a:pt x="45539" y="333"/>
                  </a:lnTo>
                  <a:lnTo>
                    <a:pt x="48948" y="0"/>
                  </a:lnTo>
                  <a:lnTo>
                    <a:pt x="52387" y="0"/>
                  </a:lnTo>
                  <a:lnTo>
                    <a:pt x="2528887" y="0"/>
                  </a:lnTo>
                  <a:lnTo>
                    <a:pt x="2532326" y="0"/>
                  </a:lnTo>
                  <a:lnTo>
                    <a:pt x="2535735" y="333"/>
                  </a:lnTo>
                  <a:lnTo>
                    <a:pt x="2539107" y="1009"/>
                  </a:lnTo>
                  <a:lnTo>
                    <a:pt x="2542479" y="1676"/>
                  </a:lnTo>
                  <a:lnTo>
                    <a:pt x="2545756" y="2667"/>
                  </a:lnTo>
                  <a:lnTo>
                    <a:pt x="2548937" y="3990"/>
                  </a:lnTo>
                  <a:lnTo>
                    <a:pt x="2552109" y="5305"/>
                  </a:lnTo>
                  <a:lnTo>
                    <a:pt x="2565930" y="15344"/>
                  </a:lnTo>
                  <a:lnTo>
                    <a:pt x="2568359" y="17773"/>
                  </a:lnTo>
                  <a:lnTo>
                    <a:pt x="2580265" y="42167"/>
                  </a:lnTo>
                  <a:lnTo>
                    <a:pt x="2580941" y="45539"/>
                  </a:lnTo>
                  <a:lnTo>
                    <a:pt x="2581275" y="48948"/>
                  </a:lnTo>
                  <a:lnTo>
                    <a:pt x="2581275" y="52387"/>
                  </a:lnTo>
                  <a:lnTo>
                    <a:pt x="2581275" y="3462337"/>
                  </a:lnTo>
                  <a:lnTo>
                    <a:pt x="2581275" y="3465776"/>
                  </a:lnTo>
                  <a:lnTo>
                    <a:pt x="2580941" y="3469185"/>
                  </a:lnTo>
                  <a:lnTo>
                    <a:pt x="2580265" y="3472557"/>
                  </a:lnTo>
                  <a:lnTo>
                    <a:pt x="2579598" y="3475929"/>
                  </a:lnTo>
                  <a:lnTo>
                    <a:pt x="2565930" y="3499380"/>
                  </a:lnTo>
                  <a:lnTo>
                    <a:pt x="2563501" y="3501809"/>
                  </a:lnTo>
                  <a:lnTo>
                    <a:pt x="2539107" y="3513715"/>
                  </a:lnTo>
                  <a:lnTo>
                    <a:pt x="2535735" y="3514391"/>
                  </a:lnTo>
                  <a:lnTo>
                    <a:pt x="2532326" y="3514725"/>
                  </a:lnTo>
                  <a:lnTo>
                    <a:pt x="2528887" y="3514725"/>
                  </a:lnTo>
                  <a:lnTo>
                    <a:pt x="52387" y="3514725"/>
                  </a:lnTo>
                  <a:lnTo>
                    <a:pt x="48948" y="3514725"/>
                  </a:lnTo>
                  <a:lnTo>
                    <a:pt x="45539" y="3514391"/>
                  </a:lnTo>
                  <a:lnTo>
                    <a:pt x="42167" y="3513715"/>
                  </a:lnTo>
                  <a:lnTo>
                    <a:pt x="38795" y="3513048"/>
                  </a:lnTo>
                  <a:lnTo>
                    <a:pt x="15344" y="3499380"/>
                  </a:lnTo>
                  <a:lnTo>
                    <a:pt x="12915" y="3496951"/>
                  </a:lnTo>
                  <a:lnTo>
                    <a:pt x="3990" y="3482387"/>
                  </a:lnTo>
                  <a:lnTo>
                    <a:pt x="2667" y="3479206"/>
                  </a:lnTo>
                  <a:lnTo>
                    <a:pt x="1676" y="3475929"/>
                  </a:lnTo>
                  <a:lnTo>
                    <a:pt x="1009" y="3472557"/>
                  </a:lnTo>
                  <a:lnTo>
                    <a:pt x="333" y="3469185"/>
                  </a:lnTo>
                  <a:lnTo>
                    <a:pt x="0" y="3465776"/>
                  </a:lnTo>
                  <a:lnTo>
                    <a:pt x="0" y="3462337"/>
                  </a:lnTo>
                  <a:close/>
                </a:path>
              </a:pathLst>
            </a:custGeom>
            <a:ln w="9525">
              <a:solidFill>
                <a:srgbClr val="E1A8EF"/>
              </a:solidFill>
            </a:ln>
          </p:spPr>
          <p:txBody>
            <a:bodyPr wrap="square" lIns="0" tIns="0" rIns="0" bIns="0" rtlCol="0"/>
            <a:lstStyle/>
            <a:p>
              <a:endParaRPr/>
            </a:p>
          </p:txBody>
        </p:sp>
      </p:grpSp>
      <p:sp>
        <p:nvSpPr>
          <p:cNvPr id="6" name="object 6"/>
          <p:cNvSpPr txBox="1"/>
          <p:nvPr/>
        </p:nvSpPr>
        <p:spPr>
          <a:xfrm>
            <a:off x="1457643" y="1488094"/>
            <a:ext cx="1722628" cy="2984051"/>
          </a:xfrm>
          <a:prstGeom prst="rect">
            <a:avLst/>
          </a:prstGeom>
        </p:spPr>
        <p:txBody>
          <a:bodyPr vert="horz" wrap="square" lIns="0" tIns="8792" rIns="0" bIns="0" rtlCol="0">
            <a:spAutoFit/>
          </a:bodyPr>
          <a:lstStyle/>
          <a:p>
            <a:pPr marL="9769" marR="224683">
              <a:lnSpc>
                <a:spcPts val="2077"/>
              </a:lnSpc>
              <a:spcBef>
                <a:spcPts val="69"/>
              </a:spcBef>
            </a:pPr>
            <a:r>
              <a:rPr lang="en-US" sz="1600" spc="157" dirty="0" smtClean="0">
                <a:solidFill>
                  <a:srgbClr val="262525"/>
                </a:solidFill>
                <a:latin typeface="+mj-lt"/>
                <a:cs typeface="Trebuchet MS"/>
              </a:rPr>
              <a:t>S</a:t>
            </a:r>
            <a:r>
              <a:rPr sz="1600" spc="-115" dirty="0" smtClean="0">
                <a:solidFill>
                  <a:srgbClr val="262525"/>
                </a:solidFill>
                <a:latin typeface="+mj-lt"/>
                <a:cs typeface="Trebuchet MS"/>
              </a:rPr>
              <a:t>t</a:t>
            </a:r>
            <a:r>
              <a:rPr sz="1600" spc="-54" dirty="0" smtClean="0">
                <a:solidFill>
                  <a:srgbClr val="262525"/>
                </a:solidFill>
                <a:latin typeface="+mj-lt"/>
                <a:cs typeface="Trebuchet MS"/>
              </a:rPr>
              <a:t>r</a:t>
            </a:r>
            <a:r>
              <a:rPr sz="1600" spc="-92" dirty="0" smtClean="0">
                <a:solidFill>
                  <a:srgbClr val="262525"/>
                </a:solidFill>
                <a:latin typeface="+mj-lt"/>
                <a:cs typeface="Trebuchet MS"/>
              </a:rPr>
              <a:t>u</a:t>
            </a:r>
            <a:r>
              <a:rPr sz="1600" spc="-77" dirty="0" smtClean="0">
                <a:solidFill>
                  <a:srgbClr val="262525"/>
                </a:solidFill>
                <a:latin typeface="+mj-lt"/>
                <a:cs typeface="Trebuchet MS"/>
              </a:rPr>
              <a:t>c</a:t>
            </a:r>
            <a:r>
              <a:rPr sz="1600" spc="-115" dirty="0" smtClean="0">
                <a:solidFill>
                  <a:srgbClr val="262525"/>
                </a:solidFill>
                <a:latin typeface="+mj-lt"/>
                <a:cs typeface="Trebuchet MS"/>
              </a:rPr>
              <a:t>t</a:t>
            </a:r>
            <a:r>
              <a:rPr sz="1600" spc="-92" dirty="0" smtClean="0">
                <a:solidFill>
                  <a:srgbClr val="262525"/>
                </a:solidFill>
                <a:latin typeface="+mj-lt"/>
                <a:cs typeface="Trebuchet MS"/>
              </a:rPr>
              <a:t>u</a:t>
            </a:r>
            <a:r>
              <a:rPr sz="1600" spc="-54" dirty="0" smtClean="0">
                <a:solidFill>
                  <a:srgbClr val="262525"/>
                </a:solidFill>
                <a:latin typeface="+mj-lt"/>
                <a:cs typeface="Trebuchet MS"/>
              </a:rPr>
              <a:t>r</a:t>
            </a:r>
            <a:r>
              <a:rPr sz="1600" spc="-138" dirty="0" smtClean="0">
                <a:solidFill>
                  <a:srgbClr val="262525"/>
                </a:solidFill>
                <a:latin typeface="+mj-lt"/>
                <a:cs typeface="Trebuchet MS"/>
              </a:rPr>
              <a:t>e</a:t>
            </a:r>
            <a:r>
              <a:rPr sz="1600" spc="-165" dirty="0" smtClean="0">
                <a:solidFill>
                  <a:srgbClr val="262525"/>
                </a:solidFill>
                <a:latin typeface="+mj-lt"/>
                <a:cs typeface="Trebuchet MS"/>
              </a:rPr>
              <a:t> </a:t>
            </a:r>
            <a:r>
              <a:rPr sz="1600" spc="-50" dirty="0">
                <a:solidFill>
                  <a:srgbClr val="262525"/>
                </a:solidFill>
                <a:latin typeface="+mj-lt"/>
                <a:cs typeface="Trebuchet MS"/>
              </a:rPr>
              <a:t>o</a:t>
            </a:r>
            <a:r>
              <a:rPr sz="1600" spc="-31" dirty="0">
                <a:solidFill>
                  <a:srgbClr val="262525"/>
                </a:solidFill>
                <a:latin typeface="+mj-lt"/>
                <a:cs typeface="Trebuchet MS"/>
              </a:rPr>
              <a:t>f</a:t>
            </a:r>
            <a:r>
              <a:rPr sz="1600" spc="-169" dirty="0">
                <a:solidFill>
                  <a:srgbClr val="262525"/>
                </a:solidFill>
                <a:latin typeface="+mj-lt"/>
                <a:cs typeface="Trebuchet MS"/>
              </a:rPr>
              <a:t> </a:t>
            </a:r>
            <a:r>
              <a:rPr sz="1600" spc="-65" dirty="0">
                <a:solidFill>
                  <a:srgbClr val="262525"/>
                </a:solidFill>
                <a:latin typeface="+mj-lt"/>
                <a:cs typeface="Trebuchet MS"/>
              </a:rPr>
              <a:t>a  </a:t>
            </a:r>
            <a:r>
              <a:rPr sz="1600" spc="-104" dirty="0">
                <a:solidFill>
                  <a:srgbClr val="262525"/>
                </a:solidFill>
                <a:latin typeface="+mj-lt"/>
                <a:cs typeface="Trebuchet MS"/>
              </a:rPr>
              <a:t>Feedforward </a:t>
            </a:r>
            <a:r>
              <a:rPr sz="1600" spc="-100" dirty="0">
                <a:solidFill>
                  <a:srgbClr val="262525"/>
                </a:solidFill>
                <a:latin typeface="+mj-lt"/>
                <a:cs typeface="Trebuchet MS"/>
              </a:rPr>
              <a:t> </a:t>
            </a:r>
            <a:r>
              <a:rPr sz="1600" spc="69" dirty="0" smtClean="0">
                <a:solidFill>
                  <a:srgbClr val="262525"/>
                </a:solidFill>
                <a:latin typeface="+mj-lt"/>
                <a:cs typeface="Trebuchet MS"/>
              </a:rPr>
              <a:t>N</a:t>
            </a:r>
            <a:r>
              <a:rPr sz="1600" spc="-176" dirty="0" smtClean="0">
                <a:solidFill>
                  <a:srgbClr val="262525"/>
                </a:solidFill>
                <a:latin typeface="+mj-lt"/>
                <a:cs typeface="Trebuchet MS"/>
              </a:rPr>
              <a:t>e</a:t>
            </a:r>
            <a:r>
              <a:rPr sz="1600" spc="-92" dirty="0" smtClean="0">
                <a:solidFill>
                  <a:srgbClr val="262525"/>
                </a:solidFill>
                <a:latin typeface="+mj-lt"/>
                <a:cs typeface="Trebuchet MS"/>
              </a:rPr>
              <a:t>u</a:t>
            </a:r>
            <a:r>
              <a:rPr sz="1600" spc="-54" dirty="0" smtClean="0">
                <a:solidFill>
                  <a:srgbClr val="262525"/>
                </a:solidFill>
                <a:latin typeface="+mj-lt"/>
                <a:cs typeface="Trebuchet MS"/>
              </a:rPr>
              <a:t>r</a:t>
            </a:r>
            <a:r>
              <a:rPr sz="1600" spc="-112" dirty="0" smtClean="0">
                <a:solidFill>
                  <a:srgbClr val="262525"/>
                </a:solidFill>
                <a:latin typeface="+mj-lt"/>
                <a:cs typeface="Trebuchet MS"/>
              </a:rPr>
              <a:t>a</a:t>
            </a:r>
            <a:r>
              <a:rPr sz="1600" spc="-42" dirty="0" smtClean="0">
                <a:solidFill>
                  <a:srgbClr val="262525"/>
                </a:solidFill>
                <a:latin typeface="+mj-lt"/>
                <a:cs typeface="Trebuchet MS"/>
              </a:rPr>
              <a:t>l</a:t>
            </a:r>
            <a:r>
              <a:rPr sz="1600" spc="-150" dirty="0" smtClean="0">
                <a:solidFill>
                  <a:srgbClr val="262525"/>
                </a:solidFill>
                <a:latin typeface="+mj-lt"/>
                <a:cs typeface="Trebuchet MS"/>
              </a:rPr>
              <a:t> </a:t>
            </a:r>
            <a:r>
              <a:rPr sz="1600" spc="69" dirty="0" smtClean="0">
                <a:solidFill>
                  <a:srgbClr val="262525"/>
                </a:solidFill>
                <a:latin typeface="+mj-lt"/>
                <a:cs typeface="Trebuchet MS"/>
              </a:rPr>
              <a:t>N</a:t>
            </a:r>
            <a:r>
              <a:rPr sz="1600" spc="-176" dirty="0" smtClean="0">
                <a:solidFill>
                  <a:srgbClr val="262525"/>
                </a:solidFill>
                <a:latin typeface="+mj-lt"/>
                <a:cs typeface="Trebuchet MS"/>
              </a:rPr>
              <a:t>e</a:t>
            </a:r>
            <a:r>
              <a:rPr sz="1600" spc="-115" dirty="0" smtClean="0">
                <a:solidFill>
                  <a:srgbClr val="262525"/>
                </a:solidFill>
                <a:latin typeface="+mj-lt"/>
                <a:cs typeface="Trebuchet MS"/>
              </a:rPr>
              <a:t>t</a:t>
            </a:r>
            <a:r>
              <a:rPr sz="1600" spc="-123" dirty="0" smtClean="0">
                <a:solidFill>
                  <a:srgbClr val="262525"/>
                </a:solidFill>
                <a:latin typeface="+mj-lt"/>
                <a:cs typeface="Trebuchet MS"/>
              </a:rPr>
              <a:t>w</a:t>
            </a:r>
            <a:r>
              <a:rPr sz="1600" spc="-50" dirty="0" smtClean="0">
                <a:solidFill>
                  <a:srgbClr val="262525"/>
                </a:solidFill>
                <a:latin typeface="+mj-lt"/>
                <a:cs typeface="Trebuchet MS"/>
              </a:rPr>
              <a:t>o</a:t>
            </a:r>
            <a:r>
              <a:rPr sz="1600" spc="-54" dirty="0" smtClean="0">
                <a:solidFill>
                  <a:srgbClr val="262525"/>
                </a:solidFill>
                <a:latin typeface="+mj-lt"/>
                <a:cs typeface="Trebuchet MS"/>
              </a:rPr>
              <a:t>r</a:t>
            </a:r>
            <a:r>
              <a:rPr sz="1600" spc="-62" dirty="0" smtClean="0">
                <a:solidFill>
                  <a:srgbClr val="262525"/>
                </a:solidFill>
                <a:latin typeface="+mj-lt"/>
                <a:cs typeface="Trebuchet MS"/>
              </a:rPr>
              <a:t>k</a:t>
            </a:r>
            <a:endParaRPr lang="en-US" sz="1600" spc="-62" dirty="0" smtClean="0">
              <a:solidFill>
                <a:srgbClr val="262525"/>
              </a:solidFill>
              <a:latin typeface="+mj-lt"/>
              <a:cs typeface="Trebuchet MS"/>
            </a:endParaRPr>
          </a:p>
          <a:p>
            <a:pPr marL="9769" marR="224683">
              <a:lnSpc>
                <a:spcPts val="2077"/>
              </a:lnSpc>
              <a:spcBef>
                <a:spcPts val="69"/>
              </a:spcBef>
            </a:pPr>
            <a:r>
              <a:rPr lang="en-US" sz="1200" dirty="0" smtClean="0"/>
              <a:t>Feedforward neural networks are the simplest type of neural network and consist of an input layer, one or more hidden layers, and an output layer.</a:t>
            </a:r>
            <a:endParaRPr sz="1200" dirty="0">
              <a:latin typeface="Trebuchet MS"/>
              <a:cs typeface="Trebuchet MS"/>
            </a:endParaRPr>
          </a:p>
        </p:txBody>
      </p:sp>
      <p:grpSp>
        <p:nvGrpSpPr>
          <p:cNvPr id="7" name="object 7"/>
          <p:cNvGrpSpPr/>
          <p:nvPr/>
        </p:nvGrpSpPr>
        <p:grpSpPr>
          <a:xfrm>
            <a:off x="3535680" y="1431010"/>
            <a:ext cx="2072640" cy="3067418"/>
            <a:chOff x="4419600" y="1914525"/>
            <a:chExt cx="2590800" cy="3524250"/>
          </a:xfrm>
        </p:grpSpPr>
        <p:sp>
          <p:nvSpPr>
            <p:cNvPr id="8" name="object 8"/>
            <p:cNvSpPr/>
            <p:nvPr/>
          </p:nvSpPr>
          <p:spPr>
            <a:xfrm>
              <a:off x="4424362" y="1919287"/>
              <a:ext cx="2581275" cy="3514725"/>
            </a:xfrm>
            <a:custGeom>
              <a:avLst/>
              <a:gdLst/>
              <a:ahLst/>
              <a:cxnLst/>
              <a:rect l="l" t="t" r="r" b="b"/>
              <a:pathLst>
                <a:path w="2581275" h="3514725">
                  <a:moveTo>
                    <a:pt x="2532326" y="3514725"/>
                  </a:moveTo>
                  <a:lnTo>
                    <a:pt x="48948" y="3514725"/>
                  </a:lnTo>
                  <a:lnTo>
                    <a:pt x="45539" y="3514391"/>
                  </a:lnTo>
                  <a:lnTo>
                    <a:pt x="10734" y="3494303"/>
                  </a:lnTo>
                  <a:lnTo>
                    <a:pt x="0" y="3465776"/>
                  </a:lnTo>
                  <a:lnTo>
                    <a:pt x="0" y="3462337"/>
                  </a:lnTo>
                  <a:lnTo>
                    <a:pt x="0" y="48948"/>
                  </a:lnTo>
                  <a:lnTo>
                    <a:pt x="17773" y="12915"/>
                  </a:lnTo>
                  <a:lnTo>
                    <a:pt x="48948" y="0"/>
                  </a:lnTo>
                  <a:lnTo>
                    <a:pt x="2532326" y="0"/>
                  </a:lnTo>
                  <a:lnTo>
                    <a:pt x="2568359" y="17773"/>
                  </a:lnTo>
                  <a:lnTo>
                    <a:pt x="2581275" y="48948"/>
                  </a:lnTo>
                  <a:lnTo>
                    <a:pt x="2581275" y="3465776"/>
                  </a:lnTo>
                  <a:lnTo>
                    <a:pt x="2563501" y="3501809"/>
                  </a:lnTo>
                  <a:lnTo>
                    <a:pt x="2535735" y="3514391"/>
                  </a:lnTo>
                  <a:lnTo>
                    <a:pt x="2532326" y="3514725"/>
                  </a:lnTo>
                  <a:close/>
                </a:path>
              </a:pathLst>
            </a:custGeom>
            <a:solidFill>
              <a:srgbClr val="F0D4F6"/>
            </a:solidFill>
          </p:spPr>
          <p:txBody>
            <a:bodyPr wrap="square" lIns="0" tIns="0" rIns="0" bIns="0" rtlCol="0"/>
            <a:lstStyle/>
            <a:p>
              <a:endParaRPr/>
            </a:p>
          </p:txBody>
        </p:sp>
        <p:sp>
          <p:nvSpPr>
            <p:cNvPr id="9" name="object 9"/>
            <p:cNvSpPr/>
            <p:nvPr/>
          </p:nvSpPr>
          <p:spPr>
            <a:xfrm>
              <a:off x="4424362" y="1919287"/>
              <a:ext cx="2581275" cy="3514725"/>
            </a:xfrm>
            <a:custGeom>
              <a:avLst/>
              <a:gdLst/>
              <a:ahLst/>
              <a:cxnLst/>
              <a:rect l="l" t="t" r="r" b="b"/>
              <a:pathLst>
                <a:path w="2581275" h="3514725">
                  <a:moveTo>
                    <a:pt x="0" y="3462337"/>
                  </a:moveTo>
                  <a:lnTo>
                    <a:pt x="0" y="52387"/>
                  </a:lnTo>
                  <a:lnTo>
                    <a:pt x="0" y="48948"/>
                  </a:lnTo>
                  <a:lnTo>
                    <a:pt x="333" y="45539"/>
                  </a:lnTo>
                  <a:lnTo>
                    <a:pt x="1009" y="42167"/>
                  </a:lnTo>
                  <a:lnTo>
                    <a:pt x="1676" y="38795"/>
                  </a:lnTo>
                  <a:lnTo>
                    <a:pt x="2666" y="35518"/>
                  </a:lnTo>
                  <a:lnTo>
                    <a:pt x="3990" y="32337"/>
                  </a:lnTo>
                  <a:lnTo>
                    <a:pt x="5305" y="29165"/>
                  </a:lnTo>
                  <a:lnTo>
                    <a:pt x="6915" y="26146"/>
                  </a:lnTo>
                  <a:lnTo>
                    <a:pt x="8829" y="23279"/>
                  </a:lnTo>
                  <a:lnTo>
                    <a:pt x="10734" y="20421"/>
                  </a:lnTo>
                  <a:lnTo>
                    <a:pt x="12906" y="17773"/>
                  </a:lnTo>
                  <a:lnTo>
                    <a:pt x="15344" y="15344"/>
                  </a:lnTo>
                  <a:lnTo>
                    <a:pt x="17773" y="12915"/>
                  </a:lnTo>
                  <a:lnTo>
                    <a:pt x="20421" y="10744"/>
                  </a:lnTo>
                  <a:lnTo>
                    <a:pt x="23279" y="8829"/>
                  </a:lnTo>
                  <a:lnTo>
                    <a:pt x="26146" y="6915"/>
                  </a:lnTo>
                  <a:lnTo>
                    <a:pt x="29165" y="5305"/>
                  </a:lnTo>
                  <a:lnTo>
                    <a:pt x="32337" y="3990"/>
                  </a:lnTo>
                  <a:lnTo>
                    <a:pt x="35518" y="2667"/>
                  </a:lnTo>
                  <a:lnTo>
                    <a:pt x="38795" y="1676"/>
                  </a:lnTo>
                  <a:lnTo>
                    <a:pt x="42167" y="1009"/>
                  </a:lnTo>
                  <a:lnTo>
                    <a:pt x="45539" y="333"/>
                  </a:lnTo>
                  <a:lnTo>
                    <a:pt x="48948" y="0"/>
                  </a:lnTo>
                  <a:lnTo>
                    <a:pt x="52387" y="0"/>
                  </a:lnTo>
                  <a:lnTo>
                    <a:pt x="2528887" y="0"/>
                  </a:lnTo>
                  <a:lnTo>
                    <a:pt x="2532326" y="0"/>
                  </a:lnTo>
                  <a:lnTo>
                    <a:pt x="2535735" y="333"/>
                  </a:lnTo>
                  <a:lnTo>
                    <a:pt x="2539107" y="1009"/>
                  </a:lnTo>
                  <a:lnTo>
                    <a:pt x="2542479" y="1676"/>
                  </a:lnTo>
                  <a:lnTo>
                    <a:pt x="2545756" y="2667"/>
                  </a:lnTo>
                  <a:lnTo>
                    <a:pt x="2548937" y="3990"/>
                  </a:lnTo>
                  <a:lnTo>
                    <a:pt x="2552109" y="5305"/>
                  </a:lnTo>
                  <a:lnTo>
                    <a:pt x="2578598" y="35518"/>
                  </a:lnTo>
                  <a:lnTo>
                    <a:pt x="2580265" y="42167"/>
                  </a:lnTo>
                  <a:lnTo>
                    <a:pt x="2580941" y="45539"/>
                  </a:lnTo>
                  <a:lnTo>
                    <a:pt x="2581275" y="48948"/>
                  </a:lnTo>
                  <a:lnTo>
                    <a:pt x="2581275" y="52387"/>
                  </a:lnTo>
                  <a:lnTo>
                    <a:pt x="2581275" y="3462337"/>
                  </a:lnTo>
                  <a:lnTo>
                    <a:pt x="2581275" y="3465776"/>
                  </a:lnTo>
                  <a:lnTo>
                    <a:pt x="2580941" y="3469185"/>
                  </a:lnTo>
                  <a:lnTo>
                    <a:pt x="2580265" y="3472557"/>
                  </a:lnTo>
                  <a:lnTo>
                    <a:pt x="2579598" y="3475929"/>
                  </a:lnTo>
                  <a:lnTo>
                    <a:pt x="2565930" y="3499380"/>
                  </a:lnTo>
                  <a:lnTo>
                    <a:pt x="2563501" y="3501809"/>
                  </a:lnTo>
                  <a:lnTo>
                    <a:pt x="2539107" y="3513715"/>
                  </a:lnTo>
                  <a:lnTo>
                    <a:pt x="2535735" y="3514391"/>
                  </a:lnTo>
                  <a:lnTo>
                    <a:pt x="2532326" y="3514725"/>
                  </a:lnTo>
                  <a:lnTo>
                    <a:pt x="2528887" y="3514725"/>
                  </a:lnTo>
                  <a:lnTo>
                    <a:pt x="52387" y="3514725"/>
                  </a:lnTo>
                  <a:lnTo>
                    <a:pt x="48948" y="3514725"/>
                  </a:lnTo>
                  <a:lnTo>
                    <a:pt x="45539" y="3514391"/>
                  </a:lnTo>
                  <a:lnTo>
                    <a:pt x="42167" y="3513715"/>
                  </a:lnTo>
                  <a:lnTo>
                    <a:pt x="38795" y="3513048"/>
                  </a:lnTo>
                  <a:lnTo>
                    <a:pt x="15344" y="3499380"/>
                  </a:lnTo>
                  <a:lnTo>
                    <a:pt x="12906" y="3496951"/>
                  </a:lnTo>
                  <a:lnTo>
                    <a:pt x="10734" y="3494303"/>
                  </a:lnTo>
                  <a:lnTo>
                    <a:pt x="8829" y="3491445"/>
                  </a:lnTo>
                  <a:lnTo>
                    <a:pt x="6915" y="3488578"/>
                  </a:lnTo>
                  <a:lnTo>
                    <a:pt x="5305" y="3485559"/>
                  </a:lnTo>
                  <a:lnTo>
                    <a:pt x="3990" y="3482387"/>
                  </a:lnTo>
                  <a:lnTo>
                    <a:pt x="2666" y="3479206"/>
                  </a:lnTo>
                  <a:lnTo>
                    <a:pt x="1676" y="3475929"/>
                  </a:lnTo>
                  <a:lnTo>
                    <a:pt x="1009" y="3472557"/>
                  </a:lnTo>
                  <a:lnTo>
                    <a:pt x="333" y="3469185"/>
                  </a:lnTo>
                  <a:lnTo>
                    <a:pt x="0" y="3465776"/>
                  </a:lnTo>
                  <a:lnTo>
                    <a:pt x="0" y="3462337"/>
                  </a:lnTo>
                  <a:close/>
                </a:path>
              </a:pathLst>
            </a:custGeom>
            <a:ln w="9525">
              <a:solidFill>
                <a:srgbClr val="E1A8EF"/>
              </a:solidFill>
            </a:ln>
          </p:spPr>
          <p:txBody>
            <a:bodyPr wrap="square" lIns="0" tIns="0" rIns="0" bIns="0" rtlCol="0"/>
            <a:lstStyle/>
            <a:p>
              <a:endParaRPr/>
            </a:p>
          </p:txBody>
        </p:sp>
      </p:grpSp>
      <p:sp>
        <p:nvSpPr>
          <p:cNvPr id="10" name="object 10"/>
          <p:cNvSpPr txBox="1"/>
          <p:nvPr/>
        </p:nvSpPr>
        <p:spPr>
          <a:xfrm>
            <a:off x="3677920" y="1488094"/>
            <a:ext cx="1730248" cy="2869622"/>
          </a:xfrm>
          <a:prstGeom prst="rect">
            <a:avLst/>
          </a:prstGeom>
        </p:spPr>
        <p:txBody>
          <a:bodyPr vert="horz" wrap="square" lIns="0" tIns="9769" rIns="0" bIns="0" rtlCol="0">
            <a:spAutoFit/>
          </a:bodyPr>
          <a:lstStyle/>
          <a:p>
            <a:pPr marL="9769">
              <a:spcBef>
                <a:spcPts val="77"/>
              </a:spcBef>
            </a:pPr>
            <a:r>
              <a:rPr sz="1700" b="1" spc="42" dirty="0">
                <a:solidFill>
                  <a:srgbClr val="262525"/>
                </a:solidFill>
                <a:latin typeface="Trebuchet MS"/>
                <a:cs typeface="Trebuchet MS"/>
              </a:rPr>
              <a:t>H</a:t>
            </a:r>
            <a:r>
              <a:rPr sz="1700" b="1" spc="-50" dirty="0">
                <a:solidFill>
                  <a:srgbClr val="262525"/>
                </a:solidFill>
                <a:latin typeface="Trebuchet MS"/>
                <a:cs typeface="Trebuchet MS"/>
              </a:rPr>
              <a:t>o</a:t>
            </a:r>
            <a:r>
              <a:rPr sz="1700" b="1" spc="-100" dirty="0">
                <a:solidFill>
                  <a:srgbClr val="262525"/>
                </a:solidFill>
                <a:latin typeface="Trebuchet MS"/>
                <a:cs typeface="Trebuchet MS"/>
              </a:rPr>
              <a:t>w</a:t>
            </a:r>
            <a:r>
              <a:rPr sz="1700" b="1" spc="-150" dirty="0">
                <a:solidFill>
                  <a:srgbClr val="262525"/>
                </a:solidFill>
                <a:latin typeface="Trebuchet MS"/>
                <a:cs typeface="Trebuchet MS"/>
              </a:rPr>
              <a:t> </a:t>
            </a:r>
            <a:r>
              <a:rPr sz="1700" b="1" spc="-69" dirty="0">
                <a:solidFill>
                  <a:srgbClr val="262525"/>
                </a:solidFill>
                <a:latin typeface="Trebuchet MS"/>
                <a:cs typeface="Trebuchet MS"/>
              </a:rPr>
              <a:t>i</a:t>
            </a:r>
            <a:r>
              <a:rPr sz="1700" b="1" spc="-85" dirty="0">
                <a:solidFill>
                  <a:srgbClr val="262525"/>
                </a:solidFill>
                <a:latin typeface="Trebuchet MS"/>
                <a:cs typeface="Trebuchet MS"/>
              </a:rPr>
              <a:t>t</a:t>
            </a:r>
            <a:r>
              <a:rPr sz="1700" b="1" spc="-162" dirty="0">
                <a:solidFill>
                  <a:srgbClr val="262525"/>
                </a:solidFill>
                <a:latin typeface="Trebuchet MS"/>
                <a:cs typeface="Trebuchet MS"/>
              </a:rPr>
              <a:t> </a:t>
            </a:r>
            <a:r>
              <a:rPr sz="1700" b="1" spc="-123" dirty="0" smtClean="0">
                <a:solidFill>
                  <a:srgbClr val="262525"/>
                </a:solidFill>
                <a:latin typeface="Trebuchet MS"/>
                <a:cs typeface="Trebuchet MS"/>
              </a:rPr>
              <a:t>w</a:t>
            </a:r>
            <a:r>
              <a:rPr sz="1700" b="1" spc="-50" dirty="0" smtClean="0">
                <a:solidFill>
                  <a:srgbClr val="262525"/>
                </a:solidFill>
                <a:latin typeface="Trebuchet MS"/>
                <a:cs typeface="Trebuchet MS"/>
              </a:rPr>
              <a:t>o</a:t>
            </a:r>
            <a:r>
              <a:rPr sz="1700" b="1" spc="-54" dirty="0" smtClean="0">
                <a:solidFill>
                  <a:srgbClr val="262525"/>
                </a:solidFill>
                <a:latin typeface="Trebuchet MS"/>
                <a:cs typeface="Trebuchet MS"/>
              </a:rPr>
              <a:t>r</a:t>
            </a:r>
            <a:r>
              <a:rPr sz="1700" b="1" spc="-77" dirty="0" smtClean="0">
                <a:solidFill>
                  <a:srgbClr val="262525"/>
                </a:solidFill>
                <a:latin typeface="Trebuchet MS"/>
                <a:cs typeface="Trebuchet MS"/>
              </a:rPr>
              <a:t>k</a:t>
            </a:r>
            <a:r>
              <a:rPr sz="1700" b="1" spc="31" dirty="0" smtClean="0">
                <a:solidFill>
                  <a:srgbClr val="262525"/>
                </a:solidFill>
                <a:latin typeface="Trebuchet MS"/>
                <a:cs typeface="Trebuchet MS"/>
              </a:rPr>
              <a:t>s</a:t>
            </a:r>
            <a:endParaRPr lang="en-US" sz="1700" b="1" spc="31" dirty="0" smtClean="0">
              <a:solidFill>
                <a:srgbClr val="262525"/>
              </a:solidFill>
              <a:latin typeface="Trebuchet MS"/>
              <a:cs typeface="Trebuchet MS"/>
            </a:endParaRPr>
          </a:p>
          <a:p>
            <a:pPr marL="9769">
              <a:spcBef>
                <a:spcPts val="77"/>
              </a:spcBef>
            </a:pPr>
            <a:r>
              <a:rPr lang="en-US" dirty="0" smtClean="0"/>
              <a:t>The input data is fed into the input layer, where it is processed and passed on to the hidden layer. The hidden layer processes the data further before passing it on to the output layer, which produces the results of the classification.</a:t>
            </a:r>
            <a:endParaRPr dirty="0">
              <a:latin typeface="Trebuchet MS"/>
              <a:cs typeface="Trebuchet MS"/>
            </a:endParaRPr>
          </a:p>
        </p:txBody>
      </p:sp>
      <p:grpSp>
        <p:nvGrpSpPr>
          <p:cNvPr id="11" name="object 11"/>
          <p:cNvGrpSpPr/>
          <p:nvPr/>
        </p:nvGrpSpPr>
        <p:grpSpPr>
          <a:xfrm>
            <a:off x="5753100" y="1336417"/>
            <a:ext cx="2080260" cy="3004356"/>
            <a:chOff x="7191375" y="1914525"/>
            <a:chExt cx="2600325" cy="3524250"/>
          </a:xfrm>
        </p:grpSpPr>
        <p:sp>
          <p:nvSpPr>
            <p:cNvPr id="12" name="object 12"/>
            <p:cNvSpPr/>
            <p:nvPr/>
          </p:nvSpPr>
          <p:spPr>
            <a:xfrm>
              <a:off x="7196137" y="1919287"/>
              <a:ext cx="2590800" cy="3514725"/>
            </a:xfrm>
            <a:custGeom>
              <a:avLst/>
              <a:gdLst/>
              <a:ahLst/>
              <a:cxnLst/>
              <a:rect l="l" t="t" r="r" b="b"/>
              <a:pathLst>
                <a:path w="2590800" h="3514725">
                  <a:moveTo>
                    <a:pt x="2541841" y="3514725"/>
                  </a:moveTo>
                  <a:lnTo>
                    <a:pt x="48948" y="3514725"/>
                  </a:lnTo>
                  <a:lnTo>
                    <a:pt x="45539" y="3514391"/>
                  </a:lnTo>
                  <a:lnTo>
                    <a:pt x="10744" y="3494303"/>
                  </a:lnTo>
                  <a:lnTo>
                    <a:pt x="0" y="3465776"/>
                  </a:lnTo>
                  <a:lnTo>
                    <a:pt x="0" y="3462337"/>
                  </a:lnTo>
                  <a:lnTo>
                    <a:pt x="0" y="48948"/>
                  </a:lnTo>
                  <a:lnTo>
                    <a:pt x="17773" y="12915"/>
                  </a:lnTo>
                  <a:lnTo>
                    <a:pt x="48948" y="0"/>
                  </a:lnTo>
                  <a:lnTo>
                    <a:pt x="2541841" y="0"/>
                  </a:lnTo>
                  <a:lnTo>
                    <a:pt x="2577846" y="17773"/>
                  </a:lnTo>
                  <a:lnTo>
                    <a:pt x="2590800" y="48948"/>
                  </a:lnTo>
                  <a:lnTo>
                    <a:pt x="2590800" y="3465776"/>
                  </a:lnTo>
                  <a:lnTo>
                    <a:pt x="2572988" y="3501809"/>
                  </a:lnTo>
                  <a:lnTo>
                    <a:pt x="2545270" y="3514391"/>
                  </a:lnTo>
                  <a:lnTo>
                    <a:pt x="2541841" y="3514725"/>
                  </a:lnTo>
                  <a:close/>
                </a:path>
              </a:pathLst>
            </a:custGeom>
            <a:solidFill>
              <a:srgbClr val="F0D4F6"/>
            </a:solidFill>
          </p:spPr>
          <p:txBody>
            <a:bodyPr wrap="square" lIns="0" tIns="0" rIns="0" bIns="0" rtlCol="0"/>
            <a:lstStyle/>
            <a:p>
              <a:endParaRPr/>
            </a:p>
          </p:txBody>
        </p:sp>
        <p:sp>
          <p:nvSpPr>
            <p:cNvPr id="13" name="object 13"/>
            <p:cNvSpPr/>
            <p:nvPr/>
          </p:nvSpPr>
          <p:spPr>
            <a:xfrm>
              <a:off x="7196137" y="1919287"/>
              <a:ext cx="2590800" cy="3514725"/>
            </a:xfrm>
            <a:custGeom>
              <a:avLst/>
              <a:gdLst/>
              <a:ahLst/>
              <a:cxnLst/>
              <a:rect l="l" t="t" r="r" b="b"/>
              <a:pathLst>
                <a:path w="2590800" h="3514725">
                  <a:moveTo>
                    <a:pt x="0" y="3462337"/>
                  </a:moveTo>
                  <a:lnTo>
                    <a:pt x="0" y="52387"/>
                  </a:lnTo>
                  <a:lnTo>
                    <a:pt x="0" y="48948"/>
                  </a:lnTo>
                  <a:lnTo>
                    <a:pt x="333" y="45539"/>
                  </a:lnTo>
                  <a:lnTo>
                    <a:pt x="1009" y="42167"/>
                  </a:lnTo>
                  <a:lnTo>
                    <a:pt x="1676" y="38795"/>
                  </a:lnTo>
                  <a:lnTo>
                    <a:pt x="2667" y="35518"/>
                  </a:lnTo>
                  <a:lnTo>
                    <a:pt x="3990" y="32337"/>
                  </a:lnTo>
                  <a:lnTo>
                    <a:pt x="5305" y="29165"/>
                  </a:lnTo>
                  <a:lnTo>
                    <a:pt x="6915" y="26146"/>
                  </a:lnTo>
                  <a:lnTo>
                    <a:pt x="8829" y="23279"/>
                  </a:lnTo>
                  <a:lnTo>
                    <a:pt x="10734" y="20421"/>
                  </a:lnTo>
                  <a:lnTo>
                    <a:pt x="12915" y="17773"/>
                  </a:lnTo>
                  <a:lnTo>
                    <a:pt x="32337" y="3990"/>
                  </a:lnTo>
                  <a:lnTo>
                    <a:pt x="35518" y="2667"/>
                  </a:lnTo>
                  <a:lnTo>
                    <a:pt x="38795" y="1676"/>
                  </a:lnTo>
                  <a:lnTo>
                    <a:pt x="42167" y="1009"/>
                  </a:lnTo>
                  <a:lnTo>
                    <a:pt x="45539" y="333"/>
                  </a:lnTo>
                  <a:lnTo>
                    <a:pt x="48948" y="0"/>
                  </a:lnTo>
                  <a:lnTo>
                    <a:pt x="52387" y="0"/>
                  </a:lnTo>
                  <a:lnTo>
                    <a:pt x="2538412" y="0"/>
                  </a:lnTo>
                  <a:lnTo>
                    <a:pt x="2541841" y="0"/>
                  </a:lnTo>
                  <a:lnTo>
                    <a:pt x="2545270" y="333"/>
                  </a:lnTo>
                  <a:lnTo>
                    <a:pt x="2548604" y="1009"/>
                  </a:lnTo>
                  <a:lnTo>
                    <a:pt x="2552033" y="1676"/>
                  </a:lnTo>
                  <a:lnTo>
                    <a:pt x="2555271" y="2667"/>
                  </a:lnTo>
                  <a:lnTo>
                    <a:pt x="2558414" y="3990"/>
                  </a:lnTo>
                  <a:lnTo>
                    <a:pt x="2561653" y="5305"/>
                  </a:lnTo>
                  <a:lnTo>
                    <a:pt x="2588132" y="35518"/>
                  </a:lnTo>
                  <a:lnTo>
                    <a:pt x="2590800" y="48948"/>
                  </a:lnTo>
                  <a:lnTo>
                    <a:pt x="2590800" y="52387"/>
                  </a:lnTo>
                  <a:lnTo>
                    <a:pt x="2590800" y="3462337"/>
                  </a:lnTo>
                  <a:lnTo>
                    <a:pt x="2590800" y="3465776"/>
                  </a:lnTo>
                  <a:lnTo>
                    <a:pt x="2590419" y="3469185"/>
                  </a:lnTo>
                  <a:lnTo>
                    <a:pt x="2589752" y="3472557"/>
                  </a:lnTo>
                  <a:lnTo>
                    <a:pt x="2589085" y="3475929"/>
                  </a:lnTo>
                  <a:lnTo>
                    <a:pt x="2567558" y="3505895"/>
                  </a:lnTo>
                  <a:lnTo>
                    <a:pt x="2564701" y="3507809"/>
                  </a:lnTo>
                  <a:lnTo>
                    <a:pt x="2561653" y="3509419"/>
                  </a:lnTo>
                  <a:lnTo>
                    <a:pt x="2558414" y="3510734"/>
                  </a:lnTo>
                  <a:lnTo>
                    <a:pt x="2555271" y="3512048"/>
                  </a:lnTo>
                  <a:lnTo>
                    <a:pt x="2552033" y="3513048"/>
                  </a:lnTo>
                  <a:lnTo>
                    <a:pt x="2548604" y="3513715"/>
                  </a:lnTo>
                  <a:lnTo>
                    <a:pt x="2545270" y="3514391"/>
                  </a:lnTo>
                  <a:lnTo>
                    <a:pt x="2541841" y="3514725"/>
                  </a:lnTo>
                  <a:lnTo>
                    <a:pt x="2538412" y="3514725"/>
                  </a:lnTo>
                  <a:lnTo>
                    <a:pt x="52387" y="3514725"/>
                  </a:lnTo>
                  <a:lnTo>
                    <a:pt x="48948" y="3514725"/>
                  </a:lnTo>
                  <a:lnTo>
                    <a:pt x="45539" y="3514391"/>
                  </a:lnTo>
                  <a:lnTo>
                    <a:pt x="42167" y="3513715"/>
                  </a:lnTo>
                  <a:lnTo>
                    <a:pt x="38795" y="3513048"/>
                  </a:lnTo>
                  <a:lnTo>
                    <a:pt x="35518" y="3512048"/>
                  </a:lnTo>
                  <a:lnTo>
                    <a:pt x="32337" y="3510734"/>
                  </a:lnTo>
                  <a:lnTo>
                    <a:pt x="29156" y="3509419"/>
                  </a:lnTo>
                  <a:lnTo>
                    <a:pt x="15344" y="3499380"/>
                  </a:lnTo>
                  <a:lnTo>
                    <a:pt x="12915" y="3496951"/>
                  </a:lnTo>
                  <a:lnTo>
                    <a:pt x="3990" y="3482387"/>
                  </a:lnTo>
                  <a:lnTo>
                    <a:pt x="2667" y="3479206"/>
                  </a:lnTo>
                  <a:lnTo>
                    <a:pt x="1676" y="3475929"/>
                  </a:lnTo>
                  <a:lnTo>
                    <a:pt x="1009" y="3472557"/>
                  </a:lnTo>
                  <a:lnTo>
                    <a:pt x="333" y="3469185"/>
                  </a:lnTo>
                  <a:lnTo>
                    <a:pt x="0" y="3465776"/>
                  </a:lnTo>
                  <a:lnTo>
                    <a:pt x="0" y="3462337"/>
                  </a:lnTo>
                  <a:close/>
                </a:path>
              </a:pathLst>
            </a:custGeom>
            <a:ln w="9525">
              <a:solidFill>
                <a:srgbClr val="E1A8EF"/>
              </a:solidFill>
            </a:ln>
          </p:spPr>
          <p:txBody>
            <a:bodyPr wrap="square" lIns="0" tIns="0" rIns="0" bIns="0" rtlCol="0"/>
            <a:lstStyle/>
            <a:p>
              <a:endParaRPr/>
            </a:p>
          </p:txBody>
        </p:sp>
      </p:grpSp>
      <p:sp>
        <p:nvSpPr>
          <p:cNvPr id="14" name="object 14"/>
          <p:cNvSpPr txBox="1"/>
          <p:nvPr/>
        </p:nvSpPr>
        <p:spPr>
          <a:xfrm>
            <a:off x="5898197" y="1488095"/>
            <a:ext cx="1732788" cy="2713169"/>
          </a:xfrm>
          <a:prstGeom prst="rect">
            <a:avLst/>
          </a:prstGeom>
        </p:spPr>
        <p:txBody>
          <a:bodyPr vert="horz" wrap="square" lIns="0" tIns="9769" rIns="0" bIns="0" rtlCol="0">
            <a:spAutoFit/>
          </a:bodyPr>
          <a:lstStyle/>
          <a:p>
            <a:pPr marL="9769">
              <a:spcBef>
                <a:spcPts val="77"/>
              </a:spcBef>
            </a:pPr>
            <a:r>
              <a:rPr sz="1700" b="1" spc="-69" dirty="0" smtClean="0">
                <a:solidFill>
                  <a:srgbClr val="262525"/>
                </a:solidFill>
                <a:latin typeface="Trebuchet MS"/>
                <a:cs typeface="Trebuchet MS"/>
              </a:rPr>
              <a:t>Limitations</a:t>
            </a:r>
            <a:endParaRPr lang="en-US" sz="1700" b="1" spc="-69" dirty="0" smtClean="0">
              <a:solidFill>
                <a:srgbClr val="262525"/>
              </a:solidFill>
              <a:latin typeface="Trebuchet MS"/>
              <a:cs typeface="Trebuchet MS"/>
            </a:endParaRPr>
          </a:p>
          <a:p>
            <a:pPr marL="9769">
              <a:spcBef>
                <a:spcPts val="77"/>
              </a:spcBef>
            </a:pPr>
            <a:endParaRPr lang="en-US" sz="1700" b="1" spc="-69" dirty="0" smtClean="0">
              <a:solidFill>
                <a:srgbClr val="262525"/>
              </a:solidFill>
              <a:latin typeface="Trebuchet MS"/>
              <a:cs typeface="Trebuchet MS"/>
            </a:endParaRPr>
          </a:p>
          <a:p>
            <a:pPr marL="9769">
              <a:spcBef>
                <a:spcPts val="77"/>
              </a:spcBef>
            </a:pPr>
            <a:r>
              <a:rPr lang="en-US" dirty="0" smtClean="0"/>
              <a:t>Feedforward neural networks have limitations when it comes to dealing with complex and non-linear relationships in data. They also require a significant amount of data to function effectively</a:t>
            </a:r>
            <a:endParaRPr dirty="0">
              <a:latin typeface="Trebuchet MS"/>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4697730"/>
          </a:xfrm>
          <a:prstGeom prst="rect">
            <a:avLst/>
          </a:prstGeom>
        </p:spPr>
      </p:pic>
      <p:sp>
        <p:nvSpPr>
          <p:cNvPr id="3" name="object 3"/>
          <p:cNvSpPr/>
          <p:nvPr/>
        </p:nvSpPr>
        <p:spPr>
          <a:xfrm>
            <a:off x="0" y="-1"/>
            <a:ext cx="9144000" cy="4792717"/>
          </a:xfrm>
          <a:custGeom>
            <a:avLst/>
            <a:gdLst/>
            <a:ahLst/>
            <a:cxnLst/>
            <a:rect l="l" t="t" r="r" b="b"/>
            <a:pathLst>
              <a:path w="11430000" h="6524625">
                <a:moveTo>
                  <a:pt x="11430000" y="6524625"/>
                </a:moveTo>
                <a:lnTo>
                  <a:pt x="0" y="6524625"/>
                </a:lnTo>
                <a:lnTo>
                  <a:pt x="0" y="0"/>
                </a:lnTo>
                <a:lnTo>
                  <a:pt x="11430000" y="0"/>
                </a:lnTo>
                <a:lnTo>
                  <a:pt x="11430000" y="6524625"/>
                </a:lnTo>
                <a:close/>
              </a:path>
            </a:pathLst>
          </a:custGeom>
          <a:solidFill>
            <a:srgbClr val="FFFFFF">
              <a:alpha val="74899"/>
            </a:srgbClr>
          </a:solidFill>
        </p:spPr>
        <p:txBody>
          <a:bodyPr wrap="square" lIns="0" tIns="0" rIns="0" bIns="0" rtlCol="0"/>
          <a:lstStyle/>
          <a:p>
            <a:endParaRPr/>
          </a:p>
        </p:txBody>
      </p:sp>
      <p:sp>
        <p:nvSpPr>
          <p:cNvPr id="4" name="object 4"/>
          <p:cNvSpPr txBox="1">
            <a:spLocks noGrp="1"/>
          </p:cNvSpPr>
          <p:nvPr>
            <p:ph type="title"/>
          </p:nvPr>
        </p:nvSpPr>
        <p:spPr>
          <a:xfrm>
            <a:off x="1314801" y="160036"/>
            <a:ext cx="4236212" cy="441639"/>
          </a:xfrm>
          <a:prstGeom prst="rect">
            <a:avLst/>
          </a:prstGeom>
        </p:spPr>
        <p:txBody>
          <a:bodyPr vert="horz" wrap="square" lIns="0" tIns="13188" rIns="0" bIns="0" rtlCol="0">
            <a:spAutoFit/>
          </a:bodyPr>
          <a:lstStyle/>
          <a:p>
            <a:pPr marL="9769">
              <a:spcBef>
                <a:spcPts val="104"/>
              </a:spcBef>
            </a:pPr>
            <a:r>
              <a:rPr u="sng" spc="162" dirty="0" smtClean="0"/>
              <a:t>B</a:t>
            </a:r>
            <a:r>
              <a:rPr u="sng" spc="-185" dirty="0" smtClean="0"/>
              <a:t>a</a:t>
            </a:r>
            <a:r>
              <a:rPr u="sng" spc="-131" dirty="0" smtClean="0"/>
              <a:t>c</a:t>
            </a:r>
            <a:r>
              <a:rPr u="sng" spc="-112" dirty="0" smtClean="0"/>
              <a:t>k</a:t>
            </a:r>
            <a:r>
              <a:rPr u="sng" spc="-92" dirty="0" smtClean="0"/>
              <a:t>p</a:t>
            </a:r>
            <a:r>
              <a:rPr u="sng" spc="-131" dirty="0" smtClean="0"/>
              <a:t>r</a:t>
            </a:r>
            <a:r>
              <a:rPr u="sng" spc="-108" dirty="0" smtClean="0"/>
              <a:t>o</a:t>
            </a:r>
            <a:r>
              <a:rPr u="sng" spc="-92" dirty="0" smtClean="0"/>
              <a:t>p</a:t>
            </a:r>
            <a:r>
              <a:rPr u="sng" spc="-185" dirty="0" smtClean="0"/>
              <a:t>a</a:t>
            </a:r>
            <a:r>
              <a:rPr u="sng" spc="69" dirty="0" smtClean="0"/>
              <a:t>g</a:t>
            </a:r>
            <a:r>
              <a:rPr u="sng" spc="-185" dirty="0" smtClean="0"/>
              <a:t>a</a:t>
            </a:r>
            <a:r>
              <a:rPr u="sng" spc="-162" dirty="0" smtClean="0"/>
              <a:t>t</a:t>
            </a:r>
            <a:r>
              <a:rPr u="sng" spc="-127" dirty="0" smtClean="0"/>
              <a:t>i</a:t>
            </a:r>
            <a:r>
              <a:rPr u="sng" spc="-108" dirty="0" smtClean="0"/>
              <a:t>o</a:t>
            </a:r>
            <a:r>
              <a:rPr u="sng" spc="-104" dirty="0" smtClean="0"/>
              <a:t>n</a:t>
            </a:r>
            <a:r>
              <a:rPr u="sng" spc="-308" dirty="0" smtClean="0"/>
              <a:t> </a:t>
            </a:r>
            <a:r>
              <a:rPr u="sng" dirty="0"/>
              <a:t>A</a:t>
            </a:r>
            <a:r>
              <a:rPr u="sng" spc="-115" dirty="0"/>
              <a:t>l</a:t>
            </a:r>
            <a:r>
              <a:rPr u="sng" spc="69" dirty="0"/>
              <a:t>g</a:t>
            </a:r>
            <a:r>
              <a:rPr u="sng" spc="-108" dirty="0"/>
              <a:t>o</a:t>
            </a:r>
            <a:r>
              <a:rPr u="sng" spc="-131" dirty="0"/>
              <a:t>r</a:t>
            </a:r>
            <a:r>
              <a:rPr u="sng" spc="-127" dirty="0"/>
              <a:t>i</a:t>
            </a:r>
            <a:r>
              <a:rPr u="sng" spc="-162" dirty="0"/>
              <a:t>t</a:t>
            </a:r>
            <a:r>
              <a:rPr u="sng" spc="-176" dirty="0"/>
              <a:t>h</a:t>
            </a:r>
            <a:r>
              <a:rPr u="sng" spc="-146" dirty="0"/>
              <a:t>m</a:t>
            </a:r>
          </a:p>
        </p:txBody>
      </p:sp>
      <p:pic>
        <p:nvPicPr>
          <p:cNvPr id="5" name="object 5"/>
          <p:cNvPicPr/>
          <p:nvPr/>
        </p:nvPicPr>
        <p:blipFill>
          <a:blip r:embed="rId3" cstate="print"/>
          <a:stretch>
            <a:fillRect/>
          </a:stretch>
        </p:blipFill>
        <p:spPr>
          <a:xfrm>
            <a:off x="557048" y="830318"/>
            <a:ext cx="2459421" cy="1298422"/>
          </a:xfrm>
          <a:prstGeom prst="rect">
            <a:avLst/>
          </a:prstGeom>
        </p:spPr>
      </p:pic>
      <p:sp>
        <p:nvSpPr>
          <p:cNvPr id="6" name="object 6"/>
          <p:cNvSpPr txBox="1"/>
          <p:nvPr/>
        </p:nvSpPr>
        <p:spPr>
          <a:xfrm>
            <a:off x="915407" y="2285319"/>
            <a:ext cx="2030984" cy="2416588"/>
          </a:xfrm>
          <a:prstGeom prst="rect">
            <a:avLst/>
          </a:prstGeom>
        </p:spPr>
        <p:txBody>
          <a:bodyPr vert="horz" wrap="square" lIns="0" tIns="8792" rIns="0" bIns="0" rtlCol="0">
            <a:spAutoFit/>
          </a:bodyPr>
          <a:lstStyle/>
          <a:p>
            <a:pPr marL="9769">
              <a:spcBef>
                <a:spcPts val="69"/>
              </a:spcBef>
            </a:pPr>
            <a:r>
              <a:rPr b="1" spc="15" dirty="0">
                <a:latin typeface="Trebuchet MS"/>
                <a:cs typeface="Trebuchet MS"/>
              </a:rPr>
              <a:t>W</a:t>
            </a:r>
            <a:r>
              <a:rPr b="1" spc="-104" dirty="0">
                <a:latin typeface="Trebuchet MS"/>
                <a:cs typeface="Trebuchet MS"/>
              </a:rPr>
              <a:t>h</a:t>
            </a:r>
            <a:r>
              <a:rPr b="1" spc="-77" dirty="0">
                <a:latin typeface="Trebuchet MS"/>
                <a:cs typeface="Trebuchet MS"/>
              </a:rPr>
              <a:t>a</a:t>
            </a:r>
            <a:r>
              <a:rPr b="1" spc="-73" dirty="0">
                <a:latin typeface="Trebuchet MS"/>
                <a:cs typeface="Trebuchet MS"/>
              </a:rPr>
              <a:t>t</a:t>
            </a:r>
            <a:r>
              <a:rPr b="1" spc="-146" dirty="0">
                <a:latin typeface="Trebuchet MS"/>
                <a:cs typeface="Trebuchet MS"/>
              </a:rPr>
              <a:t> </a:t>
            </a:r>
            <a:r>
              <a:rPr b="1" spc="-42" dirty="0">
                <a:latin typeface="Trebuchet MS"/>
                <a:cs typeface="Trebuchet MS"/>
              </a:rPr>
              <a:t>i</a:t>
            </a:r>
            <a:r>
              <a:rPr b="1" spc="23" dirty="0">
                <a:latin typeface="Trebuchet MS"/>
                <a:cs typeface="Trebuchet MS"/>
              </a:rPr>
              <a:t>s</a:t>
            </a:r>
            <a:r>
              <a:rPr b="1" spc="-115" dirty="0">
                <a:latin typeface="Trebuchet MS"/>
                <a:cs typeface="Trebuchet MS"/>
              </a:rPr>
              <a:t> </a:t>
            </a:r>
            <a:r>
              <a:rPr b="1" spc="69" dirty="0">
                <a:latin typeface="Trebuchet MS"/>
                <a:cs typeface="Trebuchet MS"/>
              </a:rPr>
              <a:t>B</a:t>
            </a:r>
            <a:r>
              <a:rPr b="1" spc="-77" dirty="0">
                <a:latin typeface="Trebuchet MS"/>
                <a:cs typeface="Trebuchet MS"/>
              </a:rPr>
              <a:t>a</a:t>
            </a:r>
            <a:r>
              <a:rPr b="1" spc="-104" dirty="0">
                <a:latin typeface="Trebuchet MS"/>
                <a:cs typeface="Trebuchet MS"/>
              </a:rPr>
              <a:t>c</a:t>
            </a:r>
            <a:r>
              <a:rPr b="1" spc="-96" dirty="0">
                <a:latin typeface="Trebuchet MS"/>
                <a:cs typeface="Trebuchet MS"/>
              </a:rPr>
              <a:t>k</a:t>
            </a:r>
            <a:r>
              <a:rPr b="1" spc="-88" dirty="0">
                <a:latin typeface="Trebuchet MS"/>
                <a:cs typeface="Trebuchet MS"/>
              </a:rPr>
              <a:t>p</a:t>
            </a:r>
            <a:r>
              <a:rPr b="1" spc="-46" dirty="0">
                <a:latin typeface="Trebuchet MS"/>
                <a:cs typeface="Trebuchet MS"/>
              </a:rPr>
              <a:t>r</a:t>
            </a:r>
            <a:r>
              <a:rPr b="1" spc="-62" dirty="0">
                <a:latin typeface="Trebuchet MS"/>
                <a:cs typeface="Trebuchet MS"/>
              </a:rPr>
              <a:t>o</a:t>
            </a:r>
            <a:r>
              <a:rPr b="1" spc="-88" dirty="0">
                <a:latin typeface="Trebuchet MS"/>
                <a:cs typeface="Trebuchet MS"/>
              </a:rPr>
              <a:t>p</a:t>
            </a:r>
            <a:r>
              <a:rPr b="1" spc="-77" dirty="0">
                <a:latin typeface="Trebuchet MS"/>
                <a:cs typeface="Trebuchet MS"/>
              </a:rPr>
              <a:t>a</a:t>
            </a:r>
            <a:r>
              <a:rPr b="1" spc="23" dirty="0">
                <a:latin typeface="Trebuchet MS"/>
                <a:cs typeface="Trebuchet MS"/>
              </a:rPr>
              <a:t>g</a:t>
            </a:r>
            <a:r>
              <a:rPr b="1" spc="-77" dirty="0">
                <a:latin typeface="Trebuchet MS"/>
                <a:cs typeface="Trebuchet MS"/>
              </a:rPr>
              <a:t>a</a:t>
            </a:r>
            <a:r>
              <a:rPr b="1" spc="-119" dirty="0">
                <a:latin typeface="Trebuchet MS"/>
                <a:cs typeface="Trebuchet MS"/>
              </a:rPr>
              <a:t>t</a:t>
            </a:r>
            <a:r>
              <a:rPr b="1" spc="-42" dirty="0">
                <a:latin typeface="Trebuchet MS"/>
                <a:cs typeface="Trebuchet MS"/>
              </a:rPr>
              <a:t>i</a:t>
            </a:r>
            <a:r>
              <a:rPr b="1" spc="-62" dirty="0">
                <a:latin typeface="Trebuchet MS"/>
                <a:cs typeface="Trebuchet MS"/>
              </a:rPr>
              <a:t>o</a:t>
            </a:r>
            <a:r>
              <a:rPr b="1" spc="-100" dirty="0">
                <a:latin typeface="Trebuchet MS"/>
                <a:cs typeface="Trebuchet MS"/>
              </a:rPr>
              <a:t>n</a:t>
            </a:r>
            <a:r>
              <a:rPr b="1" spc="77" dirty="0">
                <a:latin typeface="Trebuchet MS"/>
                <a:cs typeface="Trebuchet MS"/>
              </a:rPr>
              <a:t>?</a:t>
            </a:r>
            <a:endParaRPr dirty="0">
              <a:latin typeface="Trebuchet MS"/>
              <a:cs typeface="Trebuchet MS"/>
            </a:endParaRPr>
          </a:p>
          <a:p>
            <a:pPr marL="9769" marR="87920">
              <a:lnSpc>
                <a:spcPct val="136200"/>
              </a:lnSpc>
              <a:spcBef>
                <a:spcPts val="1065"/>
              </a:spcBef>
            </a:pPr>
            <a:r>
              <a:rPr lang="en-US" dirty="0" smtClean="0"/>
              <a:t>Backpropagation is an algorithm used to train artificial neural networks by adjusting the weights and biases of the connections between neurons</a:t>
            </a:r>
            <a:r>
              <a:rPr lang="en-US" sz="1100" dirty="0" smtClean="0"/>
              <a:t>.</a:t>
            </a:r>
            <a:endParaRPr sz="1100" dirty="0">
              <a:latin typeface="Verdana"/>
              <a:cs typeface="Verdana"/>
            </a:endParaRPr>
          </a:p>
        </p:txBody>
      </p:sp>
      <p:pic>
        <p:nvPicPr>
          <p:cNvPr id="7" name="object 7"/>
          <p:cNvPicPr/>
          <p:nvPr/>
        </p:nvPicPr>
        <p:blipFill>
          <a:blip r:embed="rId4" cstate="print"/>
          <a:stretch>
            <a:fillRect/>
          </a:stretch>
        </p:blipFill>
        <p:spPr>
          <a:xfrm>
            <a:off x="3478924" y="798786"/>
            <a:ext cx="2501461" cy="1393015"/>
          </a:xfrm>
          <a:prstGeom prst="rect">
            <a:avLst/>
          </a:prstGeom>
        </p:spPr>
      </p:pic>
      <p:sp>
        <p:nvSpPr>
          <p:cNvPr id="8" name="object 8"/>
          <p:cNvSpPr txBox="1"/>
          <p:nvPr/>
        </p:nvSpPr>
        <p:spPr>
          <a:xfrm>
            <a:off x="3594538" y="2306340"/>
            <a:ext cx="2304873" cy="2370763"/>
          </a:xfrm>
          <a:prstGeom prst="rect">
            <a:avLst/>
          </a:prstGeom>
        </p:spPr>
        <p:txBody>
          <a:bodyPr vert="horz" wrap="square" lIns="0" tIns="8792" rIns="0" bIns="0" rtlCol="0">
            <a:spAutoFit/>
          </a:bodyPr>
          <a:lstStyle/>
          <a:p>
            <a:pPr marL="9769">
              <a:spcBef>
                <a:spcPts val="69"/>
              </a:spcBef>
            </a:pPr>
            <a:r>
              <a:rPr b="1" dirty="0">
                <a:latin typeface="Trebuchet MS"/>
                <a:cs typeface="Trebuchet MS"/>
              </a:rPr>
              <a:t>H</a:t>
            </a:r>
            <a:r>
              <a:rPr b="1" spc="-62" dirty="0">
                <a:latin typeface="Trebuchet MS"/>
                <a:cs typeface="Trebuchet MS"/>
              </a:rPr>
              <a:t>o</a:t>
            </a:r>
            <a:r>
              <a:rPr b="1" spc="-88" dirty="0">
                <a:latin typeface="Trebuchet MS"/>
                <a:cs typeface="Trebuchet MS"/>
              </a:rPr>
              <a:t>w</a:t>
            </a:r>
            <a:r>
              <a:rPr b="1" spc="-146" dirty="0">
                <a:latin typeface="Trebuchet MS"/>
                <a:cs typeface="Trebuchet MS"/>
              </a:rPr>
              <a:t> </a:t>
            </a:r>
            <a:r>
              <a:rPr b="1" spc="-42" dirty="0">
                <a:latin typeface="Trebuchet MS"/>
                <a:cs typeface="Trebuchet MS"/>
              </a:rPr>
              <a:t>i</a:t>
            </a:r>
            <a:r>
              <a:rPr b="1" spc="-73" dirty="0">
                <a:latin typeface="Trebuchet MS"/>
                <a:cs typeface="Trebuchet MS"/>
              </a:rPr>
              <a:t>t</a:t>
            </a:r>
            <a:r>
              <a:rPr b="1" spc="-146" dirty="0">
                <a:latin typeface="Trebuchet MS"/>
                <a:cs typeface="Trebuchet MS"/>
              </a:rPr>
              <a:t> </a:t>
            </a:r>
            <a:r>
              <a:rPr b="1" spc="-100" dirty="0" smtClean="0">
                <a:latin typeface="Trebuchet MS"/>
                <a:cs typeface="Trebuchet MS"/>
              </a:rPr>
              <a:t>W</a:t>
            </a:r>
            <a:r>
              <a:rPr b="1" spc="-62" dirty="0" smtClean="0">
                <a:latin typeface="Trebuchet MS"/>
                <a:cs typeface="Trebuchet MS"/>
              </a:rPr>
              <a:t>o</a:t>
            </a:r>
            <a:r>
              <a:rPr b="1" spc="-46" dirty="0" smtClean="0">
                <a:latin typeface="Trebuchet MS"/>
                <a:cs typeface="Trebuchet MS"/>
              </a:rPr>
              <a:t>r</a:t>
            </a:r>
            <a:r>
              <a:rPr b="1" spc="-96" dirty="0" smtClean="0">
                <a:latin typeface="Trebuchet MS"/>
                <a:cs typeface="Trebuchet MS"/>
              </a:rPr>
              <a:t>k</a:t>
            </a:r>
            <a:r>
              <a:rPr b="1" spc="23" dirty="0" smtClean="0">
                <a:latin typeface="Trebuchet MS"/>
                <a:cs typeface="Trebuchet MS"/>
              </a:rPr>
              <a:t>s</a:t>
            </a:r>
            <a:endParaRPr lang="en-US" b="1" spc="23" dirty="0" smtClean="0">
              <a:latin typeface="Trebuchet MS"/>
              <a:cs typeface="Trebuchet MS"/>
            </a:endParaRPr>
          </a:p>
          <a:p>
            <a:pPr marL="9769">
              <a:spcBef>
                <a:spcPts val="69"/>
              </a:spcBef>
            </a:pPr>
            <a:r>
              <a:rPr lang="en-US" dirty="0" smtClean="0"/>
              <a:t>The backpropagation algorithm works by calculating the error between the predicted output and the actual output and then adjusting the weights and biases of the connections to reduce the error. This process is repeated for each input in the training set.</a:t>
            </a:r>
            <a:endParaRPr dirty="0">
              <a:latin typeface="Trebuchet MS"/>
              <a:cs typeface="Trebuchet MS"/>
            </a:endParaRPr>
          </a:p>
        </p:txBody>
      </p:sp>
      <p:pic>
        <p:nvPicPr>
          <p:cNvPr id="9" name="object 9"/>
          <p:cNvPicPr/>
          <p:nvPr/>
        </p:nvPicPr>
        <p:blipFill>
          <a:blip r:embed="rId5" cstate="print"/>
          <a:stretch>
            <a:fillRect/>
          </a:stretch>
        </p:blipFill>
        <p:spPr>
          <a:xfrm>
            <a:off x="6552675" y="814842"/>
            <a:ext cx="2026919" cy="1124711"/>
          </a:xfrm>
          <a:prstGeom prst="rect">
            <a:avLst/>
          </a:prstGeom>
        </p:spPr>
      </p:pic>
      <p:sp>
        <p:nvSpPr>
          <p:cNvPr id="10" name="object 10"/>
          <p:cNvSpPr txBox="1"/>
          <p:nvPr/>
        </p:nvSpPr>
        <p:spPr>
          <a:xfrm>
            <a:off x="6602719" y="2264299"/>
            <a:ext cx="1935988" cy="1960694"/>
          </a:xfrm>
          <a:prstGeom prst="rect">
            <a:avLst/>
          </a:prstGeom>
        </p:spPr>
        <p:txBody>
          <a:bodyPr vert="horz" wrap="square" lIns="0" tIns="8792" rIns="0" bIns="0" rtlCol="0">
            <a:spAutoFit/>
          </a:bodyPr>
          <a:lstStyle/>
          <a:p>
            <a:pPr marL="9769">
              <a:spcBef>
                <a:spcPts val="69"/>
              </a:spcBef>
            </a:pPr>
            <a:r>
              <a:rPr b="1" spc="-12" dirty="0">
                <a:latin typeface="Trebuchet MS"/>
                <a:cs typeface="Trebuchet MS"/>
              </a:rPr>
              <a:t>C</a:t>
            </a:r>
            <a:r>
              <a:rPr b="1" spc="-62" dirty="0">
                <a:latin typeface="Trebuchet MS"/>
                <a:cs typeface="Trebuchet MS"/>
              </a:rPr>
              <a:t>o</a:t>
            </a:r>
            <a:r>
              <a:rPr b="1" spc="8" dirty="0">
                <a:latin typeface="Trebuchet MS"/>
                <a:cs typeface="Trebuchet MS"/>
              </a:rPr>
              <a:t>s</a:t>
            </a:r>
            <a:r>
              <a:rPr b="1" spc="-73" dirty="0">
                <a:latin typeface="Trebuchet MS"/>
                <a:cs typeface="Trebuchet MS"/>
              </a:rPr>
              <a:t>t</a:t>
            </a:r>
            <a:r>
              <a:rPr b="1" spc="-146" dirty="0">
                <a:latin typeface="Trebuchet MS"/>
                <a:cs typeface="Trebuchet MS"/>
              </a:rPr>
              <a:t> </a:t>
            </a:r>
            <a:r>
              <a:rPr b="1" spc="-146" dirty="0" smtClean="0">
                <a:latin typeface="Trebuchet MS"/>
                <a:cs typeface="Trebuchet MS"/>
              </a:rPr>
              <a:t>F</a:t>
            </a:r>
            <a:r>
              <a:rPr b="1" spc="-100" dirty="0" smtClean="0">
                <a:latin typeface="Trebuchet MS"/>
                <a:cs typeface="Trebuchet MS"/>
              </a:rPr>
              <a:t>un</a:t>
            </a:r>
            <a:r>
              <a:rPr b="1" spc="-104" dirty="0" smtClean="0">
                <a:latin typeface="Trebuchet MS"/>
                <a:cs typeface="Trebuchet MS"/>
              </a:rPr>
              <a:t>c</a:t>
            </a:r>
            <a:r>
              <a:rPr b="1" spc="-119" dirty="0" smtClean="0">
                <a:latin typeface="Trebuchet MS"/>
                <a:cs typeface="Trebuchet MS"/>
              </a:rPr>
              <a:t>t</a:t>
            </a:r>
            <a:r>
              <a:rPr b="1" spc="-42" dirty="0" smtClean="0">
                <a:latin typeface="Trebuchet MS"/>
                <a:cs typeface="Trebuchet MS"/>
              </a:rPr>
              <a:t>i</a:t>
            </a:r>
            <a:r>
              <a:rPr b="1" spc="-62" dirty="0" smtClean="0">
                <a:latin typeface="Trebuchet MS"/>
                <a:cs typeface="Trebuchet MS"/>
              </a:rPr>
              <a:t>o</a:t>
            </a:r>
            <a:r>
              <a:rPr b="1" spc="-65" dirty="0" smtClean="0">
                <a:latin typeface="Trebuchet MS"/>
                <a:cs typeface="Trebuchet MS"/>
              </a:rPr>
              <a:t>n</a:t>
            </a:r>
            <a:endParaRPr lang="en-US" b="1" spc="-65" dirty="0" smtClean="0">
              <a:latin typeface="Trebuchet MS"/>
              <a:cs typeface="Trebuchet MS"/>
            </a:endParaRPr>
          </a:p>
          <a:p>
            <a:pPr marL="9769">
              <a:spcBef>
                <a:spcPts val="69"/>
              </a:spcBef>
            </a:pPr>
            <a:r>
              <a:rPr lang="en-US" dirty="0" smtClean="0"/>
              <a:t>The cost function is used to measure how well the neural network is performing. The goal is to minimize the cost function by adjusting the weights and biases of the network</a:t>
            </a:r>
            <a:endParaRPr dirty="0">
              <a:latin typeface="Trebuchet MS"/>
              <a:cs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36642"/>
          </a:xfrm>
          <a:prstGeom prst="rect">
            <a:avLst/>
          </a:prstGeom>
        </p:spPr>
      </p:pic>
      <p:sp>
        <p:nvSpPr>
          <p:cNvPr id="3" name="object 3"/>
          <p:cNvSpPr/>
          <p:nvPr/>
        </p:nvSpPr>
        <p:spPr>
          <a:xfrm>
            <a:off x="0" y="10510"/>
            <a:ext cx="9144000" cy="5136642"/>
          </a:xfrm>
          <a:custGeom>
            <a:avLst/>
            <a:gdLst/>
            <a:ahLst/>
            <a:cxnLst/>
            <a:rect l="l" t="t" r="r" b="b"/>
            <a:pathLst>
              <a:path w="11430000" h="7134225">
                <a:moveTo>
                  <a:pt x="11430000" y="7134225"/>
                </a:moveTo>
                <a:lnTo>
                  <a:pt x="0" y="7134225"/>
                </a:lnTo>
                <a:lnTo>
                  <a:pt x="0" y="0"/>
                </a:lnTo>
                <a:lnTo>
                  <a:pt x="11430000" y="0"/>
                </a:lnTo>
                <a:lnTo>
                  <a:pt x="11430000" y="7134225"/>
                </a:lnTo>
                <a:close/>
              </a:path>
            </a:pathLst>
          </a:custGeom>
          <a:solidFill>
            <a:srgbClr val="FFFFFF">
              <a:alpha val="74899"/>
            </a:srgbClr>
          </a:solidFill>
        </p:spPr>
        <p:txBody>
          <a:bodyPr wrap="square" lIns="0" tIns="0" rIns="0" bIns="0" rtlCol="0"/>
          <a:lstStyle/>
          <a:p>
            <a:endParaRPr/>
          </a:p>
        </p:txBody>
      </p:sp>
      <p:sp>
        <p:nvSpPr>
          <p:cNvPr id="4" name="object 4"/>
          <p:cNvSpPr txBox="1">
            <a:spLocks noGrp="1"/>
          </p:cNvSpPr>
          <p:nvPr>
            <p:ph type="title"/>
          </p:nvPr>
        </p:nvSpPr>
        <p:spPr>
          <a:xfrm>
            <a:off x="1051034" y="328202"/>
            <a:ext cx="4614436" cy="457028"/>
          </a:xfrm>
          <a:prstGeom prst="rect">
            <a:avLst/>
          </a:prstGeom>
        </p:spPr>
        <p:txBody>
          <a:bodyPr vert="horz" wrap="square" lIns="0" tIns="13188" rIns="0" bIns="0" rtlCol="0">
            <a:spAutoFit/>
          </a:bodyPr>
          <a:lstStyle/>
          <a:p>
            <a:pPr marL="9769">
              <a:spcBef>
                <a:spcPts val="104"/>
              </a:spcBef>
            </a:pPr>
            <a:r>
              <a:rPr lang="en-US" sz="2800" u="sng" dirty="0" smtClean="0">
                <a:latin typeface="Bell MT" pitchFamily="18" charset="0"/>
              </a:rPr>
              <a:t>Training the Neural Network</a:t>
            </a:r>
            <a:endParaRPr sz="2800" u="sng" spc="-85" dirty="0">
              <a:latin typeface="Bell MT" pitchFamily="18" charset="0"/>
            </a:endParaRPr>
          </a:p>
        </p:txBody>
      </p:sp>
      <p:grpSp>
        <p:nvGrpSpPr>
          <p:cNvPr id="5" name="object 5"/>
          <p:cNvGrpSpPr/>
          <p:nvPr/>
        </p:nvGrpSpPr>
        <p:grpSpPr>
          <a:xfrm>
            <a:off x="1318260" y="2860225"/>
            <a:ext cx="6515100" cy="610362"/>
            <a:chOff x="1647825" y="3972534"/>
            <a:chExt cx="8143875" cy="847725"/>
          </a:xfrm>
        </p:grpSpPr>
        <p:sp>
          <p:nvSpPr>
            <p:cNvPr id="6" name="object 6"/>
            <p:cNvSpPr/>
            <p:nvPr/>
          </p:nvSpPr>
          <p:spPr>
            <a:xfrm>
              <a:off x="1647825" y="4181474"/>
              <a:ext cx="8143875" cy="638810"/>
            </a:xfrm>
            <a:custGeom>
              <a:avLst/>
              <a:gdLst/>
              <a:ahLst/>
              <a:cxnLst/>
              <a:rect l="l" t="t" r="r" b="b"/>
              <a:pathLst>
                <a:path w="8143875" h="638810">
                  <a:moveTo>
                    <a:pt x="8143875" y="0"/>
                  </a:moveTo>
                  <a:lnTo>
                    <a:pt x="0" y="0"/>
                  </a:lnTo>
                  <a:lnTo>
                    <a:pt x="0" y="38100"/>
                  </a:lnTo>
                  <a:lnTo>
                    <a:pt x="1963039" y="38100"/>
                  </a:lnTo>
                  <a:lnTo>
                    <a:pt x="1963039" y="638771"/>
                  </a:lnTo>
                  <a:lnTo>
                    <a:pt x="2001139" y="638771"/>
                  </a:lnTo>
                  <a:lnTo>
                    <a:pt x="2001139" y="38100"/>
                  </a:lnTo>
                  <a:lnTo>
                    <a:pt x="8143875" y="38100"/>
                  </a:lnTo>
                  <a:lnTo>
                    <a:pt x="8143875" y="0"/>
                  </a:lnTo>
                  <a:close/>
                </a:path>
              </a:pathLst>
            </a:custGeom>
            <a:solidFill>
              <a:srgbClr val="E1A8EF"/>
            </a:solidFill>
          </p:spPr>
          <p:txBody>
            <a:bodyPr wrap="square" lIns="0" tIns="0" rIns="0" bIns="0" rtlCol="0"/>
            <a:lstStyle/>
            <a:p>
              <a:endParaRPr/>
            </a:p>
          </p:txBody>
        </p:sp>
        <p:sp>
          <p:nvSpPr>
            <p:cNvPr id="7" name="object 7"/>
            <p:cNvSpPr/>
            <p:nvPr/>
          </p:nvSpPr>
          <p:spPr>
            <a:xfrm>
              <a:off x="3433762" y="3977297"/>
              <a:ext cx="400050" cy="400050"/>
            </a:xfrm>
            <a:custGeom>
              <a:avLst/>
              <a:gdLst/>
              <a:ahLst/>
              <a:cxnLst/>
              <a:rect l="l" t="t" r="r" b="b"/>
              <a:pathLst>
                <a:path w="400050" h="400050">
                  <a:moveTo>
                    <a:pt x="351101" y="400050"/>
                  </a:moveTo>
                  <a:lnTo>
                    <a:pt x="48947" y="400050"/>
                  </a:lnTo>
                  <a:lnTo>
                    <a:pt x="45540" y="399714"/>
                  </a:lnTo>
                  <a:lnTo>
                    <a:pt x="10739" y="379627"/>
                  </a:lnTo>
                  <a:lnTo>
                    <a:pt x="0" y="351101"/>
                  </a:lnTo>
                  <a:lnTo>
                    <a:pt x="0" y="347662"/>
                  </a:lnTo>
                  <a:lnTo>
                    <a:pt x="0" y="48947"/>
                  </a:lnTo>
                  <a:lnTo>
                    <a:pt x="17776" y="12911"/>
                  </a:lnTo>
                  <a:lnTo>
                    <a:pt x="48947" y="0"/>
                  </a:lnTo>
                  <a:lnTo>
                    <a:pt x="351101" y="0"/>
                  </a:lnTo>
                  <a:lnTo>
                    <a:pt x="387137" y="17776"/>
                  </a:lnTo>
                  <a:lnTo>
                    <a:pt x="400050" y="48947"/>
                  </a:lnTo>
                  <a:lnTo>
                    <a:pt x="400050" y="351101"/>
                  </a:lnTo>
                  <a:lnTo>
                    <a:pt x="382273" y="387137"/>
                  </a:lnTo>
                  <a:lnTo>
                    <a:pt x="354509" y="399714"/>
                  </a:lnTo>
                  <a:lnTo>
                    <a:pt x="351101" y="400050"/>
                  </a:lnTo>
                  <a:close/>
                </a:path>
              </a:pathLst>
            </a:custGeom>
            <a:solidFill>
              <a:srgbClr val="F0D4F6"/>
            </a:solidFill>
          </p:spPr>
          <p:txBody>
            <a:bodyPr wrap="square" lIns="0" tIns="0" rIns="0" bIns="0" rtlCol="0"/>
            <a:lstStyle/>
            <a:p>
              <a:endParaRPr/>
            </a:p>
          </p:txBody>
        </p:sp>
        <p:sp>
          <p:nvSpPr>
            <p:cNvPr id="8" name="object 8"/>
            <p:cNvSpPr/>
            <p:nvPr/>
          </p:nvSpPr>
          <p:spPr>
            <a:xfrm>
              <a:off x="3433762" y="3977297"/>
              <a:ext cx="400050" cy="400050"/>
            </a:xfrm>
            <a:custGeom>
              <a:avLst/>
              <a:gdLst/>
              <a:ahLst/>
              <a:cxnLst/>
              <a:rect l="l" t="t" r="r" b="b"/>
              <a:pathLst>
                <a:path w="400050" h="400050">
                  <a:moveTo>
                    <a:pt x="0" y="347662"/>
                  </a:moveTo>
                  <a:lnTo>
                    <a:pt x="0" y="52387"/>
                  </a:lnTo>
                  <a:lnTo>
                    <a:pt x="0" y="48947"/>
                  </a:lnTo>
                  <a:lnTo>
                    <a:pt x="335" y="45540"/>
                  </a:lnTo>
                  <a:lnTo>
                    <a:pt x="8828" y="23282"/>
                  </a:lnTo>
                  <a:lnTo>
                    <a:pt x="10739" y="20422"/>
                  </a:lnTo>
                  <a:lnTo>
                    <a:pt x="23282" y="8828"/>
                  </a:lnTo>
                  <a:lnTo>
                    <a:pt x="26142" y="6917"/>
                  </a:lnTo>
                  <a:lnTo>
                    <a:pt x="48947" y="0"/>
                  </a:lnTo>
                  <a:lnTo>
                    <a:pt x="52387" y="0"/>
                  </a:lnTo>
                  <a:lnTo>
                    <a:pt x="347662" y="0"/>
                  </a:lnTo>
                  <a:lnTo>
                    <a:pt x="351101" y="0"/>
                  </a:lnTo>
                  <a:lnTo>
                    <a:pt x="354509" y="335"/>
                  </a:lnTo>
                  <a:lnTo>
                    <a:pt x="376767" y="8828"/>
                  </a:lnTo>
                  <a:lnTo>
                    <a:pt x="379627" y="10739"/>
                  </a:lnTo>
                  <a:lnTo>
                    <a:pt x="399043" y="42167"/>
                  </a:lnTo>
                  <a:lnTo>
                    <a:pt x="399714" y="45540"/>
                  </a:lnTo>
                  <a:lnTo>
                    <a:pt x="400050" y="48947"/>
                  </a:lnTo>
                  <a:lnTo>
                    <a:pt x="400050" y="52387"/>
                  </a:lnTo>
                  <a:lnTo>
                    <a:pt x="400050" y="347662"/>
                  </a:lnTo>
                  <a:lnTo>
                    <a:pt x="400050" y="351101"/>
                  </a:lnTo>
                  <a:lnTo>
                    <a:pt x="399714" y="354509"/>
                  </a:lnTo>
                  <a:lnTo>
                    <a:pt x="399043" y="357882"/>
                  </a:lnTo>
                  <a:lnTo>
                    <a:pt x="398372" y="361256"/>
                  </a:lnTo>
                  <a:lnTo>
                    <a:pt x="373907" y="393131"/>
                  </a:lnTo>
                  <a:lnTo>
                    <a:pt x="357882" y="399043"/>
                  </a:lnTo>
                  <a:lnTo>
                    <a:pt x="354509" y="399714"/>
                  </a:lnTo>
                  <a:lnTo>
                    <a:pt x="351101" y="400050"/>
                  </a:lnTo>
                  <a:lnTo>
                    <a:pt x="347662" y="400050"/>
                  </a:lnTo>
                  <a:lnTo>
                    <a:pt x="52387" y="400050"/>
                  </a:lnTo>
                  <a:lnTo>
                    <a:pt x="48947" y="400050"/>
                  </a:lnTo>
                  <a:lnTo>
                    <a:pt x="45540" y="399714"/>
                  </a:lnTo>
                  <a:lnTo>
                    <a:pt x="42167" y="399043"/>
                  </a:lnTo>
                  <a:lnTo>
                    <a:pt x="38793" y="398372"/>
                  </a:lnTo>
                  <a:lnTo>
                    <a:pt x="8828" y="376767"/>
                  </a:lnTo>
                  <a:lnTo>
                    <a:pt x="6917" y="373907"/>
                  </a:lnTo>
                  <a:lnTo>
                    <a:pt x="1006" y="357882"/>
                  </a:lnTo>
                  <a:lnTo>
                    <a:pt x="335" y="354509"/>
                  </a:lnTo>
                  <a:lnTo>
                    <a:pt x="0" y="351101"/>
                  </a:lnTo>
                  <a:lnTo>
                    <a:pt x="0" y="347662"/>
                  </a:lnTo>
                  <a:close/>
                </a:path>
              </a:pathLst>
            </a:custGeom>
            <a:ln w="9525">
              <a:solidFill>
                <a:srgbClr val="E1A8EF"/>
              </a:solidFill>
            </a:ln>
          </p:spPr>
          <p:txBody>
            <a:bodyPr wrap="square" lIns="0" tIns="0" rIns="0" bIns="0" rtlCol="0"/>
            <a:lstStyle/>
            <a:p>
              <a:endParaRPr/>
            </a:p>
          </p:txBody>
        </p:sp>
      </p:grpSp>
      <p:sp>
        <p:nvSpPr>
          <p:cNvPr id="9" name="object 9"/>
          <p:cNvSpPr txBox="1"/>
          <p:nvPr/>
        </p:nvSpPr>
        <p:spPr>
          <a:xfrm>
            <a:off x="2834005" y="2860134"/>
            <a:ext cx="144780" cy="271474"/>
          </a:xfrm>
          <a:prstGeom prst="rect">
            <a:avLst/>
          </a:prstGeom>
        </p:spPr>
        <p:txBody>
          <a:bodyPr vert="horz" wrap="square" lIns="0" tIns="9769" rIns="0" bIns="0" rtlCol="0">
            <a:spAutoFit/>
          </a:bodyPr>
          <a:lstStyle/>
          <a:p>
            <a:pPr marL="9769">
              <a:spcBef>
                <a:spcPts val="77"/>
              </a:spcBef>
            </a:pPr>
            <a:r>
              <a:rPr sz="1700" b="1" spc="-31" dirty="0">
                <a:solidFill>
                  <a:srgbClr val="262525"/>
                </a:solidFill>
                <a:latin typeface="Trebuchet MS"/>
                <a:cs typeface="Trebuchet MS"/>
              </a:rPr>
              <a:t>1</a:t>
            </a:r>
            <a:endParaRPr sz="1700" dirty="0">
              <a:latin typeface="Trebuchet MS"/>
              <a:cs typeface="Trebuchet MS"/>
            </a:endParaRPr>
          </a:p>
        </p:txBody>
      </p:sp>
      <p:sp>
        <p:nvSpPr>
          <p:cNvPr id="10" name="object 10"/>
          <p:cNvSpPr txBox="1"/>
          <p:nvPr/>
        </p:nvSpPr>
        <p:spPr>
          <a:xfrm>
            <a:off x="1450023" y="3571418"/>
            <a:ext cx="2904743" cy="1524999"/>
          </a:xfrm>
          <a:prstGeom prst="rect">
            <a:avLst/>
          </a:prstGeom>
        </p:spPr>
        <p:txBody>
          <a:bodyPr vert="horz" wrap="square" lIns="0" tIns="8792" rIns="0" bIns="0" rtlCol="0">
            <a:spAutoFit/>
          </a:bodyPr>
          <a:lstStyle/>
          <a:p>
            <a:pPr marL="10257" algn="ctr">
              <a:spcBef>
                <a:spcPts val="69"/>
              </a:spcBef>
            </a:pPr>
            <a:r>
              <a:rPr b="1" spc="119" dirty="0">
                <a:solidFill>
                  <a:srgbClr val="262525"/>
                </a:solidFill>
                <a:latin typeface="Trebuchet MS"/>
                <a:cs typeface="Trebuchet MS"/>
              </a:rPr>
              <a:t>D</a:t>
            </a:r>
            <a:r>
              <a:rPr b="1" spc="-77" dirty="0">
                <a:solidFill>
                  <a:srgbClr val="262525"/>
                </a:solidFill>
                <a:latin typeface="Trebuchet MS"/>
                <a:cs typeface="Trebuchet MS"/>
              </a:rPr>
              <a:t>a</a:t>
            </a:r>
            <a:r>
              <a:rPr b="1" spc="-119" dirty="0">
                <a:solidFill>
                  <a:srgbClr val="262525"/>
                </a:solidFill>
                <a:latin typeface="Trebuchet MS"/>
                <a:cs typeface="Trebuchet MS"/>
              </a:rPr>
              <a:t>t</a:t>
            </a:r>
            <a:r>
              <a:rPr b="1" spc="-81" dirty="0">
                <a:solidFill>
                  <a:srgbClr val="262525"/>
                </a:solidFill>
                <a:latin typeface="Trebuchet MS"/>
                <a:cs typeface="Trebuchet MS"/>
              </a:rPr>
              <a:t>a</a:t>
            </a:r>
            <a:r>
              <a:rPr b="1" spc="-96" dirty="0">
                <a:solidFill>
                  <a:srgbClr val="262525"/>
                </a:solidFill>
                <a:latin typeface="Trebuchet MS"/>
                <a:cs typeface="Trebuchet MS"/>
              </a:rPr>
              <a:t> </a:t>
            </a:r>
            <a:r>
              <a:rPr b="1" spc="23" dirty="0">
                <a:solidFill>
                  <a:srgbClr val="262525"/>
                </a:solidFill>
                <a:latin typeface="Trebuchet MS"/>
                <a:cs typeface="Trebuchet MS"/>
              </a:rPr>
              <a:t>P</a:t>
            </a:r>
            <a:r>
              <a:rPr b="1" spc="-46" dirty="0">
                <a:solidFill>
                  <a:srgbClr val="262525"/>
                </a:solidFill>
                <a:latin typeface="Trebuchet MS"/>
                <a:cs typeface="Trebuchet MS"/>
              </a:rPr>
              <a:t>r</a:t>
            </a:r>
            <a:r>
              <a:rPr b="1" spc="-135" dirty="0">
                <a:solidFill>
                  <a:srgbClr val="262525"/>
                </a:solidFill>
                <a:latin typeface="Trebuchet MS"/>
                <a:cs typeface="Trebuchet MS"/>
              </a:rPr>
              <a:t>e</a:t>
            </a:r>
            <a:r>
              <a:rPr b="1" spc="-88" dirty="0">
                <a:solidFill>
                  <a:srgbClr val="262525"/>
                </a:solidFill>
                <a:latin typeface="Trebuchet MS"/>
                <a:cs typeface="Trebuchet MS"/>
              </a:rPr>
              <a:t>p</a:t>
            </a:r>
            <a:r>
              <a:rPr b="1" spc="-46" dirty="0">
                <a:solidFill>
                  <a:srgbClr val="262525"/>
                </a:solidFill>
                <a:latin typeface="Trebuchet MS"/>
                <a:cs typeface="Trebuchet MS"/>
              </a:rPr>
              <a:t>r</a:t>
            </a:r>
            <a:r>
              <a:rPr b="1" spc="-62" dirty="0">
                <a:solidFill>
                  <a:srgbClr val="262525"/>
                </a:solidFill>
                <a:latin typeface="Trebuchet MS"/>
                <a:cs typeface="Trebuchet MS"/>
              </a:rPr>
              <a:t>o</a:t>
            </a:r>
            <a:r>
              <a:rPr b="1" spc="-104" dirty="0">
                <a:solidFill>
                  <a:srgbClr val="262525"/>
                </a:solidFill>
                <a:latin typeface="Trebuchet MS"/>
                <a:cs typeface="Trebuchet MS"/>
              </a:rPr>
              <a:t>c</a:t>
            </a:r>
            <a:r>
              <a:rPr b="1" spc="-135" dirty="0">
                <a:solidFill>
                  <a:srgbClr val="262525"/>
                </a:solidFill>
                <a:latin typeface="Trebuchet MS"/>
                <a:cs typeface="Trebuchet MS"/>
              </a:rPr>
              <a:t>e</a:t>
            </a:r>
            <a:r>
              <a:rPr b="1" spc="8" dirty="0">
                <a:solidFill>
                  <a:srgbClr val="262525"/>
                </a:solidFill>
                <a:latin typeface="Trebuchet MS"/>
                <a:cs typeface="Trebuchet MS"/>
              </a:rPr>
              <a:t>ss</a:t>
            </a:r>
            <a:r>
              <a:rPr b="1" spc="-42" dirty="0">
                <a:solidFill>
                  <a:srgbClr val="262525"/>
                </a:solidFill>
                <a:latin typeface="Trebuchet MS"/>
                <a:cs typeface="Trebuchet MS"/>
              </a:rPr>
              <a:t>i</a:t>
            </a:r>
            <a:r>
              <a:rPr b="1" spc="-100" dirty="0">
                <a:solidFill>
                  <a:srgbClr val="262525"/>
                </a:solidFill>
                <a:latin typeface="Trebuchet MS"/>
                <a:cs typeface="Trebuchet MS"/>
              </a:rPr>
              <a:t>n</a:t>
            </a:r>
            <a:r>
              <a:rPr b="1" spc="38" dirty="0">
                <a:solidFill>
                  <a:srgbClr val="262525"/>
                </a:solidFill>
                <a:latin typeface="Trebuchet MS"/>
                <a:cs typeface="Trebuchet MS"/>
              </a:rPr>
              <a:t>g</a:t>
            </a:r>
            <a:endParaRPr dirty="0">
              <a:latin typeface="Trebuchet MS"/>
              <a:cs typeface="Trebuchet MS"/>
            </a:endParaRPr>
          </a:p>
          <a:p>
            <a:pPr marL="9769" marR="3908" indent="-19049" algn="ctr">
              <a:lnSpc>
                <a:spcPct val="136900"/>
              </a:lnSpc>
              <a:spcBef>
                <a:spcPts val="1054"/>
              </a:spcBef>
            </a:pPr>
            <a:r>
              <a:rPr lang="en-US" sz="1100" dirty="0" smtClean="0"/>
              <a:t>Data preprocessing is an important step in training the neural network. This involves cleaning and normalizing the data to ensure that it is in a format that can be used by the network.</a:t>
            </a:r>
            <a:endParaRPr sz="1100" dirty="0">
              <a:latin typeface="Verdana"/>
              <a:cs typeface="Verdana"/>
            </a:endParaRPr>
          </a:p>
        </p:txBody>
      </p:sp>
      <p:grpSp>
        <p:nvGrpSpPr>
          <p:cNvPr id="11" name="object 11"/>
          <p:cNvGrpSpPr/>
          <p:nvPr/>
        </p:nvGrpSpPr>
        <p:grpSpPr>
          <a:xfrm>
            <a:off x="4404360" y="2550737"/>
            <a:ext cx="335280" cy="603504"/>
            <a:chOff x="5505450" y="3542690"/>
            <a:chExt cx="419100" cy="838200"/>
          </a:xfrm>
        </p:grpSpPr>
        <p:sp>
          <p:nvSpPr>
            <p:cNvPr id="12" name="object 12"/>
            <p:cNvSpPr/>
            <p:nvPr/>
          </p:nvSpPr>
          <p:spPr>
            <a:xfrm>
              <a:off x="5696833" y="3542690"/>
              <a:ext cx="38100" cy="638175"/>
            </a:xfrm>
            <a:custGeom>
              <a:avLst/>
              <a:gdLst/>
              <a:ahLst/>
              <a:cxnLst/>
              <a:rect l="l" t="t" r="r" b="b"/>
              <a:pathLst>
                <a:path w="38100" h="638175">
                  <a:moveTo>
                    <a:pt x="38100" y="638175"/>
                  </a:moveTo>
                  <a:lnTo>
                    <a:pt x="0" y="638175"/>
                  </a:lnTo>
                  <a:lnTo>
                    <a:pt x="0" y="0"/>
                  </a:lnTo>
                  <a:lnTo>
                    <a:pt x="38100" y="0"/>
                  </a:lnTo>
                  <a:lnTo>
                    <a:pt x="38100" y="638175"/>
                  </a:lnTo>
                  <a:close/>
                </a:path>
              </a:pathLst>
            </a:custGeom>
            <a:solidFill>
              <a:srgbClr val="E1A8EF"/>
            </a:solidFill>
          </p:spPr>
          <p:txBody>
            <a:bodyPr wrap="square" lIns="0" tIns="0" rIns="0" bIns="0" rtlCol="0"/>
            <a:lstStyle/>
            <a:p>
              <a:endParaRPr/>
            </a:p>
          </p:txBody>
        </p:sp>
        <p:sp>
          <p:nvSpPr>
            <p:cNvPr id="13" name="object 13"/>
            <p:cNvSpPr/>
            <p:nvPr/>
          </p:nvSpPr>
          <p:spPr>
            <a:xfrm>
              <a:off x="5510212" y="3976078"/>
              <a:ext cx="409575" cy="400050"/>
            </a:xfrm>
            <a:custGeom>
              <a:avLst/>
              <a:gdLst/>
              <a:ahLst/>
              <a:cxnLst/>
              <a:rect l="l" t="t" r="r" b="b"/>
              <a:pathLst>
                <a:path w="409575" h="400050">
                  <a:moveTo>
                    <a:pt x="360626" y="400050"/>
                  </a:moveTo>
                  <a:lnTo>
                    <a:pt x="48947" y="400050"/>
                  </a:lnTo>
                  <a:lnTo>
                    <a:pt x="45540" y="399714"/>
                  </a:lnTo>
                  <a:lnTo>
                    <a:pt x="10739" y="379627"/>
                  </a:lnTo>
                  <a:lnTo>
                    <a:pt x="0" y="351101"/>
                  </a:lnTo>
                  <a:lnTo>
                    <a:pt x="0" y="347662"/>
                  </a:lnTo>
                  <a:lnTo>
                    <a:pt x="0" y="48947"/>
                  </a:lnTo>
                  <a:lnTo>
                    <a:pt x="17776" y="12911"/>
                  </a:lnTo>
                  <a:lnTo>
                    <a:pt x="48947" y="0"/>
                  </a:lnTo>
                  <a:lnTo>
                    <a:pt x="360626" y="0"/>
                  </a:lnTo>
                  <a:lnTo>
                    <a:pt x="396662" y="17776"/>
                  </a:lnTo>
                  <a:lnTo>
                    <a:pt x="409575" y="48947"/>
                  </a:lnTo>
                  <a:lnTo>
                    <a:pt x="409575" y="351101"/>
                  </a:lnTo>
                  <a:lnTo>
                    <a:pt x="391798" y="387137"/>
                  </a:lnTo>
                  <a:lnTo>
                    <a:pt x="364034" y="399714"/>
                  </a:lnTo>
                  <a:lnTo>
                    <a:pt x="360626" y="400050"/>
                  </a:lnTo>
                  <a:close/>
                </a:path>
              </a:pathLst>
            </a:custGeom>
            <a:solidFill>
              <a:srgbClr val="F0D4F6"/>
            </a:solidFill>
          </p:spPr>
          <p:txBody>
            <a:bodyPr wrap="square" lIns="0" tIns="0" rIns="0" bIns="0" rtlCol="0"/>
            <a:lstStyle/>
            <a:p>
              <a:endParaRPr/>
            </a:p>
          </p:txBody>
        </p:sp>
        <p:sp>
          <p:nvSpPr>
            <p:cNvPr id="14" name="object 14"/>
            <p:cNvSpPr/>
            <p:nvPr/>
          </p:nvSpPr>
          <p:spPr>
            <a:xfrm>
              <a:off x="5510212" y="3976078"/>
              <a:ext cx="409575" cy="400050"/>
            </a:xfrm>
            <a:custGeom>
              <a:avLst/>
              <a:gdLst/>
              <a:ahLst/>
              <a:cxnLst/>
              <a:rect l="l" t="t" r="r" b="b"/>
              <a:pathLst>
                <a:path w="409575" h="400050">
                  <a:moveTo>
                    <a:pt x="0" y="347662"/>
                  </a:moveTo>
                  <a:lnTo>
                    <a:pt x="0" y="52387"/>
                  </a:lnTo>
                  <a:lnTo>
                    <a:pt x="0" y="48947"/>
                  </a:lnTo>
                  <a:lnTo>
                    <a:pt x="335" y="45540"/>
                  </a:lnTo>
                  <a:lnTo>
                    <a:pt x="8828" y="23282"/>
                  </a:lnTo>
                  <a:lnTo>
                    <a:pt x="10739" y="20422"/>
                  </a:lnTo>
                  <a:lnTo>
                    <a:pt x="23282" y="8828"/>
                  </a:lnTo>
                  <a:lnTo>
                    <a:pt x="26142" y="6917"/>
                  </a:lnTo>
                  <a:lnTo>
                    <a:pt x="48947" y="0"/>
                  </a:lnTo>
                  <a:lnTo>
                    <a:pt x="52387" y="0"/>
                  </a:lnTo>
                  <a:lnTo>
                    <a:pt x="357187" y="0"/>
                  </a:lnTo>
                  <a:lnTo>
                    <a:pt x="360626" y="0"/>
                  </a:lnTo>
                  <a:lnTo>
                    <a:pt x="364034" y="335"/>
                  </a:lnTo>
                  <a:lnTo>
                    <a:pt x="386292" y="8828"/>
                  </a:lnTo>
                  <a:lnTo>
                    <a:pt x="389152" y="10739"/>
                  </a:lnTo>
                  <a:lnTo>
                    <a:pt x="408568" y="42167"/>
                  </a:lnTo>
                  <a:lnTo>
                    <a:pt x="409239" y="45540"/>
                  </a:lnTo>
                  <a:lnTo>
                    <a:pt x="409575" y="48947"/>
                  </a:lnTo>
                  <a:lnTo>
                    <a:pt x="409575" y="52387"/>
                  </a:lnTo>
                  <a:lnTo>
                    <a:pt x="409575" y="347662"/>
                  </a:lnTo>
                  <a:lnTo>
                    <a:pt x="409575" y="351101"/>
                  </a:lnTo>
                  <a:lnTo>
                    <a:pt x="409239" y="354509"/>
                  </a:lnTo>
                  <a:lnTo>
                    <a:pt x="408568" y="357882"/>
                  </a:lnTo>
                  <a:lnTo>
                    <a:pt x="407897" y="361256"/>
                  </a:lnTo>
                  <a:lnTo>
                    <a:pt x="383432" y="393131"/>
                  </a:lnTo>
                  <a:lnTo>
                    <a:pt x="367407" y="399043"/>
                  </a:lnTo>
                  <a:lnTo>
                    <a:pt x="364034" y="399714"/>
                  </a:lnTo>
                  <a:lnTo>
                    <a:pt x="360626" y="400050"/>
                  </a:lnTo>
                  <a:lnTo>
                    <a:pt x="357187" y="400050"/>
                  </a:lnTo>
                  <a:lnTo>
                    <a:pt x="52387" y="400050"/>
                  </a:lnTo>
                  <a:lnTo>
                    <a:pt x="48947" y="400050"/>
                  </a:lnTo>
                  <a:lnTo>
                    <a:pt x="45540" y="399714"/>
                  </a:lnTo>
                  <a:lnTo>
                    <a:pt x="42167" y="399043"/>
                  </a:lnTo>
                  <a:lnTo>
                    <a:pt x="38793" y="398372"/>
                  </a:lnTo>
                  <a:lnTo>
                    <a:pt x="8828" y="376767"/>
                  </a:lnTo>
                  <a:lnTo>
                    <a:pt x="6917" y="373907"/>
                  </a:lnTo>
                  <a:lnTo>
                    <a:pt x="1006" y="357882"/>
                  </a:lnTo>
                  <a:lnTo>
                    <a:pt x="335" y="354509"/>
                  </a:lnTo>
                  <a:lnTo>
                    <a:pt x="0" y="351101"/>
                  </a:lnTo>
                  <a:lnTo>
                    <a:pt x="0" y="347662"/>
                  </a:lnTo>
                  <a:close/>
                </a:path>
              </a:pathLst>
            </a:custGeom>
            <a:ln w="9525">
              <a:solidFill>
                <a:srgbClr val="E1A8EF"/>
              </a:solidFill>
            </a:ln>
          </p:spPr>
          <p:txBody>
            <a:bodyPr wrap="square" lIns="0" tIns="0" rIns="0" bIns="0" rtlCol="0"/>
            <a:lstStyle/>
            <a:p>
              <a:endParaRPr/>
            </a:p>
          </p:txBody>
        </p:sp>
      </p:grpSp>
      <p:sp>
        <p:nvSpPr>
          <p:cNvPr id="15" name="object 15"/>
          <p:cNvSpPr txBox="1"/>
          <p:nvPr/>
        </p:nvSpPr>
        <p:spPr>
          <a:xfrm>
            <a:off x="4499213" y="2859256"/>
            <a:ext cx="144780" cy="271474"/>
          </a:xfrm>
          <a:prstGeom prst="rect">
            <a:avLst/>
          </a:prstGeom>
        </p:spPr>
        <p:txBody>
          <a:bodyPr vert="horz" wrap="square" lIns="0" tIns="9769" rIns="0" bIns="0" rtlCol="0">
            <a:spAutoFit/>
          </a:bodyPr>
          <a:lstStyle/>
          <a:p>
            <a:pPr marL="9769">
              <a:spcBef>
                <a:spcPts val="77"/>
              </a:spcBef>
            </a:pPr>
            <a:r>
              <a:rPr sz="1700" b="1" spc="-31" dirty="0">
                <a:solidFill>
                  <a:srgbClr val="262525"/>
                </a:solidFill>
                <a:latin typeface="Trebuchet MS"/>
                <a:cs typeface="Trebuchet MS"/>
              </a:rPr>
              <a:t>2</a:t>
            </a:r>
            <a:endParaRPr sz="1700" dirty="0">
              <a:latin typeface="Trebuchet MS"/>
              <a:cs typeface="Trebuchet MS"/>
            </a:endParaRPr>
          </a:p>
        </p:txBody>
      </p:sp>
      <p:sp>
        <p:nvSpPr>
          <p:cNvPr id="16" name="object 16"/>
          <p:cNvSpPr txBox="1"/>
          <p:nvPr/>
        </p:nvSpPr>
        <p:spPr>
          <a:xfrm>
            <a:off x="3135826" y="1006526"/>
            <a:ext cx="2843783" cy="1529807"/>
          </a:xfrm>
          <a:prstGeom prst="rect">
            <a:avLst/>
          </a:prstGeom>
        </p:spPr>
        <p:txBody>
          <a:bodyPr vert="horz" wrap="square" lIns="0" tIns="8792" rIns="0" bIns="0" rtlCol="0">
            <a:spAutoFit/>
          </a:bodyPr>
          <a:lstStyle/>
          <a:p>
            <a:pPr marL="31260" algn="ctr">
              <a:spcBef>
                <a:spcPts val="69"/>
              </a:spcBef>
            </a:pPr>
            <a:r>
              <a:rPr b="1" spc="204" dirty="0">
                <a:solidFill>
                  <a:srgbClr val="262525"/>
                </a:solidFill>
                <a:latin typeface="Trebuchet MS"/>
                <a:cs typeface="Trebuchet MS"/>
              </a:rPr>
              <a:t>M</a:t>
            </a:r>
            <a:r>
              <a:rPr b="1" spc="-62" dirty="0">
                <a:solidFill>
                  <a:srgbClr val="262525"/>
                </a:solidFill>
                <a:latin typeface="Trebuchet MS"/>
                <a:cs typeface="Trebuchet MS"/>
              </a:rPr>
              <a:t>o</a:t>
            </a:r>
            <a:r>
              <a:rPr b="1" spc="-85" dirty="0">
                <a:solidFill>
                  <a:srgbClr val="262525"/>
                </a:solidFill>
                <a:latin typeface="Trebuchet MS"/>
                <a:cs typeface="Trebuchet MS"/>
              </a:rPr>
              <a:t>d</a:t>
            </a:r>
            <a:r>
              <a:rPr b="1" spc="-135" dirty="0">
                <a:solidFill>
                  <a:srgbClr val="262525"/>
                </a:solidFill>
                <a:latin typeface="Trebuchet MS"/>
                <a:cs typeface="Trebuchet MS"/>
              </a:rPr>
              <a:t>e</a:t>
            </a:r>
            <a:r>
              <a:rPr b="1" spc="-38" dirty="0">
                <a:solidFill>
                  <a:srgbClr val="262525"/>
                </a:solidFill>
                <a:latin typeface="Trebuchet MS"/>
                <a:cs typeface="Trebuchet MS"/>
              </a:rPr>
              <a:t>l</a:t>
            </a:r>
            <a:r>
              <a:rPr b="1" spc="-96" dirty="0">
                <a:solidFill>
                  <a:srgbClr val="262525"/>
                </a:solidFill>
                <a:latin typeface="Trebuchet MS"/>
                <a:cs typeface="Trebuchet MS"/>
              </a:rPr>
              <a:t> </a:t>
            </a:r>
            <a:r>
              <a:rPr b="1" spc="127" dirty="0" smtClean="0">
                <a:solidFill>
                  <a:srgbClr val="262525"/>
                </a:solidFill>
                <a:latin typeface="Trebuchet MS"/>
                <a:cs typeface="Trebuchet MS"/>
              </a:rPr>
              <a:t>S</a:t>
            </a:r>
            <a:r>
              <a:rPr b="1" spc="-135" dirty="0" smtClean="0">
                <a:solidFill>
                  <a:srgbClr val="262525"/>
                </a:solidFill>
                <a:latin typeface="Trebuchet MS"/>
                <a:cs typeface="Trebuchet MS"/>
              </a:rPr>
              <a:t>e</a:t>
            </a:r>
            <a:r>
              <a:rPr b="1" spc="-38" dirty="0" smtClean="0">
                <a:solidFill>
                  <a:srgbClr val="262525"/>
                </a:solidFill>
                <a:latin typeface="Trebuchet MS"/>
                <a:cs typeface="Trebuchet MS"/>
              </a:rPr>
              <a:t>l</a:t>
            </a:r>
            <a:r>
              <a:rPr b="1" spc="-135" dirty="0" smtClean="0">
                <a:solidFill>
                  <a:srgbClr val="262525"/>
                </a:solidFill>
                <a:latin typeface="Trebuchet MS"/>
                <a:cs typeface="Trebuchet MS"/>
              </a:rPr>
              <a:t>e</a:t>
            </a:r>
            <a:r>
              <a:rPr b="1" spc="-104" dirty="0" smtClean="0">
                <a:solidFill>
                  <a:srgbClr val="262525"/>
                </a:solidFill>
                <a:latin typeface="Trebuchet MS"/>
                <a:cs typeface="Trebuchet MS"/>
              </a:rPr>
              <a:t>c</a:t>
            </a:r>
            <a:r>
              <a:rPr b="1" spc="-119" dirty="0" smtClean="0">
                <a:solidFill>
                  <a:srgbClr val="262525"/>
                </a:solidFill>
                <a:latin typeface="Trebuchet MS"/>
                <a:cs typeface="Trebuchet MS"/>
              </a:rPr>
              <a:t>t</a:t>
            </a:r>
            <a:r>
              <a:rPr b="1" spc="-42" dirty="0" smtClean="0">
                <a:solidFill>
                  <a:srgbClr val="262525"/>
                </a:solidFill>
                <a:latin typeface="Trebuchet MS"/>
                <a:cs typeface="Trebuchet MS"/>
              </a:rPr>
              <a:t>i</a:t>
            </a:r>
            <a:r>
              <a:rPr b="1" spc="-62" dirty="0" smtClean="0">
                <a:solidFill>
                  <a:srgbClr val="262525"/>
                </a:solidFill>
                <a:latin typeface="Trebuchet MS"/>
                <a:cs typeface="Trebuchet MS"/>
              </a:rPr>
              <a:t>o</a:t>
            </a:r>
            <a:r>
              <a:rPr b="1" spc="-65" dirty="0" smtClean="0">
                <a:solidFill>
                  <a:srgbClr val="262525"/>
                </a:solidFill>
                <a:latin typeface="Trebuchet MS"/>
                <a:cs typeface="Trebuchet MS"/>
              </a:rPr>
              <a:t>n</a:t>
            </a:r>
            <a:endParaRPr lang="en-US" b="1" spc="-65" dirty="0" smtClean="0">
              <a:solidFill>
                <a:srgbClr val="262525"/>
              </a:solidFill>
              <a:latin typeface="Trebuchet MS"/>
              <a:cs typeface="Trebuchet MS"/>
            </a:endParaRPr>
          </a:p>
          <a:p>
            <a:pPr marL="31260" algn="ctr">
              <a:spcBef>
                <a:spcPts val="69"/>
              </a:spcBef>
            </a:pPr>
            <a:r>
              <a:rPr lang="en-US" dirty="0" smtClean="0"/>
              <a:t>The choice of neural network architecture is critical to the success of the algorithm. Factors to consider include the size of the network, the number of layers, and the activation function used.</a:t>
            </a:r>
            <a:endParaRPr dirty="0">
              <a:latin typeface="Trebuchet MS"/>
              <a:cs typeface="Trebuchet MS"/>
            </a:endParaRPr>
          </a:p>
        </p:txBody>
      </p:sp>
      <p:grpSp>
        <p:nvGrpSpPr>
          <p:cNvPr id="17" name="object 17"/>
          <p:cNvGrpSpPr/>
          <p:nvPr/>
        </p:nvGrpSpPr>
        <p:grpSpPr>
          <a:xfrm>
            <a:off x="6073128" y="2860225"/>
            <a:ext cx="327660" cy="610362"/>
            <a:chOff x="7591409" y="3972534"/>
            <a:chExt cx="409575" cy="847725"/>
          </a:xfrm>
        </p:grpSpPr>
        <p:sp>
          <p:nvSpPr>
            <p:cNvPr id="18" name="object 18"/>
            <p:cNvSpPr/>
            <p:nvPr/>
          </p:nvSpPr>
          <p:spPr>
            <a:xfrm>
              <a:off x="7782823" y="4182069"/>
              <a:ext cx="28575" cy="638175"/>
            </a:xfrm>
            <a:custGeom>
              <a:avLst/>
              <a:gdLst/>
              <a:ahLst/>
              <a:cxnLst/>
              <a:rect l="l" t="t" r="r" b="b"/>
              <a:pathLst>
                <a:path w="28575" h="638175">
                  <a:moveTo>
                    <a:pt x="28575" y="638175"/>
                  </a:moveTo>
                  <a:lnTo>
                    <a:pt x="0" y="638175"/>
                  </a:lnTo>
                  <a:lnTo>
                    <a:pt x="0" y="0"/>
                  </a:lnTo>
                  <a:lnTo>
                    <a:pt x="28575" y="0"/>
                  </a:lnTo>
                  <a:lnTo>
                    <a:pt x="28575" y="638175"/>
                  </a:lnTo>
                  <a:close/>
                </a:path>
              </a:pathLst>
            </a:custGeom>
            <a:solidFill>
              <a:srgbClr val="E1A8EF"/>
            </a:solidFill>
          </p:spPr>
          <p:txBody>
            <a:bodyPr wrap="square" lIns="0" tIns="0" rIns="0" bIns="0" rtlCol="0"/>
            <a:lstStyle/>
            <a:p>
              <a:endParaRPr/>
            </a:p>
          </p:txBody>
        </p:sp>
        <p:sp>
          <p:nvSpPr>
            <p:cNvPr id="19" name="object 19"/>
            <p:cNvSpPr/>
            <p:nvPr/>
          </p:nvSpPr>
          <p:spPr>
            <a:xfrm>
              <a:off x="7596171" y="3977297"/>
              <a:ext cx="400050" cy="400050"/>
            </a:xfrm>
            <a:custGeom>
              <a:avLst/>
              <a:gdLst/>
              <a:ahLst/>
              <a:cxnLst/>
              <a:rect l="l" t="t" r="r" b="b"/>
              <a:pathLst>
                <a:path w="400050" h="400050">
                  <a:moveTo>
                    <a:pt x="351101" y="400050"/>
                  </a:moveTo>
                  <a:lnTo>
                    <a:pt x="48947" y="400050"/>
                  </a:lnTo>
                  <a:lnTo>
                    <a:pt x="45540" y="399714"/>
                  </a:lnTo>
                  <a:lnTo>
                    <a:pt x="10739" y="379627"/>
                  </a:lnTo>
                  <a:lnTo>
                    <a:pt x="0" y="351101"/>
                  </a:lnTo>
                  <a:lnTo>
                    <a:pt x="0" y="347662"/>
                  </a:lnTo>
                  <a:lnTo>
                    <a:pt x="0" y="48947"/>
                  </a:lnTo>
                  <a:lnTo>
                    <a:pt x="17776" y="12911"/>
                  </a:lnTo>
                  <a:lnTo>
                    <a:pt x="48947" y="0"/>
                  </a:lnTo>
                  <a:lnTo>
                    <a:pt x="351101" y="0"/>
                  </a:lnTo>
                  <a:lnTo>
                    <a:pt x="387137" y="17776"/>
                  </a:lnTo>
                  <a:lnTo>
                    <a:pt x="400050" y="48947"/>
                  </a:lnTo>
                  <a:lnTo>
                    <a:pt x="400050" y="351101"/>
                  </a:lnTo>
                  <a:lnTo>
                    <a:pt x="382273" y="387137"/>
                  </a:lnTo>
                  <a:lnTo>
                    <a:pt x="354509" y="399714"/>
                  </a:lnTo>
                  <a:lnTo>
                    <a:pt x="351101" y="400050"/>
                  </a:lnTo>
                  <a:close/>
                </a:path>
              </a:pathLst>
            </a:custGeom>
            <a:solidFill>
              <a:srgbClr val="F0D4F6"/>
            </a:solidFill>
          </p:spPr>
          <p:txBody>
            <a:bodyPr wrap="square" lIns="0" tIns="0" rIns="0" bIns="0" rtlCol="0"/>
            <a:lstStyle/>
            <a:p>
              <a:endParaRPr/>
            </a:p>
          </p:txBody>
        </p:sp>
        <p:sp>
          <p:nvSpPr>
            <p:cNvPr id="20" name="object 20"/>
            <p:cNvSpPr/>
            <p:nvPr/>
          </p:nvSpPr>
          <p:spPr>
            <a:xfrm>
              <a:off x="7596171" y="3977297"/>
              <a:ext cx="400050" cy="400050"/>
            </a:xfrm>
            <a:custGeom>
              <a:avLst/>
              <a:gdLst/>
              <a:ahLst/>
              <a:cxnLst/>
              <a:rect l="l" t="t" r="r" b="b"/>
              <a:pathLst>
                <a:path w="400050" h="400050">
                  <a:moveTo>
                    <a:pt x="0" y="347662"/>
                  </a:moveTo>
                  <a:lnTo>
                    <a:pt x="0" y="52387"/>
                  </a:lnTo>
                  <a:lnTo>
                    <a:pt x="0" y="48947"/>
                  </a:lnTo>
                  <a:lnTo>
                    <a:pt x="335" y="45540"/>
                  </a:lnTo>
                  <a:lnTo>
                    <a:pt x="8828" y="23282"/>
                  </a:lnTo>
                  <a:lnTo>
                    <a:pt x="10739" y="20422"/>
                  </a:lnTo>
                  <a:lnTo>
                    <a:pt x="23282" y="8828"/>
                  </a:lnTo>
                  <a:lnTo>
                    <a:pt x="26142" y="6917"/>
                  </a:lnTo>
                  <a:lnTo>
                    <a:pt x="48947" y="0"/>
                  </a:lnTo>
                  <a:lnTo>
                    <a:pt x="52387" y="0"/>
                  </a:lnTo>
                  <a:lnTo>
                    <a:pt x="347662" y="0"/>
                  </a:lnTo>
                  <a:lnTo>
                    <a:pt x="351101" y="0"/>
                  </a:lnTo>
                  <a:lnTo>
                    <a:pt x="354509" y="335"/>
                  </a:lnTo>
                  <a:lnTo>
                    <a:pt x="376767" y="8828"/>
                  </a:lnTo>
                  <a:lnTo>
                    <a:pt x="379627" y="10739"/>
                  </a:lnTo>
                  <a:lnTo>
                    <a:pt x="399043" y="42167"/>
                  </a:lnTo>
                  <a:lnTo>
                    <a:pt x="399714" y="45540"/>
                  </a:lnTo>
                  <a:lnTo>
                    <a:pt x="400050" y="48947"/>
                  </a:lnTo>
                  <a:lnTo>
                    <a:pt x="400050" y="52387"/>
                  </a:lnTo>
                  <a:lnTo>
                    <a:pt x="400050" y="347662"/>
                  </a:lnTo>
                  <a:lnTo>
                    <a:pt x="400050" y="351101"/>
                  </a:lnTo>
                  <a:lnTo>
                    <a:pt x="399714" y="354509"/>
                  </a:lnTo>
                  <a:lnTo>
                    <a:pt x="399043" y="357882"/>
                  </a:lnTo>
                  <a:lnTo>
                    <a:pt x="398372" y="361256"/>
                  </a:lnTo>
                  <a:lnTo>
                    <a:pt x="373907" y="393131"/>
                  </a:lnTo>
                  <a:lnTo>
                    <a:pt x="357882" y="399043"/>
                  </a:lnTo>
                  <a:lnTo>
                    <a:pt x="354509" y="399714"/>
                  </a:lnTo>
                  <a:lnTo>
                    <a:pt x="351101" y="400050"/>
                  </a:lnTo>
                  <a:lnTo>
                    <a:pt x="347662" y="400050"/>
                  </a:lnTo>
                  <a:lnTo>
                    <a:pt x="52387" y="400050"/>
                  </a:lnTo>
                  <a:lnTo>
                    <a:pt x="48947" y="400050"/>
                  </a:lnTo>
                  <a:lnTo>
                    <a:pt x="45540" y="399714"/>
                  </a:lnTo>
                  <a:lnTo>
                    <a:pt x="42167" y="399043"/>
                  </a:lnTo>
                  <a:lnTo>
                    <a:pt x="38793" y="398372"/>
                  </a:lnTo>
                  <a:lnTo>
                    <a:pt x="8828" y="376767"/>
                  </a:lnTo>
                  <a:lnTo>
                    <a:pt x="6917" y="373907"/>
                  </a:lnTo>
                  <a:lnTo>
                    <a:pt x="1006" y="357882"/>
                  </a:lnTo>
                  <a:lnTo>
                    <a:pt x="335" y="354509"/>
                  </a:lnTo>
                  <a:lnTo>
                    <a:pt x="0" y="351101"/>
                  </a:lnTo>
                  <a:lnTo>
                    <a:pt x="0" y="347662"/>
                  </a:lnTo>
                  <a:close/>
                </a:path>
              </a:pathLst>
            </a:custGeom>
            <a:ln w="9525">
              <a:solidFill>
                <a:srgbClr val="E1A8EF"/>
              </a:solidFill>
            </a:ln>
          </p:spPr>
          <p:txBody>
            <a:bodyPr wrap="square" lIns="0" tIns="0" rIns="0" bIns="0" rtlCol="0"/>
            <a:lstStyle/>
            <a:p>
              <a:endParaRPr/>
            </a:p>
          </p:txBody>
        </p:sp>
      </p:grpSp>
      <p:sp>
        <p:nvSpPr>
          <p:cNvPr id="21" name="object 21"/>
          <p:cNvSpPr txBox="1"/>
          <p:nvPr/>
        </p:nvSpPr>
        <p:spPr>
          <a:xfrm>
            <a:off x="6164409" y="2860134"/>
            <a:ext cx="144780" cy="271474"/>
          </a:xfrm>
          <a:prstGeom prst="rect">
            <a:avLst/>
          </a:prstGeom>
        </p:spPr>
        <p:txBody>
          <a:bodyPr vert="horz" wrap="square" lIns="0" tIns="9769" rIns="0" bIns="0" rtlCol="0">
            <a:spAutoFit/>
          </a:bodyPr>
          <a:lstStyle/>
          <a:p>
            <a:pPr marL="9769">
              <a:spcBef>
                <a:spcPts val="77"/>
              </a:spcBef>
            </a:pPr>
            <a:r>
              <a:rPr sz="1700" b="1" spc="-31" dirty="0">
                <a:solidFill>
                  <a:srgbClr val="262525"/>
                </a:solidFill>
                <a:latin typeface="Trebuchet MS"/>
                <a:cs typeface="Trebuchet MS"/>
              </a:rPr>
              <a:t>3</a:t>
            </a:r>
            <a:endParaRPr sz="1700" dirty="0">
              <a:latin typeface="Trebuchet MS"/>
              <a:cs typeface="Trebuchet MS"/>
            </a:endParaRPr>
          </a:p>
        </p:txBody>
      </p:sp>
      <p:sp>
        <p:nvSpPr>
          <p:cNvPr id="22" name="object 22"/>
          <p:cNvSpPr txBox="1"/>
          <p:nvPr/>
        </p:nvSpPr>
        <p:spPr>
          <a:xfrm>
            <a:off x="4821041" y="3571418"/>
            <a:ext cx="2956613" cy="1055959"/>
          </a:xfrm>
          <a:prstGeom prst="rect">
            <a:avLst/>
          </a:prstGeom>
        </p:spPr>
        <p:txBody>
          <a:bodyPr vert="horz" wrap="square" lIns="0" tIns="8792" rIns="0" bIns="0" rtlCol="0">
            <a:spAutoFit/>
          </a:bodyPr>
          <a:lstStyle/>
          <a:p>
            <a:pPr marL="31260" algn="ctr">
              <a:spcBef>
                <a:spcPts val="69"/>
              </a:spcBef>
            </a:pPr>
            <a:r>
              <a:rPr b="1" spc="-69" dirty="0">
                <a:solidFill>
                  <a:srgbClr val="262525"/>
                </a:solidFill>
                <a:latin typeface="Trebuchet MS"/>
                <a:cs typeface="Trebuchet MS"/>
              </a:rPr>
              <a:t>T</a:t>
            </a:r>
            <a:r>
              <a:rPr b="1" spc="-46" dirty="0">
                <a:solidFill>
                  <a:srgbClr val="262525"/>
                </a:solidFill>
                <a:latin typeface="Trebuchet MS"/>
                <a:cs typeface="Trebuchet MS"/>
              </a:rPr>
              <a:t>r</a:t>
            </a:r>
            <a:r>
              <a:rPr b="1" spc="-77" dirty="0">
                <a:solidFill>
                  <a:srgbClr val="262525"/>
                </a:solidFill>
                <a:latin typeface="Trebuchet MS"/>
                <a:cs typeface="Trebuchet MS"/>
              </a:rPr>
              <a:t>a</a:t>
            </a:r>
            <a:r>
              <a:rPr b="1" spc="-42" dirty="0">
                <a:solidFill>
                  <a:srgbClr val="262525"/>
                </a:solidFill>
                <a:latin typeface="Trebuchet MS"/>
                <a:cs typeface="Trebuchet MS"/>
              </a:rPr>
              <a:t>i</a:t>
            </a:r>
            <a:r>
              <a:rPr b="1" spc="-100" dirty="0">
                <a:solidFill>
                  <a:srgbClr val="262525"/>
                </a:solidFill>
                <a:latin typeface="Trebuchet MS"/>
                <a:cs typeface="Trebuchet MS"/>
              </a:rPr>
              <a:t>n</a:t>
            </a:r>
            <a:r>
              <a:rPr b="1" spc="-42" dirty="0">
                <a:solidFill>
                  <a:srgbClr val="262525"/>
                </a:solidFill>
                <a:latin typeface="Trebuchet MS"/>
                <a:cs typeface="Trebuchet MS"/>
              </a:rPr>
              <a:t>i</a:t>
            </a:r>
            <a:r>
              <a:rPr b="1" spc="-100" dirty="0">
                <a:solidFill>
                  <a:srgbClr val="262525"/>
                </a:solidFill>
                <a:latin typeface="Trebuchet MS"/>
                <a:cs typeface="Trebuchet MS"/>
              </a:rPr>
              <a:t>n</a:t>
            </a:r>
            <a:r>
              <a:rPr b="1" spc="38" dirty="0">
                <a:solidFill>
                  <a:srgbClr val="262525"/>
                </a:solidFill>
                <a:latin typeface="Trebuchet MS"/>
                <a:cs typeface="Trebuchet MS"/>
              </a:rPr>
              <a:t>g</a:t>
            </a:r>
            <a:r>
              <a:rPr b="1" spc="-112" dirty="0">
                <a:solidFill>
                  <a:srgbClr val="262525"/>
                </a:solidFill>
                <a:latin typeface="Trebuchet MS"/>
                <a:cs typeface="Trebuchet MS"/>
              </a:rPr>
              <a:t> </a:t>
            </a:r>
            <a:r>
              <a:rPr b="1" spc="-77" dirty="0">
                <a:solidFill>
                  <a:srgbClr val="262525"/>
                </a:solidFill>
                <a:latin typeface="Trebuchet MS"/>
                <a:cs typeface="Trebuchet MS"/>
              </a:rPr>
              <a:t>a</a:t>
            </a:r>
            <a:r>
              <a:rPr b="1" spc="-100" dirty="0">
                <a:solidFill>
                  <a:srgbClr val="262525"/>
                </a:solidFill>
                <a:latin typeface="Trebuchet MS"/>
                <a:cs typeface="Trebuchet MS"/>
              </a:rPr>
              <a:t>n</a:t>
            </a:r>
            <a:r>
              <a:rPr b="1" spc="-50" dirty="0">
                <a:solidFill>
                  <a:srgbClr val="262525"/>
                </a:solidFill>
                <a:latin typeface="Trebuchet MS"/>
                <a:cs typeface="Trebuchet MS"/>
              </a:rPr>
              <a:t>d</a:t>
            </a:r>
            <a:r>
              <a:rPr b="1" spc="-135" dirty="0">
                <a:solidFill>
                  <a:srgbClr val="262525"/>
                </a:solidFill>
                <a:latin typeface="Trebuchet MS"/>
                <a:cs typeface="Trebuchet MS"/>
              </a:rPr>
              <a:t> </a:t>
            </a:r>
            <a:r>
              <a:rPr b="1" spc="-85" dirty="0">
                <a:solidFill>
                  <a:srgbClr val="262525"/>
                </a:solidFill>
                <a:latin typeface="Trebuchet MS"/>
                <a:cs typeface="Trebuchet MS"/>
              </a:rPr>
              <a:t>V</a:t>
            </a:r>
            <a:r>
              <a:rPr b="1" spc="-77" dirty="0">
                <a:solidFill>
                  <a:srgbClr val="262525"/>
                </a:solidFill>
                <a:latin typeface="Trebuchet MS"/>
                <a:cs typeface="Trebuchet MS"/>
              </a:rPr>
              <a:t>a</a:t>
            </a:r>
            <a:r>
              <a:rPr b="1" spc="-38" dirty="0">
                <a:solidFill>
                  <a:srgbClr val="262525"/>
                </a:solidFill>
                <a:latin typeface="Trebuchet MS"/>
                <a:cs typeface="Trebuchet MS"/>
              </a:rPr>
              <a:t>l</a:t>
            </a:r>
            <a:r>
              <a:rPr b="1" spc="-42" dirty="0">
                <a:solidFill>
                  <a:srgbClr val="262525"/>
                </a:solidFill>
                <a:latin typeface="Trebuchet MS"/>
                <a:cs typeface="Trebuchet MS"/>
              </a:rPr>
              <a:t>i</a:t>
            </a:r>
            <a:r>
              <a:rPr b="1" spc="-85" dirty="0">
                <a:solidFill>
                  <a:srgbClr val="262525"/>
                </a:solidFill>
                <a:latin typeface="Trebuchet MS"/>
                <a:cs typeface="Trebuchet MS"/>
              </a:rPr>
              <a:t>d</a:t>
            </a:r>
            <a:r>
              <a:rPr b="1" spc="-77" dirty="0">
                <a:solidFill>
                  <a:srgbClr val="262525"/>
                </a:solidFill>
                <a:latin typeface="Trebuchet MS"/>
                <a:cs typeface="Trebuchet MS"/>
              </a:rPr>
              <a:t>a</a:t>
            </a:r>
            <a:r>
              <a:rPr b="1" spc="-119" dirty="0">
                <a:solidFill>
                  <a:srgbClr val="262525"/>
                </a:solidFill>
                <a:latin typeface="Trebuchet MS"/>
                <a:cs typeface="Trebuchet MS"/>
              </a:rPr>
              <a:t>t</a:t>
            </a:r>
            <a:r>
              <a:rPr b="1" spc="-42" dirty="0">
                <a:solidFill>
                  <a:srgbClr val="262525"/>
                </a:solidFill>
                <a:latin typeface="Trebuchet MS"/>
                <a:cs typeface="Trebuchet MS"/>
              </a:rPr>
              <a:t>i</a:t>
            </a:r>
            <a:r>
              <a:rPr b="1" spc="-62" dirty="0">
                <a:solidFill>
                  <a:srgbClr val="262525"/>
                </a:solidFill>
                <a:latin typeface="Trebuchet MS"/>
                <a:cs typeface="Trebuchet MS"/>
              </a:rPr>
              <a:t>o</a:t>
            </a:r>
            <a:r>
              <a:rPr b="1" spc="-65" dirty="0">
                <a:solidFill>
                  <a:srgbClr val="262525"/>
                </a:solidFill>
                <a:latin typeface="Trebuchet MS"/>
                <a:cs typeface="Trebuchet MS"/>
              </a:rPr>
              <a:t>n</a:t>
            </a:r>
            <a:endParaRPr dirty="0">
              <a:latin typeface="Trebuchet MS"/>
              <a:cs typeface="Trebuchet MS"/>
            </a:endParaRPr>
          </a:p>
          <a:p>
            <a:pPr marL="9769" marR="3908" indent="8304" algn="ctr">
              <a:lnSpc>
                <a:spcPct val="136200"/>
              </a:lnSpc>
              <a:spcBef>
                <a:spcPts val="1065"/>
              </a:spcBef>
            </a:pPr>
            <a:r>
              <a:rPr lang="en-US" sz="1100" dirty="0" smtClean="0"/>
              <a:t>The network is trained on one part of the data and then validated on another part to tune the hyper parameters and prevent over fitting.</a:t>
            </a:r>
            <a:endParaRPr sz="1100" dirty="0">
              <a:latin typeface="Verdana"/>
              <a:cs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4290" y="650527"/>
            <a:ext cx="6321552" cy="441639"/>
          </a:xfrm>
          <a:prstGeom prst="rect">
            <a:avLst/>
          </a:prstGeom>
        </p:spPr>
        <p:txBody>
          <a:bodyPr vert="horz" wrap="square" lIns="0" tIns="13188" rIns="0" bIns="0" rtlCol="0">
            <a:spAutoFit/>
          </a:bodyPr>
          <a:lstStyle/>
          <a:p>
            <a:pPr marL="9769">
              <a:spcBef>
                <a:spcPts val="104"/>
              </a:spcBef>
            </a:pPr>
            <a:r>
              <a:rPr spc="-142" dirty="0"/>
              <a:t>Performance</a:t>
            </a:r>
            <a:r>
              <a:rPr spc="-258" dirty="0"/>
              <a:t> </a:t>
            </a:r>
            <a:r>
              <a:rPr spc="-127" dirty="0"/>
              <a:t>Evaluation</a:t>
            </a:r>
            <a:r>
              <a:rPr spc="-296" dirty="0"/>
              <a:t> </a:t>
            </a:r>
            <a:r>
              <a:rPr spc="-81" dirty="0"/>
              <a:t>for</a:t>
            </a:r>
            <a:r>
              <a:rPr spc="-312" dirty="0"/>
              <a:t> </a:t>
            </a:r>
            <a:r>
              <a:rPr spc="-96" dirty="0"/>
              <a:t>Classification</a:t>
            </a:r>
          </a:p>
        </p:txBody>
      </p:sp>
      <p:grpSp>
        <p:nvGrpSpPr>
          <p:cNvPr id="3" name="object 3"/>
          <p:cNvGrpSpPr/>
          <p:nvPr/>
        </p:nvGrpSpPr>
        <p:grpSpPr>
          <a:xfrm>
            <a:off x="1318260" y="1357884"/>
            <a:ext cx="2072640" cy="2898806"/>
            <a:chOff x="1647825" y="1885950"/>
            <a:chExt cx="2590800" cy="3581400"/>
          </a:xfrm>
        </p:grpSpPr>
        <p:sp>
          <p:nvSpPr>
            <p:cNvPr id="4" name="object 4"/>
            <p:cNvSpPr/>
            <p:nvPr/>
          </p:nvSpPr>
          <p:spPr>
            <a:xfrm>
              <a:off x="1652587" y="1890712"/>
              <a:ext cx="2581275" cy="3571875"/>
            </a:xfrm>
            <a:custGeom>
              <a:avLst/>
              <a:gdLst/>
              <a:ahLst/>
              <a:cxnLst/>
              <a:rect l="l" t="t" r="r" b="b"/>
              <a:pathLst>
                <a:path w="2581275" h="3571875">
                  <a:moveTo>
                    <a:pt x="2532326" y="3571875"/>
                  </a:moveTo>
                  <a:lnTo>
                    <a:pt x="48948" y="3571875"/>
                  </a:lnTo>
                  <a:lnTo>
                    <a:pt x="45539" y="3571541"/>
                  </a:lnTo>
                  <a:lnTo>
                    <a:pt x="10744" y="3551453"/>
                  </a:lnTo>
                  <a:lnTo>
                    <a:pt x="0" y="3522926"/>
                  </a:lnTo>
                  <a:lnTo>
                    <a:pt x="0" y="3519487"/>
                  </a:lnTo>
                  <a:lnTo>
                    <a:pt x="0" y="48948"/>
                  </a:lnTo>
                  <a:lnTo>
                    <a:pt x="17773" y="12915"/>
                  </a:lnTo>
                  <a:lnTo>
                    <a:pt x="48948" y="0"/>
                  </a:lnTo>
                  <a:lnTo>
                    <a:pt x="2532326" y="0"/>
                  </a:lnTo>
                  <a:lnTo>
                    <a:pt x="2568359" y="17773"/>
                  </a:lnTo>
                  <a:lnTo>
                    <a:pt x="2581275" y="48948"/>
                  </a:lnTo>
                  <a:lnTo>
                    <a:pt x="2581275" y="3522926"/>
                  </a:lnTo>
                  <a:lnTo>
                    <a:pt x="2563501" y="3558959"/>
                  </a:lnTo>
                  <a:lnTo>
                    <a:pt x="2535735" y="3571541"/>
                  </a:lnTo>
                  <a:lnTo>
                    <a:pt x="2532326" y="3571875"/>
                  </a:lnTo>
                  <a:close/>
                </a:path>
              </a:pathLst>
            </a:custGeom>
            <a:solidFill>
              <a:srgbClr val="F0D4F6"/>
            </a:solidFill>
          </p:spPr>
          <p:txBody>
            <a:bodyPr wrap="square" lIns="0" tIns="0" rIns="0" bIns="0" rtlCol="0"/>
            <a:lstStyle/>
            <a:p>
              <a:endParaRPr/>
            </a:p>
          </p:txBody>
        </p:sp>
        <p:sp>
          <p:nvSpPr>
            <p:cNvPr id="5" name="object 5"/>
            <p:cNvSpPr/>
            <p:nvPr/>
          </p:nvSpPr>
          <p:spPr>
            <a:xfrm>
              <a:off x="1652587" y="1890712"/>
              <a:ext cx="2581275" cy="3571875"/>
            </a:xfrm>
            <a:custGeom>
              <a:avLst/>
              <a:gdLst/>
              <a:ahLst/>
              <a:cxnLst/>
              <a:rect l="l" t="t" r="r" b="b"/>
              <a:pathLst>
                <a:path w="2581275" h="3571875">
                  <a:moveTo>
                    <a:pt x="0" y="3519487"/>
                  </a:moveTo>
                  <a:lnTo>
                    <a:pt x="0" y="52387"/>
                  </a:lnTo>
                  <a:lnTo>
                    <a:pt x="0" y="48948"/>
                  </a:lnTo>
                  <a:lnTo>
                    <a:pt x="333" y="45539"/>
                  </a:lnTo>
                  <a:lnTo>
                    <a:pt x="1009" y="42167"/>
                  </a:lnTo>
                  <a:lnTo>
                    <a:pt x="1676" y="38795"/>
                  </a:lnTo>
                  <a:lnTo>
                    <a:pt x="2667" y="35518"/>
                  </a:lnTo>
                  <a:lnTo>
                    <a:pt x="3990" y="32337"/>
                  </a:lnTo>
                  <a:lnTo>
                    <a:pt x="5305" y="29165"/>
                  </a:lnTo>
                  <a:lnTo>
                    <a:pt x="6915" y="26146"/>
                  </a:lnTo>
                  <a:lnTo>
                    <a:pt x="32337" y="3990"/>
                  </a:lnTo>
                  <a:lnTo>
                    <a:pt x="35518" y="2667"/>
                  </a:lnTo>
                  <a:lnTo>
                    <a:pt x="38795" y="1676"/>
                  </a:lnTo>
                  <a:lnTo>
                    <a:pt x="42167" y="1009"/>
                  </a:lnTo>
                  <a:lnTo>
                    <a:pt x="45539" y="333"/>
                  </a:lnTo>
                  <a:lnTo>
                    <a:pt x="48948" y="0"/>
                  </a:lnTo>
                  <a:lnTo>
                    <a:pt x="52387" y="0"/>
                  </a:lnTo>
                  <a:lnTo>
                    <a:pt x="2528887" y="0"/>
                  </a:lnTo>
                  <a:lnTo>
                    <a:pt x="2532326" y="0"/>
                  </a:lnTo>
                  <a:lnTo>
                    <a:pt x="2535735" y="333"/>
                  </a:lnTo>
                  <a:lnTo>
                    <a:pt x="2539107" y="1009"/>
                  </a:lnTo>
                  <a:lnTo>
                    <a:pt x="2542479" y="1676"/>
                  </a:lnTo>
                  <a:lnTo>
                    <a:pt x="2545756" y="2667"/>
                  </a:lnTo>
                  <a:lnTo>
                    <a:pt x="2548937" y="3990"/>
                  </a:lnTo>
                  <a:lnTo>
                    <a:pt x="2552109" y="5305"/>
                  </a:lnTo>
                  <a:lnTo>
                    <a:pt x="2565930" y="15344"/>
                  </a:lnTo>
                  <a:lnTo>
                    <a:pt x="2568359" y="17773"/>
                  </a:lnTo>
                  <a:lnTo>
                    <a:pt x="2580265" y="42167"/>
                  </a:lnTo>
                  <a:lnTo>
                    <a:pt x="2580941" y="45539"/>
                  </a:lnTo>
                  <a:lnTo>
                    <a:pt x="2581275" y="48948"/>
                  </a:lnTo>
                  <a:lnTo>
                    <a:pt x="2581275" y="52387"/>
                  </a:lnTo>
                  <a:lnTo>
                    <a:pt x="2581275" y="3519487"/>
                  </a:lnTo>
                  <a:lnTo>
                    <a:pt x="2581275" y="3522926"/>
                  </a:lnTo>
                  <a:lnTo>
                    <a:pt x="2580941" y="3526335"/>
                  </a:lnTo>
                  <a:lnTo>
                    <a:pt x="2580265" y="3529707"/>
                  </a:lnTo>
                  <a:lnTo>
                    <a:pt x="2579598" y="3533079"/>
                  </a:lnTo>
                  <a:lnTo>
                    <a:pt x="2565930" y="3556530"/>
                  </a:lnTo>
                  <a:lnTo>
                    <a:pt x="2563501" y="3558959"/>
                  </a:lnTo>
                  <a:lnTo>
                    <a:pt x="2539107" y="3570865"/>
                  </a:lnTo>
                  <a:lnTo>
                    <a:pt x="2535735" y="3571541"/>
                  </a:lnTo>
                  <a:lnTo>
                    <a:pt x="2532326" y="3571875"/>
                  </a:lnTo>
                  <a:lnTo>
                    <a:pt x="2528887" y="3571875"/>
                  </a:lnTo>
                  <a:lnTo>
                    <a:pt x="52387" y="3571875"/>
                  </a:lnTo>
                  <a:lnTo>
                    <a:pt x="48948" y="3571875"/>
                  </a:lnTo>
                  <a:lnTo>
                    <a:pt x="45539" y="3571541"/>
                  </a:lnTo>
                  <a:lnTo>
                    <a:pt x="42167" y="3570865"/>
                  </a:lnTo>
                  <a:lnTo>
                    <a:pt x="38795" y="3570198"/>
                  </a:lnTo>
                  <a:lnTo>
                    <a:pt x="15344" y="3556530"/>
                  </a:lnTo>
                  <a:lnTo>
                    <a:pt x="12915" y="3554101"/>
                  </a:lnTo>
                  <a:lnTo>
                    <a:pt x="3990" y="3539537"/>
                  </a:lnTo>
                  <a:lnTo>
                    <a:pt x="2667" y="3536356"/>
                  </a:lnTo>
                  <a:lnTo>
                    <a:pt x="1676" y="3533079"/>
                  </a:lnTo>
                  <a:lnTo>
                    <a:pt x="1009" y="3529707"/>
                  </a:lnTo>
                  <a:lnTo>
                    <a:pt x="333" y="3526335"/>
                  </a:lnTo>
                  <a:lnTo>
                    <a:pt x="0" y="3522926"/>
                  </a:lnTo>
                  <a:lnTo>
                    <a:pt x="0" y="3519487"/>
                  </a:lnTo>
                  <a:close/>
                </a:path>
              </a:pathLst>
            </a:custGeom>
            <a:ln w="9525">
              <a:solidFill>
                <a:srgbClr val="E1A8EF"/>
              </a:solidFill>
            </a:ln>
          </p:spPr>
          <p:txBody>
            <a:bodyPr wrap="square" lIns="0" tIns="0" rIns="0" bIns="0" rtlCol="0"/>
            <a:lstStyle/>
            <a:p>
              <a:endParaRPr/>
            </a:p>
          </p:txBody>
        </p:sp>
      </p:grpSp>
      <p:sp>
        <p:nvSpPr>
          <p:cNvPr id="6" name="object 6"/>
          <p:cNvSpPr txBox="1"/>
          <p:nvPr/>
        </p:nvSpPr>
        <p:spPr>
          <a:xfrm>
            <a:off x="1457642" y="1467521"/>
            <a:ext cx="1761744" cy="2438734"/>
          </a:xfrm>
          <a:prstGeom prst="rect">
            <a:avLst/>
          </a:prstGeom>
        </p:spPr>
        <p:txBody>
          <a:bodyPr vert="horz" wrap="square" lIns="0" tIns="9769" rIns="0" bIns="0" rtlCol="0">
            <a:spAutoFit/>
          </a:bodyPr>
          <a:lstStyle/>
          <a:p>
            <a:pPr marL="9769">
              <a:spcBef>
                <a:spcPts val="77"/>
              </a:spcBef>
            </a:pPr>
            <a:r>
              <a:rPr sz="1700" b="1" spc="46" dirty="0">
                <a:solidFill>
                  <a:srgbClr val="262525"/>
                </a:solidFill>
                <a:latin typeface="Trebuchet MS"/>
                <a:cs typeface="Trebuchet MS"/>
              </a:rPr>
              <a:t>C</a:t>
            </a:r>
            <a:r>
              <a:rPr sz="1700" b="1" spc="-50" dirty="0">
                <a:solidFill>
                  <a:srgbClr val="262525"/>
                </a:solidFill>
                <a:latin typeface="Trebuchet MS"/>
                <a:cs typeface="Trebuchet MS"/>
              </a:rPr>
              <a:t>o</a:t>
            </a:r>
            <a:r>
              <a:rPr sz="1700" b="1" spc="-88" dirty="0">
                <a:solidFill>
                  <a:srgbClr val="262525"/>
                </a:solidFill>
                <a:latin typeface="Trebuchet MS"/>
                <a:cs typeface="Trebuchet MS"/>
              </a:rPr>
              <a:t>n</a:t>
            </a:r>
            <a:r>
              <a:rPr sz="1700" b="1" spc="-73" dirty="0">
                <a:solidFill>
                  <a:srgbClr val="262525"/>
                </a:solidFill>
                <a:latin typeface="Trebuchet MS"/>
                <a:cs typeface="Trebuchet MS"/>
              </a:rPr>
              <a:t>f</a:t>
            </a:r>
            <a:r>
              <a:rPr sz="1700" b="1" spc="-92" dirty="0">
                <a:solidFill>
                  <a:srgbClr val="262525"/>
                </a:solidFill>
                <a:latin typeface="Trebuchet MS"/>
                <a:cs typeface="Trebuchet MS"/>
              </a:rPr>
              <a:t>u</a:t>
            </a:r>
            <a:r>
              <a:rPr sz="1700" b="1" dirty="0">
                <a:solidFill>
                  <a:srgbClr val="262525"/>
                </a:solidFill>
                <a:latin typeface="Trebuchet MS"/>
                <a:cs typeface="Trebuchet MS"/>
              </a:rPr>
              <a:t>s</a:t>
            </a:r>
            <a:r>
              <a:rPr sz="1700" b="1" spc="-69" dirty="0">
                <a:solidFill>
                  <a:srgbClr val="262525"/>
                </a:solidFill>
                <a:latin typeface="Trebuchet MS"/>
                <a:cs typeface="Trebuchet MS"/>
              </a:rPr>
              <a:t>i</a:t>
            </a:r>
            <a:r>
              <a:rPr sz="1700" b="1" spc="-50" dirty="0">
                <a:solidFill>
                  <a:srgbClr val="262525"/>
                </a:solidFill>
                <a:latin typeface="Trebuchet MS"/>
                <a:cs typeface="Trebuchet MS"/>
              </a:rPr>
              <a:t>o</a:t>
            </a:r>
            <a:r>
              <a:rPr sz="1700" b="1" spc="-73" dirty="0">
                <a:solidFill>
                  <a:srgbClr val="262525"/>
                </a:solidFill>
                <a:latin typeface="Trebuchet MS"/>
                <a:cs typeface="Trebuchet MS"/>
              </a:rPr>
              <a:t>n</a:t>
            </a:r>
            <a:r>
              <a:rPr sz="1700" b="1" spc="-146" dirty="0">
                <a:solidFill>
                  <a:srgbClr val="262525"/>
                </a:solidFill>
                <a:latin typeface="Trebuchet MS"/>
                <a:cs typeface="Trebuchet MS"/>
              </a:rPr>
              <a:t> </a:t>
            </a:r>
            <a:r>
              <a:rPr sz="1700" b="1" spc="288" dirty="0" smtClean="0">
                <a:solidFill>
                  <a:srgbClr val="262525"/>
                </a:solidFill>
                <a:latin typeface="Trebuchet MS"/>
                <a:cs typeface="Trebuchet MS"/>
              </a:rPr>
              <a:t>M</a:t>
            </a:r>
            <a:r>
              <a:rPr sz="1700" b="1" spc="-112" dirty="0" smtClean="0">
                <a:solidFill>
                  <a:srgbClr val="262525"/>
                </a:solidFill>
                <a:latin typeface="Trebuchet MS"/>
                <a:cs typeface="Trebuchet MS"/>
              </a:rPr>
              <a:t>a</a:t>
            </a:r>
            <a:r>
              <a:rPr sz="1700" b="1" spc="-115" dirty="0" smtClean="0">
                <a:solidFill>
                  <a:srgbClr val="262525"/>
                </a:solidFill>
                <a:latin typeface="Trebuchet MS"/>
                <a:cs typeface="Trebuchet MS"/>
              </a:rPr>
              <a:t>t</a:t>
            </a:r>
            <a:r>
              <a:rPr sz="1700" b="1" spc="-54" dirty="0" smtClean="0">
                <a:solidFill>
                  <a:srgbClr val="262525"/>
                </a:solidFill>
                <a:latin typeface="Trebuchet MS"/>
                <a:cs typeface="Trebuchet MS"/>
              </a:rPr>
              <a:t>r</a:t>
            </a:r>
            <a:r>
              <a:rPr sz="1700" b="1" spc="-69" dirty="0" smtClean="0">
                <a:solidFill>
                  <a:srgbClr val="262525"/>
                </a:solidFill>
                <a:latin typeface="Trebuchet MS"/>
                <a:cs typeface="Trebuchet MS"/>
              </a:rPr>
              <a:t>i</a:t>
            </a:r>
            <a:r>
              <a:rPr sz="1700" b="1" spc="-112" dirty="0" smtClean="0">
                <a:solidFill>
                  <a:srgbClr val="262525"/>
                </a:solidFill>
                <a:latin typeface="Trebuchet MS"/>
                <a:cs typeface="Trebuchet MS"/>
              </a:rPr>
              <a:t>x</a:t>
            </a:r>
            <a:endParaRPr lang="en-US" sz="1700" b="1" spc="-112" dirty="0" smtClean="0">
              <a:solidFill>
                <a:srgbClr val="262525"/>
              </a:solidFill>
              <a:latin typeface="Trebuchet MS"/>
              <a:cs typeface="Trebuchet MS"/>
            </a:endParaRPr>
          </a:p>
          <a:p>
            <a:pPr marL="9769">
              <a:spcBef>
                <a:spcPts val="77"/>
              </a:spcBef>
            </a:pPr>
            <a:r>
              <a:rPr lang="en-US" dirty="0" smtClean="0"/>
              <a:t>A confusion matrix is a table used to evaluate the performance of a classification algorithm. It shows the number of correct and incorrect predictions for each class.</a:t>
            </a:r>
            <a:endParaRPr dirty="0">
              <a:latin typeface="Trebuchet MS"/>
              <a:cs typeface="Trebuchet MS"/>
            </a:endParaRPr>
          </a:p>
        </p:txBody>
      </p:sp>
      <p:grpSp>
        <p:nvGrpSpPr>
          <p:cNvPr id="7" name="object 7"/>
          <p:cNvGrpSpPr/>
          <p:nvPr/>
        </p:nvGrpSpPr>
        <p:grpSpPr>
          <a:xfrm>
            <a:off x="3535680" y="1357884"/>
            <a:ext cx="2072640" cy="3645040"/>
            <a:chOff x="4419600" y="1885950"/>
            <a:chExt cx="2590800" cy="3581400"/>
          </a:xfrm>
        </p:grpSpPr>
        <p:sp>
          <p:nvSpPr>
            <p:cNvPr id="8" name="object 8"/>
            <p:cNvSpPr/>
            <p:nvPr/>
          </p:nvSpPr>
          <p:spPr>
            <a:xfrm>
              <a:off x="4424362" y="1890712"/>
              <a:ext cx="2581275" cy="3571875"/>
            </a:xfrm>
            <a:custGeom>
              <a:avLst/>
              <a:gdLst/>
              <a:ahLst/>
              <a:cxnLst/>
              <a:rect l="l" t="t" r="r" b="b"/>
              <a:pathLst>
                <a:path w="2581275" h="3571875">
                  <a:moveTo>
                    <a:pt x="2532326" y="3571875"/>
                  </a:moveTo>
                  <a:lnTo>
                    <a:pt x="48948" y="3571875"/>
                  </a:lnTo>
                  <a:lnTo>
                    <a:pt x="45539" y="3571541"/>
                  </a:lnTo>
                  <a:lnTo>
                    <a:pt x="10734" y="3551453"/>
                  </a:lnTo>
                  <a:lnTo>
                    <a:pt x="0" y="3522926"/>
                  </a:lnTo>
                  <a:lnTo>
                    <a:pt x="0" y="3519487"/>
                  </a:lnTo>
                  <a:lnTo>
                    <a:pt x="0" y="48948"/>
                  </a:lnTo>
                  <a:lnTo>
                    <a:pt x="17773" y="12915"/>
                  </a:lnTo>
                  <a:lnTo>
                    <a:pt x="48948" y="0"/>
                  </a:lnTo>
                  <a:lnTo>
                    <a:pt x="2532326" y="0"/>
                  </a:lnTo>
                  <a:lnTo>
                    <a:pt x="2568359" y="17773"/>
                  </a:lnTo>
                  <a:lnTo>
                    <a:pt x="2581275" y="48948"/>
                  </a:lnTo>
                  <a:lnTo>
                    <a:pt x="2581275" y="3522926"/>
                  </a:lnTo>
                  <a:lnTo>
                    <a:pt x="2563501" y="3558959"/>
                  </a:lnTo>
                  <a:lnTo>
                    <a:pt x="2535735" y="3571541"/>
                  </a:lnTo>
                  <a:lnTo>
                    <a:pt x="2532326" y="3571875"/>
                  </a:lnTo>
                  <a:close/>
                </a:path>
              </a:pathLst>
            </a:custGeom>
            <a:solidFill>
              <a:srgbClr val="F0D4F6"/>
            </a:solidFill>
          </p:spPr>
          <p:txBody>
            <a:bodyPr wrap="square" lIns="0" tIns="0" rIns="0" bIns="0" rtlCol="0"/>
            <a:lstStyle/>
            <a:p>
              <a:endParaRPr/>
            </a:p>
          </p:txBody>
        </p:sp>
        <p:sp>
          <p:nvSpPr>
            <p:cNvPr id="9" name="object 9"/>
            <p:cNvSpPr/>
            <p:nvPr/>
          </p:nvSpPr>
          <p:spPr>
            <a:xfrm>
              <a:off x="4424362" y="1890712"/>
              <a:ext cx="2581275" cy="3571875"/>
            </a:xfrm>
            <a:custGeom>
              <a:avLst/>
              <a:gdLst/>
              <a:ahLst/>
              <a:cxnLst/>
              <a:rect l="l" t="t" r="r" b="b"/>
              <a:pathLst>
                <a:path w="2581275" h="3571875">
                  <a:moveTo>
                    <a:pt x="0" y="3519487"/>
                  </a:moveTo>
                  <a:lnTo>
                    <a:pt x="0" y="52387"/>
                  </a:lnTo>
                  <a:lnTo>
                    <a:pt x="0" y="48948"/>
                  </a:lnTo>
                  <a:lnTo>
                    <a:pt x="333" y="45539"/>
                  </a:lnTo>
                  <a:lnTo>
                    <a:pt x="1009" y="42167"/>
                  </a:lnTo>
                  <a:lnTo>
                    <a:pt x="1676" y="38795"/>
                  </a:lnTo>
                  <a:lnTo>
                    <a:pt x="2666" y="35518"/>
                  </a:lnTo>
                  <a:lnTo>
                    <a:pt x="3990" y="32337"/>
                  </a:lnTo>
                  <a:lnTo>
                    <a:pt x="5305" y="29165"/>
                  </a:lnTo>
                  <a:lnTo>
                    <a:pt x="6915" y="26146"/>
                  </a:lnTo>
                  <a:lnTo>
                    <a:pt x="8829" y="23279"/>
                  </a:lnTo>
                  <a:lnTo>
                    <a:pt x="10734" y="20421"/>
                  </a:lnTo>
                  <a:lnTo>
                    <a:pt x="12906" y="17773"/>
                  </a:lnTo>
                  <a:lnTo>
                    <a:pt x="15344" y="15344"/>
                  </a:lnTo>
                  <a:lnTo>
                    <a:pt x="17773" y="12915"/>
                  </a:lnTo>
                  <a:lnTo>
                    <a:pt x="20421" y="10744"/>
                  </a:lnTo>
                  <a:lnTo>
                    <a:pt x="23279" y="8829"/>
                  </a:lnTo>
                  <a:lnTo>
                    <a:pt x="26146" y="6915"/>
                  </a:lnTo>
                  <a:lnTo>
                    <a:pt x="29165" y="5305"/>
                  </a:lnTo>
                  <a:lnTo>
                    <a:pt x="32337" y="3990"/>
                  </a:lnTo>
                  <a:lnTo>
                    <a:pt x="35518" y="2667"/>
                  </a:lnTo>
                  <a:lnTo>
                    <a:pt x="38795" y="1676"/>
                  </a:lnTo>
                  <a:lnTo>
                    <a:pt x="42167" y="1009"/>
                  </a:lnTo>
                  <a:lnTo>
                    <a:pt x="45539" y="333"/>
                  </a:lnTo>
                  <a:lnTo>
                    <a:pt x="48948" y="0"/>
                  </a:lnTo>
                  <a:lnTo>
                    <a:pt x="52387" y="0"/>
                  </a:lnTo>
                  <a:lnTo>
                    <a:pt x="2528887" y="0"/>
                  </a:lnTo>
                  <a:lnTo>
                    <a:pt x="2532326" y="0"/>
                  </a:lnTo>
                  <a:lnTo>
                    <a:pt x="2535735" y="333"/>
                  </a:lnTo>
                  <a:lnTo>
                    <a:pt x="2539107" y="1009"/>
                  </a:lnTo>
                  <a:lnTo>
                    <a:pt x="2542479" y="1676"/>
                  </a:lnTo>
                  <a:lnTo>
                    <a:pt x="2545756" y="2667"/>
                  </a:lnTo>
                  <a:lnTo>
                    <a:pt x="2548937" y="3990"/>
                  </a:lnTo>
                  <a:lnTo>
                    <a:pt x="2552109" y="5305"/>
                  </a:lnTo>
                  <a:lnTo>
                    <a:pt x="2578598" y="35518"/>
                  </a:lnTo>
                  <a:lnTo>
                    <a:pt x="2580265" y="42167"/>
                  </a:lnTo>
                  <a:lnTo>
                    <a:pt x="2580941" y="45539"/>
                  </a:lnTo>
                  <a:lnTo>
                    <a:pt x="2581275" y="48948"/>
                  </a:lnTo>
                  <a:lnTo>
                    <a:pt x="2581275" y="52387"/>
                  </a:lnTo>
                  <a:lnTo>
                    <a:pt x="2581275" y="3519487"/>
                  </a:lnTo>
                  <a:lnTo>
                    <a:pt x="2581275" y="3522926"/>
                  </a:lnTo>
                  <a:lnTo>
                    <a:pt x="2580941" y="3526335"/>
                  </a:lnTo>
                  <a:lnTo>
                    <a:pt x="2580265" y="3529707"/>
                  </a:lnTo>
                  <a:lnTo>
                    <a:pt x="2579598" y="3533079"/>
                  </a:lnTo>
                  <a:lnTo>
                    <a:pt x="2565930" y="3556530"/>
                  </a:lnTo>
                  <a:lnTo>
                    <a:pt x="2563501" y="3558959"/>
                  </a:lnTo>
                  <a:lnTo>
                    <a:pt x="2539107" y="3570865"/>
                  </a:lnTo>
                  <a:lnTo>
                    <a:pt x="2535735" y="3571541"/>
                  </a:lnTo>
                  <a:lnTo>
                    <a:pt x="2532326" y="3571875"/>
                  </a:lnTo>
                  <a:lnTo>
                    <a:pt x="2528887" y="3571875"/>
                  </a:lnTo>
                  <a:lnTo>
                    <a:pt x="52387" y="3571875"/>
                  </a:lnTo>
                  <a:lnTo>
                    <a:pt x="48948" y="3571875"/>
                  </a:lnTo>
                  <a:lnTo>
                    <a:pt x="45539" y="3571541"/>
                  </a:lnTo>
                  <a:lnTo>
                    <a:pt x="42167" y="3570865"/>
                  </a:lnTo>
                  <a:lnTo>
                    <a:pt x="38795" y="3570198"/>
                  </a:lnTo>
                  <a:lnTo>
                    <a:pt x="15344" y="3556530"/>
                  </a:lnTo>
                  <a:lnTo>
                    <a:pt x="12906" y="3554101"/>
                  </a:lnTo>
                  <a:lnTo>
                    <a:pt x="10734" y="3551453"/>
                  </a:lnTo>
                  <a:lnTo>
                    <a:pt x="8829" y="3548595"/>
                  </a:lnTo>
                  <a:lnTo>
                    <a:pt x="6915" y="3545728"/>
                  </a:lnTo>
                  <a:lnTo>
                    <a:pt x="5305" y="3542709"/>
                  </a:lnTo>
                  <a:lnTo>
                    <a:pt x="3990" y="3539537"/>
                  </a:lnTo>
                  <a:lnTo>
                    <a:pt x="2666" y="3536356"/>
                  </a:lnTo>
                  <a:lnTo>
                    <a:pt x="1676" y="3533079"/>
                  </a:lnTo>
                  <a:lnTo>
                    <a:pt x="1009" y="3529707"/>
                  </a:lnTo>
                  <a:lnTo>
                    <a:pt x="333" y="3526335"/>
                  </a:lnTo>
                  <a:lnTo>
                    <a:pt x="0" y="3522926"/>
                  </a:lnTo>
                  <a:lnTo>
                    <a:pt x="0" y="3519487"/>
                  </a:lnTo>
                  <a:close/>
                </a:path>
              </a:pathLst>
            </a:custGeom>
            <a:ln w="9525">
              <a:solidFill>
                <a:srgbClr val="E1A8EF"/>
              </a:solidFill>
            </a:ln>
          </p:spPr>
          <p:txBody>
            <a:bodyPr wrap="square" lIns="0" tIns="0" rIns="0" bIns="0" rtlCol="0"/>
            <a:lstStyle/>
            <a:p>
              <a:endParaRPr/>
            </a:p>
          </p:txBody>
        </p:sp>
      </p:grpSp>
      <p:sp>
        <p:nvSpPr>
          <p:cNvPr id="10" name="object 10"/>
          <p:cNvSpPr txBox="1"/>
          <p:nvPr/>
        </p:nvSpPr>
        <p:spPr>
          <a:xfrm>
            <a:off x="3605048" y="1467521"/>
            <a:ext cx="1860331" cy="3522660"/>
          </a:xfrm>
          <a:prstGeom prst="rect">
            <a:avLst/>
          </a:prstGeom>
        </p:spPr>
        <p:txBody>
          <a:bodyPr vert="horz" wrap="square" lIns="0" tIns="8792" rIns="0" bIns="0" rtlCol="0">
            <a:spAutoFit/>
          </a:bodyPr>
          <a:lstStyle/>
          <a:p>
            <a:pPr marL="9769" marR="468904">
              <a:lnSpc>
                <a:spcPts val="2077"/>
              </a:lnSpc>
              <a:spcBef>
                <a:spcPts val="69"/>
              </a:spcBef>
            </a:pPr>
            <a:r>
              <a:rPr sz="1700" b="1" spc="31" dirty="0">
                <a:solidFill>
                  <a:srgbClr val="262525"/>
                </a:solidFill>
                <a:latin typeface="Trebuchet MS"/>
                <a:cs typeface="Trebuchet MS"/>
              </a:rPr>
              <a:t>P</a:t>
            </a:r>
            <a:r>
              <a:rPr sz="1700" b="1" spc="-54" dirty="0">
                <a:solidFill>
                  <a:srgbClr val="262525"/>
                </a:solidFill>
                <a:latin typeface="Trebuchet MS"/>
                <a:cs typeface="Trebuchet MS"/>
              </a:rPr>
              <a:t>r</a:t>
            </a:r>
            <a:r>
              <a:rPr sz="1700" b="1" spc="-176" dirty="0">
                <a:solidFill>
                  <a:srgbClr val="262525"/>
                </a:solidFill>
                <a:latin typeface="Trebuchet MS"/>
                <a:cs typeface="Trebuchet MS"/>
              </a:rPr>
              <a:t>e</a:t>
            </a:r>
            <a:r>
              <a:rPr sz="1700" b="1" spc="-77" dirty="0">
                <a:solidFill>
                  <a:srgbClr val="262525"/>
                </a:solidFill>
                <a:latin typeface="Trebuchet MS"/>
                <a:cs typeface="Trebuchet MS"/>
              </a:rPr>
              <a:t>c</a:t>
            </a:r>
            <a:r>
              <a:rPr sz="1700" b="1" spc="-69" dirty="0">
                <a:solidFill>
                  <a:srgbClr val="262525"/>
                </a:solidFill>
                <a:latin typeface="Trebuchet MS"/>
                <a:cs typeface="Trebuchet MS"/>
              </a:rPr>
              <a:t>i</a:t>
            </a:r>
            <a:r>
              <a:rPr sz="1700" b="1" dirty="0">
                <a:solidFill>
                  <a:srgbClr val="262525"/>
                </a:solidFill>
                <a:latin typeface="Trebuchet MS"/>
                <a:cs typeface="Trebuchet MS"/>
              </a:rPr>
              <a:t>s</a:t>
            </a:r>
            <a:r>
              <a:rPr sz="1700" b="1" spc="-69" dirty="0">
                <a:solidFill>
                  <a:srgbClr val="262525"/>
                </a:solidFill>
                <a:latin typeface="Trebuchet MS"/>
                <a:cs typeface="Trebuchet MS"/>
              </a:rPr>
              <a:t>i</a:t>
            </a:r>
            <a:r>
              <a:rPr sz="1700" b="1" spc="-50" dirty="0">
                <a:solidFill>
                  <a:srgbClr val="262525"/>
                </a:solidFill>
                <a:latin typeface="Trebuchet MS"/>
                <a:cs typeface="Trebuchet MS"/>
              </a:rPr>
              <a:t>o</a:t>
            </a:r>
            <a:r>
              <a:rPr sz="1700" b="1" spc="-73" dirty="0">
                <a:solidFill>
                  <a:srgbClr val="262525"/>
                </a:solidFill>
                <a:latin typeface="Trebuchet MS"/>
                <a:cs typeface="Trebuchet MS"/>
              </a:rPr>
              <a:t>n</a:t>
            </a:r>
            <a:r>
              <a:rPr sz="1700" b="1" spc="-146" dirty="0">
                <a:solidFill>
                  <a:srgbClr val="262525"/>
                </a:solidFill>
                <a:latin typeface="Trebuchet MS"/>
                <a:cs typeface="Trebuchet MS"/>
              </a:rPr>
              <a:t> </a:t>
            </a:r>
            <a:r>
              <a:rPr sz="1700" b="1" spc="-112" dirty="0">
                <a:solidFill>
                  <a:srgbClr val="262525"/>
                </a:solidFill>
                <a:latin typeface="Trebuchet MS"/>
                <a:cs typeface="Trebuchet MS"/>
              </a:rPr>
              <a:t>a</a:t>
            </a:r>
            <a:r>
              <a:rPr sz="1700" b="1" spc="-88" dirty="0">
                <a:solidFill>
                  <a:srgbClr val="262525"/>
                </a:solidFill>
                <a:latin typeface="Trebuchet MS"/>
                <a:cs typeface="Trebuchet MS"/>
              </a:rPr>
              <a:t>n</a:t>
            </a:r>
            <a:r>
              <a:rPr sz="1700" b="1" spc="-38" dirty="0">
                <a:solidFill>
                  <a:srgbClr val="262525"/>
                </a:solidFill>
                <a:latin typeface="Trebuchet MS"/>
                <a:cs typeface="Trebuchet MS"/>
              </a:rPr>
              <a:t>d  </a:t>
            </a:r>
            <a:r>
              <a:rPr sz="1700" b="1" spc="-69" dirty="0" smtClean="0">
                <a:solidFill>
                  <a:srgbClr val="262525"/>
                </a:solidFill>
                <a:latin typeface="Trebuchet MS"/>
                <a:cs typeface="Trebuchet MS"/>
              </a:rPr>
              <a:t>Recall</a:t>
            </a:r>
            <a:endParaRPr lang="en-US" sz="1700" b="1" spc="-69" dirty="0" smtClean="0">
              <a:solidFill>
                <a:srgbClr val="262525"/>
              </a:solidFill>
              <a:latin typeface="Trebuchet MS"/>
              <a:cs typeface="Trebuchet MS"/>
            </a:endParaRPr>
          </a:p>
          <a:p>
            <a:pPr marL="9769" marR="468904">
              <a:lnSpc>
                <a:spcPts val="2077"/>
              </a:lnSpc>
              <a:spcBef>
                <a:spcPts val="69"/>
              </a:spcBef>
            </a:pPr>
            <a:r>
              <a:rPr lang="en-US" sz="1200" dirty="0" smtClean="0"/>
              <a:t>Precision is the</a:t>
            </a:r>
          </a:p>
          <a:p>
            <a:pPr marL="9769" marR="468904">
              <a:lnSpc>
                <a:spcPts val="2077"/>
              </a:lnSpc>
              <a:spcBef>
                <a:spcPts val="69"/>
              </a:spcBef>
            </a:pPr>
            <a:r>
              <a:rPr lang="en-US" sz="1200" dirty="0" smtClean="0"/>
              <a:t>number of true positives divided by the number of true positives plus false positives. Recall is the number of true positives divided by the number of true positives plus false negatives</a:t>
            </a:r>
            <a:r>
              <a:rPr lang="en-US" dirty="0" smtClean="0"/>
              <a:t>.</a:t>
            </a:r>
            <a:endParaRPr dirty="0">
              <a:latin typeface="Trebuchet MS"/>
              <a:cs typeface="Trebuchet MS"/>
            </a:endParaRPr>
          </a:p>
        </p:txBody>
      </p:sp>
      <p:grpSp>
        <p:nvGrpSpPr>
          <p:cNvPr id="11" name="object 11"/>
          <p:cNvGrpSpPr/>
          <p:nvPr/>
        </p:nvGrpSpPr>
        <p:grpSpPr>
          <a:xfrm>
            <a:off x="5753100" y="1357884"/>
            <a:ext cx="2080260" cy="3077482"/>
            <a:chOff x="7191375" y="1885950"/>
            <a:chExt cx="2600325" cy="3581400"/>
          </a:xfrm>
        </p:grpSpPr>
        <p:sp>
          <p:nvSpPr>
            <p:cNvPr id="12" name="object 12"/>
            <p:cNvSpPr/>
            <p:nvPr/>
          </p:nvSpPr>
          <p:spPr>
            <a:xfrm>
              <a:off x="7196137" y="1890712"/>
              <a:ext cx="2590800" cy="3571875"/>
            </a:xfrm>
            <a:custGeom>
              <a:avLst/>
              <a:gdLst/>
              <a:ahLst/>
              <a:cxnLst/>
              <a:rect l="l" t="t" r="r" b="b"/>
              <a:pathLst>
                <a:path w="2590800" h="3571875">
                  <a:moveTo>
                    <a:pt x="2541841" y="3571875"/>
                  </a:moveTo>
                  <a:lnTo>
                    <a:pt x="48948" y="3571875"/>
                  </a:lnTo>
                  <a:lnTo>
                    <a:pt x="45539" y="3571541"/>
                  </a:lnTo>
                  <a:lnTo>
                    <a:pt x="10744" y="3551453"/>
                  </a:lnTo>
                  <a:lnTo>
                    <a:pt x="0" y="3522926"/>
                  </a:lnTo>
                  <a:lnTo>
                    <a:pt x="0" y="3519487"/>
                  </a:lnTo>
                  <a:lnTo>
                    <a:pt x="0" y="48948"/>
                  </a:lnTo>
                  <a:lnTo>
                    <a:pt x="17773" y="12915"/>
                  </a:lnTo>
                  <a:lnTo>
                    <a:pt x="48948" y="0"/>
                  </a:lnTo>
                  <a:lnTo>
                    <a:pt x="2541841" y="0"/>
                  </a:lnTo>
                  <a:lnTo>
                    <a:pt x="2577846" y="17773"/>
                  </a:lnTo>
                  <a:lnTo>
                    <a:pt x="2590800" y="48948"/>
                  </a:lnTo>
                  <a:lnTo>
                    <a:pt x="2590800" y="3522926"/>
                  </a:lnTo>
                  <a:lnTo>
                    <a:pt x="2572988" y="3558959"/>
                  </a:lnTo>
                  <a:lnTo>
                    <a:pt x="2545270" y="3571541"/>
                  </a:lnTo>
                  <a:lnTo>
                    <a:pt x="2541841" y="3571875"/>
                  </a:lnTo>
                  <a:close/>
                </a:path>
              </a:pathLst>
            </a:custGeom>
            <a:solidFill>
              <a:srgbClr val="F0D4F6"/>
            </a:solidFill>
          </p:spPr>
          <p:txBody>
            <a:bodyPr wrap="square" lIns="0" tIns="0" rIns="0" bIns="0" rtlCol="0"/>
            <a:lstStyle/>
            <a:p>
              <a:endParaRPr/>
            </a:p>
          </p:txBody>
        </p:sp>
        <p:sp>
          <p:nvSpPr>
            <p:cNvPr id="13" name="object 13"/>
            <p:cNvSpPr/>
            <p:nvPr/>
          </p:nvSpPr>
          <p:spPr>
            <a:xfrm>
              <a:off x="7196137" y="1890712"/>
              <a:ext cx="2590800" cy="3571875"/>
            </a:xfrm>
            <a:custGeom>
              <a:avLst/>
              <a:gdLst/>
              <a:ahLst/>
              <a:cxnLst/>
              <a:rect l="l" t="t" r="r" b="b"/>
              <a:pathLst>
                <a:path w="2590800" h="3571875">
                  <a:moveTo>
                    <a:pt x="0" y="3519487"/>
                  </a:moveTo>
                  <a:lnTo>
                    <a:pt x="0" y="52387"/>
                  </a:lnTo>
                  <a:lnTo>
                    <a:pt x="0" y="48948"/>
                  </a:lnTo>
                  <a:lnTo>
                    <a:pt x="333" y="45539"/>
                  </a:lnTo>
                  <a:lnTo>
                    <a:pt x="1009" y="42167"/>
                  </a:lnTo>
                  <a:lnTo>
                    <a:pt x="1676" y="38795"/>
                  </a:lnTo>
                  <a:lnTo>
                    <a:pt x="2667" y="35518"/>
                  </a:lnTo>
                  <a:lnTo>
                    <a:pt x="3990" y="32337"/>
                  </a:lnTo>
                  <a:lnTo>
                    <a:pt x="5305" y="29165"/>
                  </a:lnTo>
                  <a:lnTo>
                    <a:pt x="6915" y="26146"/>
                  </a:lnTo>
                  <a:lnTo>
                    <a:pt x="8829" y="23279"/>
                  </a:lnTo>
                  <a:lnTo>
                    <a:pt x="10734" y="20421"/>
                  </a:lnTo>
                  <a:lnTo>
                    <a:pt x="12915" y="17773"/>
                  </a:lnTo>
                  <a:lnTo>
                    <a:pt x="32337" y="3990"/>
                  </a:lnTo>
                  <a:lnTo>
                    <a:pt x="35518" y="2667"/>
                  </a:lnTo>
                  <a:lnTo>
                    <a:pt x="38795" y="1676"/>
                  </a:lnTo>
                  <a:lnTo>
                    <a:pt x="42167" y="1009"/>
                  </a:lnTo>
                  <a:lnTo>
                    <a:pt x="45539" y="333"/>
                  </a:lnTo>
                  <a:lnTo>
                    <a:pt x="48948" y="0"/>
                  </a:lnTo>
                  <a:lnTo>
                    <a:pt x="52387" y="0"/>
                  </a:lnTo>
                  <a:lnTo>
                    <a:pt x="2538412" y="0"/>
                  </a:lnTo>
                  <a:lnTo>
                    <a:pt x="2541841" y="0"/>
                  </a:lnTo>
                  <a:lnTo>
                    <a:pt x="2545270" y="333"/>
                  </a:lnTo>
                  <a:lnTo>
                    <a:pt x="2548604" y="1009"/>
                  </a:lnTo>
                  <a:lnTo>
                    <a:pt x="2552033" y="1676"/>
                  </a:lnTo>
                  <a:lnTo>
                    <a:pt x="2555271" y="2667"/>
                  </a:lnTo>
                  <a:lnTo>
                    <a:pt x="2558414" y="3990"/>
                  </a:lnTo>
                  <a:lnTo>
                    <a:pt x="2561653" y="5305"/>
                  </a:lnTo>
                  <a:lnTo>
                    <a:pt x="2588132" y="35518"/>
                  </a:lnTo>
                  <a:lnTo>
                    <a:pt x="2590800" y="48948"/>
                  </a:lnTo>
                  <a:lnTo>
                    <a:pt x="2590800" y="52387"/>
                  </a:lnTo>
                  <a:lnTo>
                    <a:pt x="2590800" y="3519487"/>
                  </a:lnTo>
                  <a:lnTo>
                    <a:pt x="2590800" y="3522926"/>
                  </a:lnTo>
                  <a:lnTo>
                    <a:pt x="2590419" y="3526335"/>
                  </a:lnTo>
                  <a:lnTo>
                    <a:pt x="2589752" y="3529707"/>
                  </a:lnTo>
                  <a:lnTo>
                    <a:pt x="2589085" y="3533079"/>
                  </a:lnTo>
                  <a:lnTo>
                    <a:pt x="2567558" y="3563045"/>
                  </a:lnTo>
                  <a:lnTo>
                    <a:pt x="2564701" y="3564959"/>
                  </a:lnTo>
                  <a:lnTo>
                    <a:pt x="2561653" y="3566569"/>
                  </a:lnTo>
                  <a:lnTo>
                    <a:pt x="2558414" y="3567884"/>
                  </a:lnTo>
                  <a:lnTo>
                    <a:pt x="2555271" y="3569198"/>
                  </a:lnTo>
                  <a:lnTo>
                    <a:pt x="2552033" y="3570198"/>
                  </a:lnTo>
                  <a:lnTo>
                    <a:pt x="2548604" y="3570865"/>
                  </a:lnTo>
                  <a:lnTo>
                    <a:pt x="2545270" y="3571541"/>
                  </a:lnTo>
                  <a:lnTo>
                    <a:pt x="2541841" y="3571875"/>
                  </a:lnTo>
                  <a:lnTo>
                    <a:pt x="2538412" y="3571875"/>
                  </a:lnTo>
                  <a:lnTo>
                    <a:pt x="52387" y="3571875"/>
                  </a:lnTo>
                  <a:lnTo>
                    <a:pt x="48948" y="3571875"/>
                  </a:lnTo>
                  <a:lnTo>
                    <a:pt x="45539" y="3571541"/>
                  </a:lnTo>
                  <a:lnTo>
                    <a:pt x="42167" y="3570865"/>
                  </a:lnTo>
                  <a:lnTo>
                    <a:pt x="38795" y="3570198"/>
                  </a:lnTo>
                  <a:lnTo>
                    <a:pt x="35518" y="3569198"/>
                  </a:lnTo>
                  <a:lnTo>
                    <a:pt x="32337" y="3567884"/>
                  </a:lnTo>
                  <a:lnTo>
                    <a:pt x="29156" y="3566569"/>
                  </a:lnTo>
                  <a:lnTo>
                    <a:pt x="15344" y="3556530"/>
                  </a:lnTo>
                  <a:lnTo>
                    <a:pt x="12915" y="3554101"/>
                  </a:lnTo>
                  <a:lnTo>
                    <a:pt x="3990" y="3539537"/>
                  </a:lnTo>
                  <a:lnTo>
                    <a:pt x="2667" y="3536356"/>
                  </a:lnTo>
                  <a:lnTo>
                    <a:pt x="1676" y="3533079"/>
                  </a:lnTo>
                  <a:lnTo>
                    <a:pt x="1009" y="3529707"/>
                  </a:lnTo>
                  <a:lnTo>
                    <a:pt x="333" y="3526335"/>
                  </a:lnTo>
                  <a:lnTo>
                    <a:pt x="0" y="3522926"/>
                  </a:lnTo>
                  <a:lnTo>
                    <a:pt x="0" y="3519487"/>
                  </a:lnTo>
                  <a:close/>
                </a:path>
              </a:pathLst>
            </a:custGeom>
            <a:ln w="9525">
              <a:solidFill>
                <a:srgbClr val="E1A8EF"/>
              </a:solidFill>
            </a:ln>
          </p:spPr>
          <p:txBody>
            <a:bodyPr wrap="square" lIns="0" tIns="0" rIns="0" bIns="0" rtlCol="0"/>
            <a:lstStyle/>
            <a:p>
              <a:endParaRPr/>
            </a:p>
          </p:txBody>
        </p:sp>
      </p:grpSp>
      <p:sp>
        <p:nvSpPr>
          <p:cNvPr id="14" name="object 14"/>
          <p:cNvSpPr txBox="1"/>
          <p:nvPr/>
        </p:nvSpPr>
        <p:spPr>
          <a:xfrm>
            <a:off x="5898197" y="1467520"/>
            <a:ext cx="1735328" cy="2773698"/>
          </a:xfrm>
          <a:prstGeom prst="rect">
            <a:avLst/>
          </a:prstGeom>
        </p:spPr>
        <p:txBody>
          <a:bodyPr vert="horz" wrap="square" lIns="0" tIns="9769" rIns="0" bIns="0" rtlCol="0">
            <a:spAutoFit/>
          </a:bodyPr>
          <a:lstStyle/>
          <a:p>
            <a:pPr marL="9769">
              <a:spcBef>
                <a:spcPts val="77"/>
              </a:spcBef>
            </a:pPr>
            <a:r>
              <a:rPr sz="1700" b="1" spc="-135" dirty="0">
                <a:solidFill>
                  <a:srgbClr val="262525"/>
                </a:solidFill>
                <a:latin typeface="Trebuchet MS"/>
                <a:cs typeface="Trebuchet MS"/>
              </a:rPr>
              <a:t>F</a:t>
            </a:r>
            <a:r>
              <a:rPr sz="1700" b="1" spc="-31" dirty="0">
                <a:solidFill>
                  <a:srgbClr val="262525"/>
                </a:solidFill>
                <a:latin typeface="Trebuchet MS"/>
                <a:cs typeface="Trebuchet MS"/>
              </a:rPr>
              <a:t>1</a:t>
            </a:r>
            <a:r>
              <a:rPr sz="1700" b="1" spc="-123" dirty="0">
                <a:solidFill>
                  <a:srgbClr val="262525"/>
                </a:solidFill>
                <a:latin typeface="Trebuchet MS"/>
                <a:cs typeface="Trebuchet MS"/>
              </a:rPr>
              <a:t> </a:t>
            </a:r>
            <a:r>
              <a:rPr sz="1700" b="1" spc="157" dirty="0">
                <a:solidFill>
                  <a:srgbClr val="262525"/>
                </a:solidFill>
                <a:latin typeface="Trebuchet MS"/>
                <a:cs typeface="Trebuchet MS"/>
              </a:rPr>
              <a:t>S</a:t>
            </a:r>
            <a:r>
              <a:rPr sz="1700" b="1" spc="-77" dirty="0">
                <a:solidFill>
                  <a:srgbClr val="262525"/>
                </a:solidFill>
                <a:latin typeface="Trebuchet MS"/>
                <a:cs typeface="Trebuchet MS"/>
              </a:rPr>
              <a:t>c</a:t>
            </a:r>
            <a:r>
              <a:rPr sz="1700" b="1" spc="-50" dirty="0">
                <a:solidFill>
                  <a:srgbClr val="262525"/>
                </a:solidFill>
                <a:latin typeface="Trebuchet MS"/>
                <a:cs typeface="Trebuchet MS"/>
              </a:rPr>
              <a:t>o</a:t>
            </a:r>
            <a:r>
              <a:rPr sz="1700" b="1" spc="-54" dirty="0">
                <a:solidFill>
                  <a:srgbClr val="262525"/>
                </a:solidFill>
                <a:latin typeface="Trebuchet MS"/>
                <a:cs typeface="Trebuchet MS"/>
              </a:rPr>
              <a:t>r</a:t>
            </a:r>
            <a:r>
              <a:rPr sz="1700" b="1" spc="-138" dirty="0">
                <a:solidFill>
                  <a:srgbClr val="262525"/>
                </a:solidFill>
                <a:latin typeface="Trebuchet MS"/>
                <a:cs typeface="Trebuchet MS"/>
              </a:rPr>
              <a:t>e</a:t>
            </a:r>
            <a:endParaRPr sz="1700" dirty="0">
              <a:latin typeface="Trebuchet MS"/>
              <a:cs typeface="Trebuchet MS"/>
            </a:endParaRPr>
          </a:p>
          <a:p>
            <a:pPr marL="9769" marR="3908">
              <a:lnSpc>
                <a:spcPct val="137300"/>
              </a:lnSpc>
              <a:spcBef>
                <a:spcPts val="1054"/>
              </a:spcBef>
            </a:pPr>
            <a:r>
              <a:rPr lang="en-US" dirty="0" smtClean="0"/>
              <a:t>The F1 score is the harmonic mean of precision and recall. It is used to evaluate the overall performance of the classification algorithm</a:t>
            </a:r>
            <a:r>
              <a:rPr spc="-119" dirty="0" smtClean="0">
                <a:solidFill>
                  <a:srgbClr val="262525"/>
                </a:solidFill>
                <a:latin typeface="Verdana"/>
                <a:cs typeface="Verdana"/>
              </a:rPr>
              <a:t>.</a:t>
            </a:r>
            <a:endParaRPr dirty="0">
              <a:latin typeface="Verdana"/>
              <a:cs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0"/>
            <a:ext cx="7704000" cy="572700"/>
          </a:xfrm>
        </p:spPr>
        <p:txBody>
          <a:bodyPr/>
          <a:lstStyle/>
          <a:p>
            <a:r>
              <a:rPr lang="en-US" sz="3200" b="1" u="sng" dirty="0" smtClean="0">
                <a:latin typeface="Bell MT" pitchFamily="18" charset="0"/>
              </a:rPr>
              <a:t>APPLICATIONS OF ANN </a:t>
            </a:r>
            <a:endParaRPr lang="en-US" sz="3200" b="1" u="sng" dirty="0">
              <a:latin typeface="Bell MT" pitchFamily="18" charset="0"/>
            </a:endParaRPr>
          </a:p>
        </p:txBody>
      </p:sp>
      <p:sp>
        <p:nvSpPr>
          <p:cNvPr id="4" name="Subtitle 3"/>
          <p:cNvSpPr>
            <a:spLocks noGrp="1"/>
          </p:cNvSpPr>
          <p:nvPr>
            <p:ph type="subTitle" idx="2"/>
          </p:nvPr>
        </p:nvSpPr>
        <p:spPr>
          <a:xfrm>
            <a:off x="157655" y="787384"/>
            <a:ext cx="7693572" cy="1913775"/>
          </a:xfrm>
        </p:spPr>
        <p:txBody>
          <a:bodyPr/>
          <a:lstStyle/>
          <a:p>
            <a:r>
              <a:rPr lang="en-US" sz="1600" dirty="0" smtClean="0">
                <a:latin typeface="+mn-lt"/>
              </a:rPr>
              <a:t>      Artificial Neural Networks find applications in various fields, including image recognition, natural language processing, financial forecasting, medical diagnosis, and recommendation systems. Their ability to handle large amounts of data and extract meaningful patterns makes them invaluable in solving real-world problems.</a:t>
            </a:r>
            <a:endParaRPr lang="en-US" sz="1600" dirty="0">
              <a:latin typeface="+mn-lt"/>
            </a:endParaRPr>
          </a:p>
        </p:txBody>
      </p:sp>
      <p:sp>
        <p:nvSpPr>
          <p:cNvPr id="5" name="TextBox 4"/>
          <p:cNvSpPr txBox="1"/>
          <p:nvPr/>
        </p:nvSpPr>
        <p:spPr>
          <a:xfrm>
            <a:off x="620111" y="2322787"/>
            <a:ext cx="7767145" cy="584775"/>
          </a:xfrm>
          <a:prstGeom prst="rect">
            <a:avLst/>
          </a:prstGeom>
          <a:noFill/>
        </p:spPr>
        <p:txBody>
          <a:bodyPr wrap="square" rtlCol="0">
            <a:spAutoFit/>
          </a:bodyPr>
          <a:lstStyle/>
          <a:p>
            <a:r>
              <a:rPr lang="en-US" sz="3200" b="1" u="sng" dirty="0" smtClean="0">
                <a:latin typeface="Bell MT" pitchFamily="18" charset="0"/>
              </a:rPr>
              <a:t>CHALLENGES AND LIMITATIONS</a:t>
            </a:r>
            <a:endParaRPr lang="en-US" sz="3200" b="1" u="sng" dirty="0">
              <a:latin typeface="Bell MT" pitchFamily="18" charset="0"/>
            </a:endParaRPr>
          </a:p>
        </p:txBody>
      </p:sp>
      <p:sp>
        <p:nvSpPr>
          <p:cNvPr id="6" name="TextBox 5"/>
          <p:cNvSpPr txBox="1"/>
          <p:nvPr/>
        </p:nvSpPr>
        <p:spPr>
          <a:xfrm>
            <a:off x="609600" y="3026980"/>
            <a:ext cx="7315200" cy="1323439"/>
          </a:xfrm>
          <a:prstGeom prst="rect">
            <a:avLst/>
          </a:prstGeom>
          <a:noFill/>
        </p:spPr>
        <p:txBody>
          <a:bodyPr wrap="square" rtlCol="0">
            <a:spAutoFit/>
          </a:bodyPr>
          <a:lstStyle/>
          <a:p>
            <a:r>
              <a:rPr lang="en-US" sz="1600" dirty="0" smtClean="0"/>
              <a:t>While ANNs have shown great promise, they also face challenges and limitations. Over fitting, computationally intensive training, and interpretability are some of the key issues. Understanding these challenges is crucial for effectively utilizing ANNs and addressing their limitations in practical applications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6455" y="336331"/>
            <a:ext cx="3662814" cy="572700"/>
          </a:xfrm>
        </p:spPr>
        <p:txBody>
          <a:bodyPr/>
          <a:lstStyle/>
          <a:p>
            <a:pPr algn="ctr"/>
            <a:r>
              <a:rPr lang="en-US" sz="4400" u="sng" dirty="0" smtClean="0">
                <a:latin typeface="Bell MT" pitchFamily="18" charset="0"/>
              </a:rPr>
              <a:t>6. Conclusion</a:t>
            </a:r>
            <a:endParaRPr lang="en-US" sz="4400" u="sng" dirty="0">
              <a:latin typeface="Bell MT" pitchFamily="18" charset="0"/>
            </a:endParaRPr>
          </a:p>
        </p:txBody>
      </p:sp>
      <p:sp>
        <p:nvSpPr>
          <p:cNvPr id="4" name="Subtitle 3"/>
          <p:cNvSpPr>
            <a:spLocks noGrp="1"/>
          </p:cNvSpPr>
          <p:nvPr>
            <p:ph type="subTitle" idx="2"/>
          </p:nvPr>
        </p:nvSpPr>
        <p:spPr>
          <a:xfrm>
            <a:off x="294290" y="1261241"/>
            <a:ext cx="8597462" cy="1702676"/>
          </a:xfrm>
        </p:spPr>
        <p:txBody>
          <a:bodyPr/>
          <a:lstStyle/>
          <a:p>
            <a:r>
              <a:rPr lang="en-US" sz="1600" dirty="0" smtClean="0"/>
              <a:t>Artificial Neural Networks have revolutionized classification by leveraging their ability</a:t>
            </a:r>
          </a:p>
          <a:p>
            <a:r>
              <a:rPr lang="en-US" sz="1600" dirty="0" smtClean="0"/>
              <a:t>to learn complex patterns and relationships. They have achieved remarkable success</a:t>
            </a:r>
          </a:p>
          <a:p>
            <a:r>
              <a:rPr lang="en-US" sz="1600" dirty="0" smtClean="0"/>
              <a:t>in various domains, surpassing traditional classification algorithms ANN continue to</a:t>
            </a:r>
          </a:p>
          <a:p>
            <a:r>
              <a:rPr lang="en-US" sz="1600" dirty="0" smtClean="0"/>
              <a:t>push the boundaries of classification accuracy and enable breakthroughs in</a:t>
            </a:r>
          </a:p>
          <a:p>
            <a:r>
              <a:rPr lang="en-US" sz="1600" dirty="0" smtClean="0"/>
              <a:t>computer vision, natural language processing, and many other fields. Their potential</a:t>
            </a:r>
          </a:p>
          <a:p>
            <a:r>
              <a:rPr lang="en-US" sz="1600" dirty="0" smtClean="0"/>
              <a:t>for further advancements is vast and promising.</a:t>
            </a:r>
            <a:endParaRPr lang="en-US" sz="1600" dirty="0">
              <a:latin typeface="+mn-lt"/>
            </a:endParaRPr>
          </a:p>
        </p:txBody>
      </p:sp>
      <p:sp>
        <p:nvSpPr>
          <p:cNvPr id="5" name="TextBox 4"/>
          <p:cNvSpPr txBox="1"/>
          <p:nvPr/>
        </p:nvSpPr>
        <p:spPr>
          <a:xfrm>
            <a:off x="1692166" y="3205656"/>
            <a:ext cx="6022427" cy="1015663"/>
          </a:xfrm>
          <a:prstGeom prst="rect">
            <a:avLst/>
          </a:prstGeom>
          <a:noFill/>
        </p:spPr>
        <p:txBody>
          <a:bodyPr wrap="square" rtlCol="0">
            <a:spAutoFit/>
          </a:bodyPr>
          <a:lstStyle/>
          <a:p>
            <a:r>
              <a:rPr lang="en-US" sz="6000" b="1" dirty="0" smtClean="0">
                <a:latin typeface="MV Boli" pitchFamily="2" charset="0"/>
                <a:cs typeface="MV Boli" pitchFamily="2" charset="0"/>
              </a:rPr>
              <a:t>THANK YOU!</a:t>
            </a:r>
            <a:endParaRPr lang="en-US" sz="6000" b="1" dirty="0">
              <a:latin typeface="MV Boli" pitchFamily="2" charset="0"/>
              <a:cs typeface="MV Boli" pitchFamily="2" charset="0"/>
            </a:endParaRPr>
          </a:p>
        </p:txBody>
      </p:sp>
    </p:spTree>
  </p:cSld>
  <p:clrMapOvr>
    <a:masterClrMapping/>
  </p:clrMapOvr>
</p:sld>
</file>

<file path=ppt/theme/theme1.xml><?xml version="1.0" encoding="utf-8"?>
<a:theme xmlns:a="http://schemas.openxmlformats.org/drawingml/2006/main" name="Entrepreneurial Ecosystem by Slidesgo">
  <a:themeElements>
    <a:clrScheme name="Simple Light">
      <a:dk1>
        <a:srgbClr val="242424"/>
      </a:dk1>
      <a:lt1>
        <a:srgbClr val="F8F8F8"/>
      </a:lt1>
      <a:dk2>
        <a:srgbClr val="EFEFEF"/>
      </a:dk2>
      <a:lt2>
        <a:srgbClr val="CCCCCC"/>
      </a:lt2>
      <a:accent1>
        <a:srgbClr val="595959"/>
      </a:accent1>
      <a:accent2>
        <a:srgbClr val="FF0000"/>
      </a:accent2>
      <a:accent3>
        <a:srgbClr val="FFFFFF"/>
      </a:accent3>
      <a:accent4>
        <a:srgbClr val="FFFFFF"/>
      </a:accent4>
      <a:accent5>
        <a:srgbClr val="FFFFFF"/>
      </a:accent5>
      <a:accent6>
        <a:srgbClr val="FFFFFF"/>
      </a:accent6>
      <a:hlink>
        <a:srgbClr val="2424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2211</TotalTime>
  <Words>853</Words>
  <Application>Microsoft Office PowerPoint</Application>
  <PresentationFormat>On-screen Show (16:9)</PresentationFormat>
  <Paragraphs>80</Paragraphs>
  <Slides>10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Arial</vt:lpstr>
      <vt:lpstr>Bell MT</vt:lpstr>
      <vt:lpstr>Libre Baskerville</vt:lpstr>
      <vt:lpstr>Cambria</vt:lpstr>
      <vt:lpstr>MV Boli</vt:lpstr>
      <vt:lpstr>DM Sans</vt:lpstr>
      <vt:lpstr>Wingdings</vt:lpstr>
      <vt:lpstr>Trebuchet MS</vt:lpstr>
      <vt:lpstr>Tahoma</vt:lpstr>
      <vt:lpstr>Verdana</vt:lpstr>
      <vt:lpstr>Entrepreneurial Ecosystem by Slidesgo</vt:lpstr>
      <vt:lpstr>Exploring ANN-based  Classification in Machine  Learning</vt:lpstr>
      <vt:lpstr>INTRODUCTION TO ANN</vt:lpstr>
      <vt:lpstr>Supervised Learning  for Classification</vt:lpstr>
      <vt:lpstr>Types of ANN</vt:lpstr>
      <vt:lpstr>Feedforward Neural Network</vt:lpstr>
      <vt:lpstr>Backpropagation Algorithm</vt:lpstr>
      <vt:lpstr>Training the Neural Network</vt:lpstr>
      <vt:lpstr>Performance Evaluation for Classification</vt:lpstr>
      <vt:lpstr>APPLICATIONS OF ANN </vt:lpstr>
      <vt:lpstr>6. 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the Power of Polymorphism in Object-Oriented Programming with Java</dc:title>
  <dc:creator>Aditya</dc:creator>
  <cp:lastModifiedBy>Rishuraj</cp:lastModifiedBy>
  <cp:revision>130</cp:revision>
  <dcterms:modified xsi:type="dcterms:W3CDTF">2025-03-15T12:28:07Z</dcterms:modified>
</cp:coreProperties>
</file>