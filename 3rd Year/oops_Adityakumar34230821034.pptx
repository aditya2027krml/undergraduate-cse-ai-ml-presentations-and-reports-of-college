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9"/>
  </p:notesMasterIdLst>
  <p:sldIdLst>
    <p:sldId id="256" r:id="rId2"/>
    <p:sldId id="261" r:id="rId3"/>
    <p:sldId id="262" r:id="rId4"/>
    <p:sldId id="264" r:id="rId5"/>
    <p:sldId id="265" r:id="rId6"/>
    <p:sldId id="266" r:id="rId7"/>
    <p:sldId id="267" r:id="rId8"/>
  </p:sldIdLst>
  <p:sldSz cx="9144000" cy="5143500" type="screen16x9"/>
  <p:notesSz cx="6858000" cy="9144000"/>
  <p:embeddedFontLst>
    <p:embeddedFont>
      <p:font typeface="Bell MT" pitchFamily="18" charset="0"/>
      <p:regular r:id="rId10"/>
      <p:bold r:id="rId11"/>
      <p:italic r:id="rId12"/>
    </p:embeddedFont>
    <p:embeddedFont>
      <p:font typeface="Libre Baskerville" charset="0"/>
      <p:regular r:id="rId13"/>
      <p:bold r:id="rId14"/>
      <p:italic r:id="rId15"/>
    </p:embeddedFont>
    <p:embeddedFont>
      <p:font typeface="MV Boli" pitchFamily="2" charset="0"/>
      <p:regular r:id="rId16"/>
    </p:embeddedFont>
    <p:embeddedFont>
      <p:font typeface="DM Sans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FBBCAFF8-5E91-4839-BDFC-35487B323E13}">
  <a:tblStyle styleId="{FBBCAFF8-5E91-4839-BDFC-35487B323E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4153231-1AEA-42AA-A113-9BCB8BEE630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3116de41c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3116de41c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34950" y="1432275"/>
            <a:ext cx="633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4950" y="3083025"/>
            <a:ext cx="247230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463650" y="4950"/>
            <a:ext cx="1680500" cy="5143500"/>
            <a:chOff x="7463650" y="4950"/>
            <a:chExt cx="1680500" cy="5143500"/>
          </a:xfrm>
        </p:grpSpPr>
        <p:sp>
          <p:nvSpPr>
            <p:cNvPr id="12" name="Google Shape;12;p2"/>
            <p:cNvSpPr/>
            <p:nvPr/>
          </p:nvSpPr>
          <p:spPr>
            <a:xfrm>
              <a:off x="7463650" y="4950"/>
              <a:ext cx="7287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7400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678250" y="4950"/>
              <a:ext cx="465900" cy="5143500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46000">
                  <a:schemeClr val="l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93175" y="4950"/>
              <a:ext cx="285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8192175" y="4950"/>
              <a:ext cx="201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32000">
                  <a:schemeClr val="lt1"/>
                </a:gs>
                <a:gs pos="100000">
                  <a:schemeClr val="lt2"/>
                </a:gs>
              </a:gsLst>
              <a:lin ang="167999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flipH="1">
            <a:off x="-25" y="0"/>
            <a:ext cx="6596100" cy="5394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2475" y="4840800"/>
            <a:ext cx="9159300" cy="151200"/>
            <a:chOff x="2475" y="4840800"/>
            <a:chExt cx="9159300" cy="151200"/>
          </a:xfrm>
        </p:grpSpPr>
        <p:sp>
          <p:nvSpPr>
            <p:cNvPr id="18" name="Google Shape;18;p2"/>
            <p:cNvSpPr/>
            <p:nvPr/>
          </p:nvSpPr>
          <p:spPr>
            <a:xfrm>
              <a:off x="945675" y="4840800"/>
              <a:ext cx="151200" cy="15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" name="Google Shape;19;p2"/>
            <p:cNvCxnSpPr/>
            <p:nvPr/>
          </p:nvCxnSpPr>
          <p:spPr>
            <a:xfrm>
              <a:off x="1197075" y="4926450"/>
              <a:ext cx="796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2475" y="4926450"/>
              <a:ext cx="843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2"/>
          <p:cNvGrpSpPr/>
          <p:nvPr/>
        </p:nvGrpSpPr>
        <p:grpSpPr>
          <a:xfrm>
            <a:off x="0" y="4950"/>
            <a:ext cx="486000" cy="5143500"/>
            <a:chOff x="0" y="4950"/>
            <a:chExt cx="486000" cy="5143500"/>
          </a:xfrm>
        </p:grpSpPr>
        <p:sp>
          <p:nvSpPr>
            <p:cNvPr id="237" name="Google Shape;237;p22"/>
            <p:cNvSpPr/>
            <p:nvPr/>
          </p:nvSpPr>
          <p:spPr>
            <a:xfrm flipH="1">
              <a:off x="0" y="4950"/>
              <a:ext cx="285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285000" y="4950"/>
              <a:ext cx="201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7000">
                  <a:schemeClr val="lt1"/>
                </a:gs>
                <a:gs pos="100000">
                  <a:schemeClr val="lt2"/>
                </a:gs>
              </a:gsLst>
              <a:lin ang="167999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1"/>
          </p:nvPr>
        </p:nvSpPr>
        <p:spPr>
          <a:xfrm>
            <a:off x="4505531" y="1743825"/>
            <a:ext cx="3040800" cy="22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2"/>
          </p:nvPr>
        </p:nvSpPr>
        <p:spPr>
          <a:xfrm>
            <a:off x="713225" y="1743825"/>
            <a:ext cx="3040800" cy="22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 flipH="1">
            <a:off x="8423925" y="-10075"/>
            <a:ext cx="744600" cy="5394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-111811" y="4840700"/>
            <a:ext cx="9268661" cy="151200"/>
            <a:chOff x="-111811" y="184025"/>
            <a:chExt cx="9268661" cy="151200"/>
          </a:xfrm>
        </p:grpSpPr>
        <p:cxnSp>
          <p:nvCxnSpPr>
            <p:cNvPr id="244" name="Google Shape;244;p22"/>
            <p:cNvCxnSpPr/>
            <p:nvPr/>
          </p:nvCxnSpPr>
          <p:spPr>
            <a:xfrm>
              <a:off x="-111811" y="269675"/>
              <a:ext cx="8024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5" name="Google Shape;245;p22"/>
            <p:cNvSpPr/>
            <p:nvPr/>
          </p:nvSpPr>
          <p:spPr>
            <a:xfrm rot="10800000">
              <a:off x="8037613" y="184025"/>
              <a:ext cx="151200" cy="15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6" name="Google Shape;246;p22"/>
            <p:cNvCxnSpPr/>
            <p:nvPr/>
          </p:nvCxnSpPr>
          <p:spPr>
            <a:xfrm>
              <a:off x="8313850" y="259625"/>
              <a:ext cx="843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36"/>
          <p:cNvGrpSpPr/>
          <p:nvPr/>
        </p:nvGrpSpPr>
        <p:grpSpPr>
          <a:xfrm>
            <a:off x="8658000" y="4950"/>
            <a:ext cx="486000" cy="5143500"/>
            <a:chOff x="8658000" y="4950"/>
            <a:chExt cx="486000" cy="5143500"/>
          </a:xfrm>
        </p:grpSpPr>
        <p:sp>
          <p:nvSpPr>
            <p:cNvPr id="456" name="Google Shape;456;p36"/>
            <p:cNvSpPr/>
            <p:nvPr/>
          </p:nvSpPr>
          <p:spPr>
            <a:xfrm rot="10800000">
              <a:off x="8658000" y="4950"/>
              <a:ext cx="285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 rot="10800000" flipH="1">
              <a:off x="8943000" y="4950"/>
              <a:ext cx="201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7000">
                  <a:schemeClr val="lt1"/>
                </a:gs>
                <a:gs pos="100000">
                  <a:schemeClr val="lt2"/>
                </a:gs>
              </a:gsLst>
              <a:lin ang="167999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36"/>
          <p:cNvGrpSpPr/>
          <p:nvPr/>
        </p:nvGrpSpPr>
        <p:grpSpPr>
          <a:xfrm>
            <a:off x="-4102" y="4840700"/>
            <a:ext cx="9159300" cy="151200"/>
            <a:chOff x="2475" y="4840800"/>
            <a:chExt cx="9159300" cy="151200"/>
          </a:xfrm>
        </p:grpSpPr>
        <p:sp>
          <p:nvSpPr>
            <p:cNvPr id="459" name="Google Shape;459;p36"/>
            <p:cNvSpPr/>
            <p:nvPr/>
          </p:nvSpPr>
          <p:spPr>
            <a:xfrm>
              <a:off x="945675" y="4840800"/>
              <a:ext cx="151200" cy="15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0" name="Google Shape;460;p36"/>
            <p:cNvCxnSpPr/>
            <p:nvPr/>
          </p:nvCxnSpPr>
          <p:spPr>
            <a:xfrm>
              <a:off x="1197075" y="4926450"/>
              <a:ext cx="796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1" name="Google Shape;461;p36"/>
            <p:cNvCxnSpPr/>
            <p:nvPr/>
          </p:nvCxnSpPr>
          <p:spPr>
            <a:xfrm>
              <a:off x="2475" y="4926450"/>
              <a:ext cx="843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62" name="Google Shape;462;p36"/>
          <p:cNvSpPr/>
          <p:nvPr/>
        </p:nvSpPr>
        <p:spPr>
          <a:xfrm flipH="1">
            <a:off x="-100" y="0"/>
            <a:ext cx="1665300" cy="5394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37"/>
          <p:cNvGrpSpPr/>
          <p:nvPr/>
        </p:nvGrpSpPr>
        <p:grpSpPr>
          <a:xfrm>
            <a:off x="0" y="4950"/>
            <a:ext cx="1569900" cy="5143500"/>
            <a:chOff x="0" y="4950"/>
            <a:chExt cx="1569900" cy="5143500"/>
          </a:xfrm>
        </p:grpSpPr>
        <p:sp>
          <p:nvSpPr>
            <p:cNvPr id="465" name="Google Shape;465;p37"/>
            <p:cNvSpPr/>
            <p:nvPr/>
          </p:nvSpPr>
          <p:spPr>
            <a:xfrm flipH="1">
              <a:off x="611700" y="4950"/>
              <a:ext cx="2760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887700" y="4950"/>
              <a:ext cx="682200" cy="5143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47000">
                  <a:schemeClr val="lt1"/>
                </a:gs>
                <a:gs pos="100000">
                  <a:schemeClr val="lt2"/>
                </a:gs>
              </a:gsLst>
              <a:lin ang="167999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0" y="4950"/>
              <a:ext cx="611700" cy="5143500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69000">
                  <a:schemeClr val="lt1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37"/>
          <p:cNvSpPr/>
          <p:nvPr/>
        </p:nvSpPr>
        <p:spPr>
          <a:xfrm flipH="1">
            <a:off x="6280975" y="4604000"/>
            <a:ext cx="2871000" cy="5394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9" name="Google Shape;469;p37"/>
          <p:cNvGrpSpPr/>
          <p:nvPr/>
        </p:nvGrpSpPr>
        <p:grpSpPr>
          <a:xfrm>
            <a:off x="-111811" y="184025"/>
            <a:ext cx="9268661" cy="151200"/>
            <a:chOff x="-111811" y="184025"/>
            <a:chExt cx="9268661" cy="151200"/>
          </a:xfrm>
        </p:grpSpPr>
        <p:cxnSp>
          <p:nvCxnSpPr>
            <p:cNvPr id="470" name="Google Shape;470;p37"/>
            <p:cNvCxnSpPr/>
            <p:nvPr/>
          </p:nvCxnSpPr>
          <p:spPr>
            <a:xfrm>
              <a:off x="-111811" y="269675"/>
              <a:ext cx="8024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1" name="Google Shape;471;p37"/>
            <p:cNvSpPr/>
            <p:nvPr/>
          </p:nvSpPr>
          <p:spPr>
            <a:xfrm rot="10800000">
              <a:off x="8037613" y="184025"/>
              <a:ext cx="151200" cy="15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72" name="Google Shape;472;p37"/>
            <p:cNvCxnSpPr/>
            <p:nvPr/>
          </p:nvCxnSpPr>
          <p:spPr>
            <a:xfrm>
              <a:off x="8313850" y="259625"/>
              <a:ext cx="843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askerville"/>
              <a:buNone/>
              <a:defRPr sz="3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8" r:id="rId3"/>
    <p:sldLayoutId id="2147483682" r:id="rId4"/>
    <p:sldLayoutId id="214748368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java-oops-concept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javatpoint.com/object-and-class-in-jav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abstraction-in-java-2/" TargetMode="External"/><Relationship Id="rId2" Type="http://schemas.openxmlformats.org/officeDocument/2006/relationships/hyperlink" Target="https://www.geeksforgeeks.org/overriding-in-java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 txBox="1">
            <a:spLocks noGrp="1"/>
          </p:cNvSpPr>
          <p:nvPr>
            <p:ph type="ctrTitle"/>
          </p:nvPr>
        </p:nvSpPr>
        <p:spPr>
          <a:xfrm>
            <a:off x="834950" y="1432275"/>
            <a:ext cx="633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u="sng" dirty="0" smtClean="0">
                <a:latin typeface="Bell MT" pitchFamily="18" charset="0"/>
              </a:rPr>
              <a:t>Exploring the Power of </a:t>
            </a:r>
            <a:r>
              <a:rPr lang="en-US" sz="4000" u="sng" dirty="0" smtClean="0">
                <a:latin typeface="Bell MT" pitchFamily="18" charset="0"/>
              </a:rPr>
              <a:t>Inheritance in </a:t>
            </a:r>
            <a:r>
              <a:rPr lang="en-US" sz="4000" u="sng" dirty="0" smtClean="0">
                <a:latin typeface="Bell MT" pitchFamily="18" charset="0"/>
              </a:rPr>
              <a:t>Object-Oriented Programming with Java</a:t>
            </a:r>
            <a:endParaRPr sz="4000" u="sng" dirty="0">
              <a:latin typeface="Bell MT" pitchFamily="18" charset="0"/>
            </a:endParaRPr>
          </a:p>
        </p:txBody>
      </p:sp>
      <p:sp>
        <p:nvSpPr>
          <p:cNvPr id="490" name="Google Shape;490;p44"/>
          <p:cNvSpPr txBox="1">
            <a:spLocks noGrp="1"/>
          </p:cNvSpPr>
          <p:nvPr>
            <p:ph type="subTitle" idx="1"/>
          </p:nvPr>
        </p:nvSpPr>
        <p:spPr>
          <a:xfrm>
            <a:off x="834949" y="3083025"/>
            <a:ext cx="3705520" cy="7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V Boli" pitchFamily="2" charset="0"/>
                <a:cs typeface="MV Boli" pitchFamily="2" charset="0"/>
              </a:rPr>
              <a:t>Presented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V Boli" pitchFamily="2" charset="0"/>
                <a:cs typeface="MV Boli" pitchFamily="2" charset="0"/>
              </a:rPr>
              <a:t>Name – Aditya Kumar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V Boli" pitchFamily="2" charset="0"/>
                <a:cs typeface="MV Boli" pitchFamily="2" charset="0"/>
              </a:rPr>
              <a:t>Roll No. – 34230821034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V Boli" pitchFamily="2" charset="0"/>
                <a:cs typeface="MV Boli" pitchFamily="2" charset="0"/>
              </a:rPr>
              <a:t>Dept. – CSE(AI &amp; ML)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V Boli" pitchFamily="2" charset="0"/>
                <a:cs typeface="MV Boli" pitchFamily="2" charset="0"/>
              </a:rPr>
              <a:t>3</a:t>
            </a:r>
            <a:r>
              <a:rPr lang="en-US" sz="1800" baseline="30000" dirty="0" smtClean="0">
                <a:latin typeface="MV Boli" pitchFamily="2" charset="0"/>
                <a:cs typeface="MV Boli" pitchFamily="2" charset="0"/>
              </a:rPr>
              <a:t>rd</a:t>
            </a:r>
            <a:r>
              <a:rPr lang="en-US" sz="1800" dirty="0" smtClean="0">
                <a:latin typeface="MV Boli" pitchFamily="2" charset="0"/>
                <a:cs typeface="MV Boli" pitchFamily="2" charset="0"/>
              </a:rPr>
              <a:t> year (5</a:t>
            </a:r>
            <a:r>
              <a:rPr lang="en-US" sz="1800" baseline="30000" dirty="0" smtClean="0">
                <a:latin typeface="MV Boli" pitchFamily="2" charset="0"/>
                <a:cs typeface="MV Boli" pitchFamily="2" charset="0"/>
              </a:rPr>
              <a:t>th</a:t>
            </a:r>
            <a:r>
              <a:rPr lang="en-US" sz="1800" dirty="0" smtClean="0">
                <a:latin typeface="MV Boli" pitchFamily="2" charset="0"/>
                <a:cs typeface="MV Boli" pitchFamily="2" charset="0"/>
              </a:rPr>
              <a:t> semester)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latin typeface="MV Boli" pitchFamily="2" charset="0"/>
                <a:cs typeface="MV Boli" pitchFamily="2" charset="0"/>
              </a:rPr>
              <a:t>Future Institute of Technology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MV Boli" pitchFamily="2" charset="0"/>
              <a:cs typeface="MV Boli" pitchFamily="2" charset="0"/>
            </a:endParaRPr>
          </a:p>
        </p:txBody>
      </p:sp>
      <p:pic>
        <p:nvPicPr>
          <p:cNvPr id="6" name="Picture 5" descr="1670308359510-Inheritance in Jav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694" y="3342290"/>
            <a:ext cx="2858629" cy="14960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9"/>
          <p:cNvSpPr txBox="1">
            <a:spLocks noGrp="1"/>
          </p:cNvSpPr>
          <p:nvPr>
            <p:ph type="title"/>
          </p:nvPr>
        </p:nvSpPr>
        <p:spPr>
          <a:xfrm>
            <a:off x="656937" y="22071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000" u="sng" dirty="0" smtClean="0">
                <a:latin typeface="Bell MT" pitchFamily="18" charset="0"/>
              </a:rPr>
              <a:t>1. Introduction </a:t>
            </a:r>
            <a:r>
              <a:rPr lang="en-US" sz="4000" u="sng" dirty="0" smtClean="0">
                <a:latin typeface="Bell MT" pitchFamily="18" charset="0"/>
              </a:rPr>
              <a:t>to Inheritance</a:t>
            </a:r>
            <a:endParaRPr sz="4000" u="sng" dirty="0">
              <a:latin typeface="Bell MT" pitchFamily="18" charset="0"/>
            </a:endParaRPr>
          </a:p>
        </p:txBody>
      </p:sp>
      <p:sp>
        <p:nvSpPr>
          <p:cNvPr id="536" name="Google Shape;536;p49"/>
          <p:cNvSpPr txBox="1">
            <a:spLocks noGrp="1"/>
          </p:cNvSpPr>
          <p:nvPr>
            <p:ph type="subTitle" idx="2"/>
          </p:nvPr>
        </p:nvSpPr>
        <p:spPr>
          <a:xfrm>
            <a:off x="735725" y="1219201"/>
            <a:ext cx="7798676" cy="3268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Font typeface="Wingdings" pitchFamily="2" charset="2"/>
              <a:buChar char="q"/>
            </a:pPr>
            <a:r>
              <a:rPr lang="en-US" sz="1600" b="1" dirty="0" smtClean="0">
                <a:latin typeface="+mn-lt"/>
              </a:rPr>
              <a:t> Inheritance </a:t>
            </a:r>
            <a:r>
              <a:rPr lang="en-US" sz="1600" b="1" dirty="0" smtClean="0">
                <a:latin typeface="+mn-lt"/>
              </a:rPr>
              <a:t>in Java</a:t>
            </a:r>
            <a:r>
              <a:rPr lang="en-US" sz="1600" dirty="0" smtClean="0">
                <a:latin typeface="+mn-lt"/>
              </a:rPr>
              <a:t> is a mechanism in which one object acquires all the properties and behaviors of a parent object. It is an important part of </a:t>
            </a:r>
            <a:r>
              <a:rPr lang="en-US" sz="1600" dirty="0" smtClean="0">
                <a:latin typeface="+mn-lt"/>
                <a:hlinkClick r:id="rId3"/>
              </a:rPr>
              <a:t>OOPs</a:t>
            </a:r>
            <a:r>
              <a:rPr lang="en-US" sz="1600" dirty="0" smtClean="0">
                <a:latin typeface="+mn-lt"/>
              </a:rPr>
              <a:t> (Object Oriented programming system</a:t>
            </a:r>
            <a:r>
              <a:rPr lang="en-US" sz="1600" dirty="0" smtClean="0">
                <a:latin typeface="+mn-lt"/>
              </a:rPr>
              <a:t>).</a:t>
            </a:r>
          </a:p>
          <a:p>
            <a:pPr marL="0" lvl="0" indent="0"/>
            <a:endParaRPr lang="en-US" sz="1600" dirty="0" smtClean="0">
              <a:latin typeface="+mn-lt"/>
            </a:endParaRPr>
          </a:p>
          <a:p>
            <a:pPr marL="0" lvl="0" indent="0">
              <a:buFont typeface="Wingdings" pitchFamily="2" charset="2"/>
              <a:buChar char="q"/>
            </a:pPr>
            <a:r>
              <a:rPr lang="en-US" sz="1600" dirty="0" smtClean="0">
                <a:latin typeface="+mn-lt"/>
              </a:rPr>
              <a:t> The </a:t>
            </a:r>
            <a:r>
              <a:rPr lang="en-US" sz="1600" dirty="0" smtClean="0">
                <a:latin typeface="+mn-lt"/>
              </a:rPr>
              <a:t>idea behind inheritance in Java is that you can create new </a:t>
            </a:r>
            <a:r>
              <a:rPr lang="en-US" sz="1600" dirty="0" smtClean="0">
                <a:latin typeface="+mn-lt"/>
                <a:hlinkClick r:id="rId4"/>
              </a:rPr>
              <a:t>classes</a:t>
            </a:r>
            <a:r>
              <a:rPr lang="en-US" sz="1600" dirty="0" smtClean="0">
                <a:latin typeface="+mn-lt"/>
              </a:rPr>
              <a:t> that are built upon </a:t>
            </a:r>
            <a:r>
              <a:rPr lang="en-US" sz="1600" dirty="0" smtClean="0">
                <a:latin typeface="+mn-lt"/>
              </a:rPr>
              <a:t>existing </a:t>
            </a:r>
            <a:r>
              <a:rPr lang="en-US" sz="1600" dirty="0" smtClean="0">
                <a:latin typeface="+mn-lt"/>
              </a:rPr>
              <a:t>classes. When you inherit from an existing class, you can reuse methods and fields of the parent class. Moreover, you can add new methods and fields in your current class also</a:t>
            </a:r>
            <a:r>
              <a:rPr lang="en-US" sz="1600" dirty="0" smtClean="0">
                <a:latin typeface="+mn-lt"/>
              </a:rPr>
              <a:t>.</a:t>
            </a:r>
          </a:p>
          <a:p>
            <a:pPr marL="0" lvl="0" indent="0"/>
            <a:endParaRPr lang="en-US" sz="1600" dirty="0" smtClean="0">
              <a:latin typeface="+mn-lt"/>
            </a:endParaRPr>
          </a:p>
          <a:p>
            <a:pPr marL="0" lvl="0" indent="0">
              <a:buFont typeface="Wingdings" pitchFamily="2" charset="2"/>
              <a:buChar char="q"/>
            </a:pPr>
            <a:r>
              <a:rPr lang="en-US" sz="1600" dirty="0" smtClean="0">
                <a:latin typeface="+mn-lt"/>
              </a:rPr>
              <a:t> Inheritance </a:t>
            </a:r>
            <a:r>
              <a:rPr lang="en-US" sz="1600" dirty="0" smtClean="0">
                <a:latin typeface="+mn-lt"/>
              </a:rPr>
              <a:t>represents the </a:t>
            </a:r>
            <a:r>
              <a:rPr lang="en-US" sz="1600" b="1" dirty="0" smtClean="0">
                <a:latin typeface="+mn-lt"/>
              </a:rPr>
              <a:t>IS-A relationship</a:t>
            </a:r>
            <a:r>
              <a:rPr lang="en-US" sz="1600" dirty="0" smtClean="0">
                <a:latin typeface="+mn-lt"/>
              </a:rPr>
              <a:t> which is also known as a </a:t>
            </a:r>
            <a:r>
              <a:rPr lang="en-US" sz="1600" i="1" dirty="0" smtClean="0">
                <a:latin typeface="+mn-lt"/>
              </a:rPr>
              <a:t>parent-child</a:t>
            </a:r>
            <a:r>
              <a:rPr lang="en-US" sz="1600" dirty="0" smtClean="0">
                <a:latin typeface="+mn-lt"/>
              </a:rPr>
              <a:t> </a:t>
            </a:r>
            <a:r>
              <a:rPr lang="en-US" sz="1600" dirty="0" smtClean="0">
                <a:latin typeface="+mn-lt"/>
              </a:rPr>
              <a:t>relationship(</a:t>
            </a:r>
            <a:r>
              <a:rPr lang="en-US" sz="1600" dirty="0" smtClean="0">
                <a:latin typeface="+mn-lt"/>
              </a:rPr>
              <a:t>Whenever one class inherits another class, it is called an IS-A </a:t>
            </a:r>
            <a:r>
              <a:rPr lang="en-US" sz="1600" dirty="0" smtClean="0">
                <a:latin typeface="+mn-lt"/>
              </a:rPr>
              <a:t>relationship).</a:t>
            </a:r>
            <a:endParaRPr sz="16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283670" y="4529959"/>
            <a:ext cx="186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V Boli" pitchFamily="2" charset="0"/>
                <a:cs typeface="MV Boli" pitchFamily="2" charset="0"/>
              </a:rPr>
              <a:t>Aditya Kumar,34</a:t>
            </a:r>
            <a:endParaRPr lang="en-US" dirty="0"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17" y="147145"/>
            <a:ext cx="7704000" cy="572700"/>
          </a:xfrm>
        </p:spPr>
        <p:txBody>
          <a:bodyPr/>
          <a:lstStyle/>
          <a:p>
            <a:r>
              <a:rPr lang="en-US" sz="4400" u="sng" dirty="0" smtClean="0">
                <a:latin typeface="Bell MT" pitchFamily="18" charset="0"/>
              </a:rPr>
              <a:t>2.Terms </a:t>
            </a:r>
            <a:r>
              <a:rPr lang="en-US" sz="4400" u="sng" dirty="0" smtClean="0">
                <a:latin typeface="Bell MT" pitchFamily="18" charset="0"/>
              </a:rPr>
              <a:t>used in Inheritance</a:t>
            </a:r>
            <a:br>
              <a:rPr lang="en-US" sz="4400" u="sng" dirty="0" smtClean="0">
                <a:latin typeface="Bell MT" pitchFamily="18" charset="0"/>
              </a:rPr>
            </a:br>
            <a:endParaRPr lang="en-US" sz="4400" u="sng" dirty="0">
              <a:latin typeface="Bell MT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355872" y="1097017"/>
            <a:ext cx="6129010" cy="2760280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1400" b="1" dirty="0" smtClean="0">
                <a:latin typeface="+mn-lt"/>
              </a:rPr>
              <a:t>Class:</a:t>
            </a:r>
            <a:r>
              <a:rPr lang="en-US" sz="1400" dirty="0" smtClean="0">
                <a:latin typeface="+mn-lt"/>
              </a:rPr>
              <a:t> A class is a group of objects which have common properties. It is a template or blueprint from which objects are created</a:t>
            </a:r>
            <a:r>
              <a:rPr lang="en-US" sz="1400" dirty="0" smtClean="0">
                <a:latin typeface="+mn-lt"/>
              </a:rPr>
              <a:t>.</a:t>
            </a:r>
          </a:p>
          <a:p>
            <a:endParaRPr lang="en-US" sz="1400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n-US" sz="1400" b="1" dirty="0" smtClean="0">
                <a:latin typeface="+mn-lt"/>
              </a:rPr>
              <a:t>Sub Class/Child Class:</a:t>
            </a:r>
            <a:r>
              <a:rPr lang="en-US" sz="1400" dirty="0" smtClean="0">
                <a:latin typeface="+mn-lt"/>
              </a:rPr>
              <a:t> Subclass is a class which inherits the other class. It is also called a derived class, extended class, or child class</a:t>
            </a:r>
            <a:r>
              <a:rPr lang="en-US" sz="1400" dirty="0" smtClean="0">
                <a:latin typeface="+mn-lt"/>
              </a:rPr>
              <a:t>.</a:t>
            </a:r>
          </a:p>
          <a:p>
            <a:endParaRPr lang="en-US" sz="1400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n-US" sz="1400" b="1" dirty="0" smtClean="0">
                <a:latin typeface="+mn-lt"/>
              </a:rPr>
              <a:t>Super Class/Parent Class:</a:t>
            </a:r>
            <a:r>
              <a:rPr lang="en-US" sz="1400" dirty="0" smtClean="0">
                <a:latin typeface="+mn-lt"/>
              </a:rPr>
              <a:t> </a:t>
            </a:r>
            <a:r>
              <a:rPr lang="en-US" sz="1400" dirty="0" smtClean="0">
                <a:latin typeface="+mn-lt"/>
              </a:rPr>
              <a:t>Super class </a:t>
            </a:r>
            <a:r>
              <a:rPr lang="en-US" sz="1400" dirty="0" smtClean="0">
                <a:latin typeface="+mn-lt"/>
              </a:rPr>
              <a:t>is the class from where a subclass inherits the features. It is also called a base class or a parent class</a:t>
            </a:r>
            <a:r>
              <a:rPr lang="en-US" sz="1400" dirty="0" smtClean="0">
                <a:latin typeface="+mn-lt"/>
              </a:rPr>
              <a:t>.</a:t>
            </a:r>
          </a:p>
          <a:p>
            <a:endParaRPr lang="en-US" sz="1400" dirty="0" smtClean="0">
              <a:latin typeface="+mn-lt"/>
            </a:endParaRPr>
          </a:p>
          <a:p>
            <a:pPr>
              <a:buFont typeface="Wingdings" pitchFamily="2" charset="2"/>
              <a:buChar char="ü"/>
            </a:pPr>
            <a:r>
              <a:rPr lang="en-US" sz="1400" b="1" dirty="0" smtClean="0">
                <a:latin typeface="+mn-lt"/>
              </a:rPr>
              <a:t>Reusability:</a:t>
            </a:r>
            <a:r>
              <a:rPr lang="en-US" sz="1400" dirty="0" smtClean="0">
                <a:latin typeface="+mn-lt"/>
              </a:rPr>
              <a:t> As the name specifies, reusability is a mechanism which facilitates you to reuse the fields and methods of the existing class when you create a new class. You can use the same fields and methods already defined in the previous class.</a:t>
            </a:r>
          </a:p>
          <a:p>
            <a:pPr>
              <a:buFont typeface="Wingdings" pitchFamily="2" charset="2"/>
              <a:buChar char="ü"/>
            </a:pPr>
            <a:endParaRPr lang="en-US" sz="1400" dirty="0">
              <a:latin typeface="+mn-lt"/>
            </a:endParaRPr>
          </a:p>
        </p:txBody>
      </p:sp>
      <p:pic>
        <p:nvPicPr>
          <p:cNvPr id="5" name="Picture 4" descr="multileve-inheritance-in-ja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55" y="893379"/>
            <a:ext cx="2459421" cy="3521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7338" y="4575941"/>
            <a:ext cx="1923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V Boli" pitchFamily="2" charset="0"/>
                <a:cs typeface="MV Boli" pitchFamily="2" charset="0"/>
              </a:rPr>
              <a:t>Aditya Kumar,34</a:t>
            </a:r>
            <a:endParaRPr lang="en-US" dirty="0"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980" y="0"/>
            <a:ext cx="7704000" cy="572700"/>
          </a:xfrm>
        </p:spPr>
        <p:txBody>
          <a:bodyPr/>
          <a:lstStyle/>
          <a:p>
            <a:r>
              <a:rPr lang="en-US" sz="4000" u="sng" dirty="0" smtClean="0">
                <a:latin typeface="Bell MT" pitchFamily="18" charset="0"/>
              </a:rPr>
              <a:t>3.The </a:t>
            </a:r>
            <a:r>
              <a:rPr lang="en-US" sz="4000" u="sng" dirty="0" smtClean="0">
                <a:latin typeface="Bell MT" pitchFamily="18" charset="0"/>
              </a:rPr>
              <a:t>syntax of Java Inheritance</a:t>
            </a:r>
            <a:r>
              <a:rPr lang="en-US" sz="3200" u="sng" dirty="0" smtClean="0">
                <a:latin typeface="Bell MT" pitchFamily="18" charset="0"/>
              </a:rPr>
              <a:t/>
            </a:r>
            <a:br>
              <a:rPr lang="en-US" sz="3200" u="sng" dirty="0" smtClean="0">
                <a:latin typeface="Bell MT" pitchFamily="18" charset="0"/>
              </a:rPr>
            </a:b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5129049" y="872359"/>
            <a:ext cx="3762704" cy="1723696"/>
          </a:xfrm>
        </p:spPr>
        <p:txBody>
          <a:bodyPr/>
          <a:lstStyle/>
          <a:p>
            <a:endParaRPr lang="en-US" i="1" dirty="0" smtClean="0"/>
          </a:p>
          <a:p>
            <a:r>
              <a:rPr lang="en-US" sz="1600" dirty="0" smtClean="0">
                <a:latin typeface="+mn-lt"/>
              </a:rPr>
              <a:t>     The</a:t>
            </a:r>
            <a:r>
              <a:rPr lang="en-US" sz="1600" dirty="0" smtClean="0">
                <a:latin typeface="+mn-lt"/>
              </a:rPr>
              <a:t> </a:t>
            </a:r>
            <a:r>
              <a:rPr lang="en-US" sz="1600" b="1" dirty="0" smtClean="0">
                <a:latin typeface="+mn-lt"/>
              </a:rPr>
              <a:t>extends keyword</a:t>
            </a:r>
            <a:r>
              <a:rPr lang="en-US" sz="1600" dirty="0" smtClean="0">
                <a:latin typeface="+mn-lt"/>
              </a:rPr>
              <a:t> indicates that you are making a new class that derives </a:t>
            </a:r>
            <a:r>
              <a:rPr lang="en-US" sz="1600" dirty="0" smtClean="0">
                <a:latin typeface="+mn-lt"/>
              </a:rPr>
              <a:t>from an </a:t>
            </a:r>
            <a:r>
              <a:rPr lang="en-US" sz="1600" dirty="0" smtClean="0">
                <a:latin typeface="+mn-lt"/>
              </a:rPr>
              <a:t>existing class. The meaning of "extends" is to increase the functionality.</a:t>
            </a:r>
          </a:p>
          <a:p>
            <a:endParaRPr lang="en-US" sz="1600" dirty="0" smtClean="0">
              <a:latin typeface="+mn-lt"/>
            </a:endParaRPr>
          </a:p>
          <a:p>
            <a:endParaRPr lang="en-US" i="1" dirty="0" smtClean="0"/>
          </a:p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641129" y="935421"/>
            <a:ext cx="4246181" cy="124022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Class </a:t>
            </a:r>
            <a:r>
              <a:rPr lang="en-US" i="1" dirty="0" smtClean="0">
                <a:solidFill>
                  <a:schemeClr val="tx1"/>
                </a:solidFill>
              </a:rPr>
              <a:t>subclass-name </a:t>
            </a:r>
            <a:r>
              <a:rPr lang="en-US" u="sng" dirty="0" smtClean="0">
                <a:solidFill>
                  <a:schemeClr val="tx1"/>
                </a:solidFill>
              </a:rPr>
              <a:t>extends</a:t>
            </a:r>
            <a:r>
              <a:rPr lang="en-US" i="1" dirty="0" smtClean="0">
                <a:solidFill>
                  <a:schemeClr val="tx1"/>
                </a:solidFill>
              </a:rPr>
              <a:t> superclass-name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	variables declaration;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	methods declaration;</a:t>
            </a:r>
          </a:p>
          <a:p>
            <a:r>
              <a:rPr lang="en-US" i="1" dirty="0" smtClean="0">
                <a:solidFill>
                  <a:schemeClr val="tx1"/>
                </a:solidFill>
              </a:rPr>
              <a:t>}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63917" y="1229710"/>
            <a:ext cx="2596055" cy="210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25711" y="4540469"/>
            <a:ext cx="1818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V Boli" pitchFamily="2" charset="0"/>
                <a:cs typeface="MV Boli" pitchFamily="2" charset="0"/>
              </a:rPr>
              <a:t>Aditya Kumar,34</a:t>
            </a:r>
            <a:endParaRPr lang="en-US" dirty="0">
              <a:latin typeface="MV Boli" pitchFamily="2" charset="0"/>
              <a:cs typeface="MV Boli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538" y="2522483"/>
            <a:ext cx="64533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u="sng" dirty="0" smtClean="0">
                <a:latin typeface="Bell MT" pitchFamily="18" charset="0"/>
              </a:rPr>
              <a:t>Why Do We Need Java Inheritance</a:t>
            </a:r>
            <a:r>
              <a:rPr lang="en-US" sz="2400" b="1" u="sng" dirty="0" smtClean="0">
                <a:latin typeface="Bell MT" pitchFamily="18" charset="0"/>
              </a:rPr>
              <a:t>?</a:t>
            </a:r>
          </a:p>
          <a:p>
            <a:pPr fontAlgn="base"/>
            <a:endParaRPr lang="en-US" sz="2400" b="1" u="sng" dirty="0" smtClean="0">
              <a:latin typeface="Bell MT" pitchFamily="18" charset="0"/>
            </a:endParaRPr>
          </a:p>
          <a:p>
            <a:pPr fontAlgn="base"/>
            <a:r>
              <a:rPr lang="en-US" b="1" dirty="0" smtClean="0"/>
              <a:t>Code </a:t>
            </a:r>
            <a:r>
              <a:rPr lang="en-US" b="1" dirty="0" smtClean="0"/>
              <a:t>Reusability: </a:t>
            </a:r>
            <a:r>
              <a:rPr lang="en-US" dirty="0" smtClean="0"/>
              <a:t>The code written in the Superclass is common to all subclasses. Child classes can directly use the parent class code.</a:t>
            </a:r>
          </a:p>
          <a:p>
            <a:pPr fontAlgn="base"/>
            <a:r>
              <a:rPr lang="en-US" b="1" dirty="0" smtClean="0"/>
              <a:t>Method Overriding: </a:t>
            </a:r>
            <a:r>
              <a:rPr lang="en-US" u="sng" dirty="0" smtClean="0">
                <a:hlinkClick r:id="rId2"/>
              </a:rPr>
              <a:t>Method Overriding</a:t>
            </a:r>
            <a:r>
              <a:rPr lang="en-US" dirty="0" smtClean="0"/>
              <a:t> is achievable only through Inheritance. It is one of the ways by which Java achieves Run Time Polymorphism.</a:t>
            </a:r>
          </a:p>
          <a:p>
            <a:pPr fontAlgn="base"/>
            <a:r>
              <a:rPr lang="en-US" b="1" dirty="0" smtClean="0"/>
              <a:t>Abstraction: </a:t>
            </a:r>
            <a:r>
              <a:rPr lang="en-US" dirty="0" smtClean="0"/>
              <a:t>The concept of abstract where we do not have to provide all details is achieved through inheritance. </a:t>
            </a:r>
            <a:r>
              <a:rPr lang="en-US" u="sng" dirty="0" smtClean="0">
                <a:hlinkClick r:id="rId3"/>
              </a:rPr>
              <a:t>Abstraction </a:t>
            </a:r>
            <a:r>
              <a:rPr lang="en-US" dirty="0" smtClean="0"/>
              <a:t>only shows the functionality to the user.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468" y="0"/>
            <a:ext cx="7704000" cy="572700"/>
          </a:xfrm>
        </p:spPr>
        <p:txBody>
          <a:bodyPr/>
          <a:lstStyle/>
          <a:p>
            <a:r>
              <a:rPr lang="en-US" sz="4000" u="sng" dirty="0" smtClean="0">
                <a:latin typeface="Bell MT" pitchFamily="18" charset="0"/>
              </a:rPr>
              <a:t>4. Java </a:t>
            </a:r>
            <a:r>
              <a:rPr lang="en-US" sz="4000" u="sng" dirty="0" smtClean="0">
                <a:latin typeface="Bell MT" pitchFamily="18" charset="0"/>
              </a:rPr>
              <a:t>Inheritance Example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0" y="3467521"/>
            <a:ext cx="4078014" cy="2226300"/>
          </a:xfrm>
        </p:spPr>
        <p:txBody>
          <a:bodyPr/>
          <a:lstStyle/>
          <a:p>
            <a:r>
              <a:rPr lang="en-US" sz="1400" dirty="0" smtClean="0">
                <a:latin typeface="+mn-lt"/>
              </a:rPr>
              <a:t>       As </a:t>
            </a:r>
            <a:r>
              <a:rPr lang="en-US" sz="1400" dirty="0" smtClean="0">
                <a:latin typeface="+mn-lt"/>
              </a:rPr>
              <a:t>displayed in the above figure, Programmer is the subclass and Employee is the superclass. The relationship between the two classes is </a:t>
            </a:r>
            <a:r>
              <a:rPr lang="en-US" sz="1400" b="1" dirty="0" smtClean="0">
                <a:latin typeface="+mn-lt"/>
              </a:rPr>
              <a:t>Programmer IS-A Employee</a:t>
            </a:r>
            <a:r>
              <a:rPr lang="en-US" sz="1400" dirty="0" smtClean="0">
                <a:latin typeface="+mn-lt"/>
              </a:rPr>
              <a:t>. It means that Programmer is a type of Employee.</a:t>
            </a:r>
            <a:endParaRPr lang="en-US" sz="1400" dirty="0">
              <a:latin typeface="+mn-lt"/>
            </a:endParaRPr>
          </a:p>
        </p:txBody>
      </p:sp>
      <p:pic>
        <p:nvPicPr>
          <p:cNvPr id="5" name="Picture 4" descr="Screenshot (46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6" y="767295"/>
            <a:ext cx="2483136" cy="26590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19449" y="798786"/>
            <a:ext cx="4361792" cy="27431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smtClean="0">
                <a:solidFill>
                  <a:schemeClr val="tx1"/>
                </a:solidFill>
              </a:rPr>
              <a:t>SOURCE CODE:-</a:t>
            </a:r>
          </a:p>
          <a:p>
            <a:endParaRPr lang="en-US" sz="1200" b="1" dirty="0" smtClean="0">
              <a:solidFill>
                <a:schemeClr val="tx1"/>
              </a:solidFill>
            </a:endParaRPr>
          </a:p>
          <a:p>
            <a:r>
              <a:rPr lang="en-US" sz="1200" b="1" dirty="0" smtClean="0">
                <a:solidFill>
                  <a:schemeClr val="tx1"/>
                </a:solidFill>
              </a:rPr>
              <a:t>class</a:t>
            </a:r>
            <a:r>
              <a:rPr lang="en-US" sz="1200" dirty="0" smtClean="0">
                <a:solidFill>
                  <a:schemeClr val="tx1"/>
                </a:solidFill>
              </a:rPr>
              <a:t> Employee{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 </a:t>
            </a:r>
            <a:r>
              <a:rPr lang="en-US" sz="1200" b="1" dirty="0" smtClean="0">
                <a:solidFill>
                  <a:schemeClr val="tx1"/>
                </a:solidFill>
              </a:rPr>
              <a:t>float</a:t>
            </a:r>
            <a:r>
              <a:rPr lang="en-US" sz="1200" dirty="0" smtClean="0">
                <a:solidFill>
                  <a:schemeClr val="tx1"/>
                </a:solidFill>
              </a:rPr>
              <a:t> salary=40000;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}  </a:t>
            </a:r>
          </a:p>
          <a:p>
            <a:r>
              <a:rPr lang="en-US" sz="1200" b="1" dirty="0" smtClean="0">
                <a:solidFill>
                  <a:schemeClr val="tx1"/>
                </a:solidFill>
              </a:rPr>
              <a:t>class</a:t>
            </a:r>
            <a:r>
              <a:rPr lang="en-US" sz="1200" dirty="0" smtClean="0">
                <a:solidFill>
                  <a:schemeClr val="tx1"/>
                </a:solidFill>
              </a:rPr>
              <a:t> Programmer </a:t>
            </a:r>
            <a:r>
              <a:rPr lang="en-US" sz="1200" b="1" dirty="0" smtClean="0">
                <a:solidFill>
                  <a:schemeClr val="tx1"/>
                </a:solidFill>
              </a:rPr>
              <a:t>extends</a:t>
            </a:r>
            <a:r>
              <a:rPr lang="en-US" sz="1200" dirty="0" smtClean="0">
                <a:solidFill>
                  <a:schemeClr val="tx1"/>
                </a:solidFill>
              </a:rPr>
              <a:t> Employee{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 </a:t>
            </a:r>
            <a:r>
              <a:rPr lang="en-US" sz="1200" b="1" dirty="0" smtClean="0">
                <a:solidFill>
                  <a:schemeClr val="tx1"/>
                </a:solidFill>
              </a:rPr>
              <a:t>int</a:t>
            </a:r>
            <a:r>
              <a:rPr lang="en-US" sz="1200" dirty="0" smtClean="0">
                <a:solidFill>
                  <a:schemeClr val="tx1"/>
                </a:solidFill>
              </a:rPr>
              <a:t> bonus=10000;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 </a:t>
            </a:r>
            <a:r>
              <a:rPr lang="en-US" sz="1200" b="1" dirty="0" smtClean="0">
                <a:solidFill>
                  <a:schemeClr val="tx1"/>
                </a:solidFill>
              </a:rPr>
              <a:t>public</a:t>
            </a:r>
            <a:r>
              <a:rPr lang="en-US" sz="1200" dirty="0" smtClean="0">
                <a:solidFill>
                  <a:schemeClr val="tx1"/>
                </a:solidFill>
              </a:rPr>
              <a:t> </a:t>
            </a:r>
            <a:r>
              <a:rPr lang="en-US" sz="1200" b="1" dirty="0" smtClean="0">
                <a:solidFill>
                  <a:schemeClr val="tx1"/>
                </a:solidFill>
              </a:rPr>
              <a:t>static</a:t>
            </a:r>
            <a:r>
              <a:rPr lang="en-US" sz="1200" dirty="0" smtClean="0">
                <a:solidFill>
                  <a:schemeClr val="tx1"/>
                </a:solidFill>
              </a:rPr>
              <a:t> </a:t>
            </a:r>
            <a:r>
              <a:rPr lang="en-US" sz="1200" b="1" dirty="0" smtClean="0">
                <a:solidFill>
                  <a:schemeClr val="tx1"/>
                </a:solidFill>
              </a:rPr>
              <a:t>void</a:t>
            </a:r>
            <a:r>
              <a:rPr lang="en-US" sz="1200" dirty="0" smtClean="0">
                <a:solidFill>
                  <a:schemeClr val="tx1"/>
                </a:solidFill>
              </a:rPr>
              <a:t> main(String args[]){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   Programmer p=</a:t>
            </a:r>
            <a:r>
              <a:rPr lang="en-US" sz="1200" b="1" dirty="0" smtClean="0">
                <a:solidFill>
                  <a:schemeClr val="tx1"/>
                </a:solidFill>
              </a:rPr>
              <a:t>new</a:t>
            </a:r>
            <a:r>
              <a:rPr lang="en-US" sz="1200" dirty="0" smtClean="0">
                <a:solidFill>
                  <a:schemeClr val="tx1"/>
                </a:solidFill>
              </a:rPr>
              <a:t> Programmer();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   System.out.println("Programmer salary is:"+p.salary);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   System.out.println("Bonus of Programmer is:"+p.bonus);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}  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}  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4639942" y="3748096"/>
            <a:ext cx="267525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+mn-lt"/>
                <a:cs typeface="Arial" pitchFamily="34" charset="0"/>
              </a:rPr>
              <a:t>OUTPUT</a:t>
            </a:r>
            <a:r>
              <a:rPr kumimoji="0" lang="en-US" b="1" i="0" u="none" strike="noStrike" cap="none" normalizeH="0" dirty="0" smtClean="0">
                <a:ln>
                  <a:noFill/>
                </a:ln>
                <a:solidFill>
                  <a:srgbClr val="535559"/>
                </a:solidFill>
                <a:effectLst/>
                <a:latin typeface="+mn-lt"/>
                <a:cs typeface="Arial" pitchFamily="34" charset="0"/>
              </a:rPr>
              <a:t> :-</a:t>
            </a:r>
            <a:endParaRPr kumimoji="0" lang="en-US" b="1" i="0" u="none" strike="noStrike" cap="none" normalizeH="0" baseline="0" dirty="0" smtClean="0">
              <a:ln>
                <a:noFill/>
              </a:ln>
              <a:solidFill>
                <a:srgbClr val="535559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+mn-lt"/>
                <a:cs typeface="Arial" pitchFamily="34" charset="0"/>
              </a:rPr>
              <a:t>Programmer salary is:40000.0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+mn-lt"/>
                <a:cs typeface="Arial" pitchFamily="34" charset="0"/>
              </a:rPr>
              <a:t>Bonus of programmer is:10000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Arial" pitchFamily="34" charset="0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0096" y="4561489"/>
            <a:ext cx="1776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V Boli" pitchFamily="2" charset="0"/>
                <a:cs typeface="MV Boli" pitchFamily="2" charset="0"/>
              </a:rPr>
              <a:t>Aditya Kumar,34</a:t>
            </a:r>
            <a:endParaRPr lang="en-US" dirty="0"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428" y="0"/>
            <a:ext cx="7704000" cy="367862"/>
          </a:xfrm>
        </p:spPr>
        <p:txBody>
          <a:bodyPr/>
          <a:lstStyle/>
          <a:p>
            <a:r>
              <a:rPr lang="en-US" sz="3600" u="sng" dirty="0" smtClean="0">
                <a:latin typeface="Bell MT" pitchFamily="18" charset="0"/>
              </a:rPr>
              <a:t>5. Types </a:t>
            </a:r>
            <a:r>
              <a:rPr lang="en-US" sz="3600" u="sng" dirty="0" smtClean="0">
                <a:latin typeface="Bell MT" pitchFamily="18" charset="0"/>
              </a:rPr>
              <a:t>of Inheritance in Java</a:t>
            </a:r>
            <a:br>
              <a:rPr lang="en-US" sz="3600" u="sng" dirty="0" smtClean="0">
                <a:latin typeface="Bell MT" pitchFamily="18" charset="0"/>
              </a:rPr>
            </a:br>
            <a:endParaRPr lang="en-US" sz="3600" u="sng" dirty="0">
              <a:latin typeface="Bell MT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397913" y="666094"/>
            <a:ext cx="2975907" cy="763313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1. Single Inheritance (only one super class)</a:t>
            </a:r>
            <a:endParaRPr lang="en-US" sz="1600" dirty="0">
              <a:latin typeface="+mn-lt"/>
            </a:endParaRPr>
          </a:p>
        </p:txBody>
      </p:sp>
      <p:pic>
        <p:nvPicPr>
          <p:cNvPr id="5" name="Picture 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15" y="1366345"/>
            <a:ext cx="1534182" cy="13137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68717" y="725214"/>
            <a:ext cx="250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2. Multiple Inheritance ( several super classes)</a:t>
            </a:r>
            <a:endParaRPr lang="en-US" sz="1600" dirty="0">
              <a:latin typeface="+mn-lt"/>
            </a:endParaRPr>
          </a:p>
        </p:txBody>
      </p:sp>
      <p:pic>
        <p:nvPicPr>
          <p:cNvPr id="7" name="Picture 6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903" y="1450428"/>
            <a:ext cx="1492469" cy="12086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27835" y="641130"/>
            <a:ext cx="2701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3. Hierarchical Inheritance ( one super class, many subclasses)</a:t>
            </a:r>
            <a:endParaRPr lang="en-US" sz="1600" dirty="0">
              <a:latin typeface="+mn-lt"/>
            </a:endParaRPr>
          </a:p>
        </p:txBody>
      </p:sp>
      <p:pic>
        <p:nvPicPr>
          <p:cNvPr id="9" name="Picture 8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012" y="1576552"/>
            <a:ext cx="2662939" cy="10615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2967" y="2995447"/>
            <a:ext cx="2448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4. Multilevel  Inheritance (derived from a derived class)</a:t>
            </a:r>
            <a:endParaRPr lang="en-US" sz="1600" dirty="0">
              <a:latin typeface="+mn-lt"/>
            </a:endParaRPr>
          </a:p>
        </p:txBody>
      </p:sp>
      <p:pic>
        <p:nvPicPr>
          <p:cNvPr id="11" name="Picture 10" descr="imag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617" y="2963917"/>
            <a:ext cx="1151375" cy="13873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14647" y="2932387"/>
            <a:ext cx="27326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5. Hybrid Inheritance (</a:t>
            </a:r>
            <a:r>
              <a:rPr lang="en-US" sz="1600" dirty="0" smtClean="0">
                <a:latin typeface="+mn-lt"/>
              </a:rPr>
              <a:t> a type of inheritance where a class extends two or more classes, where one or more of them is a combination of different types of </a:t>
            </a:r>
            <a:r>
              <a:rPr lang="en-US" sz="1600" dirty="0" smtClean="0">
                <a:latin typeface="+mn-lt"/>
              </a:rPr>
              <a:t>inheritance).</a:t>
            </a:r>
            <a:endParaRPr lang="en-US" sz="1600" dirty="0">
              <a:latin typeface="+mn-lt"/>
            </a:endParaRPr>
          </a:p>
        </p:txBody>
      </p:sp>
      <p:pic>
        <p:nvPicPr>
          <p:cNvPr id="13" name="Picture 12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939" y="2942894"/>
            <a:ext cx="1645905" cy="1650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36827" y="4603531"/>
            <a:ext cx="1713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V Boli" pitchFamily="2" charset="0"/>
                <a:cs typeface="MV Boli" pitchFamily="2" charset="0"/>
              </a:rPr>
              <a:t>Aditya Kumar,34</a:t>
            </a:r>
            <a:endParaRPr lang="en-US" dirty="0"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6455" y="336331"/>
            <a:ext cx="3662814" cy="572700"/>
          </a:xfrm>
        </p:spPr>
        <p:txBody>
          <a:bodyPr/>
          <a:lstStyle/>
          <a:p>
            <a:pPr algn="ctr"/>
            <a:r>
              <a:rPr lang="en-US" sz="4400" u="sng" dirty="0" smtClean="0">
                <a:latin typeface="Bell MT" pitchFamily="18" charset="0"/>
              </a:rPr>
              <a:t>6. Conclusion</a:t>
            </a:r>
            <a:endParaRPr lang="en-US" sz="4400" u="sng" dirty="0">
              <a:latin typeface="Bell MT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534550" y="1261241"/>
            <a:ext cx="7831685" cy="1702676"/>
          </a:xfrm>
        </p:spPr>
        <p:txBody>
          <a:bodyPr/>
          <a:lstStyle/>
          <a:p>
            <a:pPr algn="ctr"/>
            <a:r>
              <a:rPr lang="en-US" sz="1600" dirty="0" smtClean="0">
                <a:latin typeface="+mn-lt"/>
              </a:rPr>
              <a:t>     Inheritance </a:t>
            </a:r>
            <a:r>
              <a:rPr lang="en-US" sz="1600" dirty="0" smtClean="0">
                <a:latin typeface="+mn-lt"/>
              </a:rPr>
              <a:t>is a fundamental concept in OOP using Java. It promotes code reuse, enhances </a:t>
            </a:r>
            <a:r>
              <a:rPr lang="en-US" sz="1600" dirty="0" smtClean="0">
                <a:latin typeface="+mn-lt"/>
              </a:rPr>
              <a:t>modularity. </a:t>
            </a:r>
            <a:r>
              <a:rPr lang="en-US" sz="1600" dirty="0" smtClean="0">
                <a:latin typeface="+mn-lt"/>
              </a:rPr>
              <a:t>By understanding and leveraging inheritance, developers can create robust and flexible software solutions. This slide summarizes the key takeaways from this presentation.</a:t>
            </a:r>
            <a:endParaRPr lang="en-US" sz="1600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02676" y="2837793"/>
            <a:ext cx="60224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atin typeface="MV Boli" pitchFamily="2" charset="0"/>
                <a:cs typeface="MV Boli" pitchFamily="2" charset="0"/>
              </a:rPr>
              <a:t>THANK YOU!</a:t>
            </a:r>
            <a:endParaRPr lang="en-US" sz="6000" b="1" dirty="0">
              <a:latin typeface="MV Boli" pitchFamily="2" charset="0"/>
              <a:cs typeface="MV Boli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4482" y="4456387"/>
            <a:ext cx="1923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MV Boli" pitchFamily="2" charset="0"/>
                <a:cs typeface="MV Boli" pitchFamily="2" charset="0"/>
              </a:rPr>
              <a:t>Aditya Kumar,34</a:t>
            </a:r>
            <a:endParaRPr lang="en-US" dirty="0">
              <a:latin typeface="MV Boli" pitchFamily="2" charset="0"/>
              <a:cs typeface="MV Boli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preneurial Ecosystem by Slidesgo">
  <a:themeElements>
    <a:clrScheme name="Simple Light">
      <a:dk1>
        <a:srgbClr val="242424"/>
      </a:dk1>
      <a:lt1>
        <a:srgbClr val="F8F8F8"/>
      </a:lt1>
      <a:dk2>
        <a:srgbClr val="EFEFEF"/>
      </a:dk2>
      <a:lt2>
        <a:srgbClr val="CCCCCC"/>
      </a:lt2>
      <a:accent1>
        <a:srgbClr val="595959"/>
      </a:accent1>
      <a:accent2>
        <a:srgbClr val="FF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424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234</Words>
  <Application>Microsoft Office PowerPoint</Application>
  <PresentationFormat>On-screen Show (16:9)</PresentationFormat>
  <Paragraphs>68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Bell MT</vt:lpstr>
      <vt:lpstr>Libre Baskerville</vt:lpstr>
      <vt:lpstr>MV Boli</vt:lpstr>
      <vt:lpstr>DM Sans</vt:lpstr>
      <vt:lpstr>Wingdings</vt:lpstr>
      <vt:lpstr>Entrepreneurial Ecosystem by Slidesgo</vt:lpstr>
      <vt:lpstr>Exploring the Power of Inheritance in Object-Oriented Programming with Java</vt:lpstr>
      <vt:lpstr>1. Introduction to Inheritance</vt:lpstr>
      <vt:lpstr>2.Terms used in Inheritance </vt:lpstr>
      <vt:lpstr>3.The syntax of Java Inheritance </vt:lpstr>
      <vt:lpstr>4. Java Inheritance Example </vt:lpstr>
      <vt:lpstr>5. Types of Inheritance in Java </vt:lpstr>
      <vt:lpstr>6. 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the Power of Polymorphism in Object-Oriented Programming with Java</dc:title>
  <dc:creator>Aditya</dc:creator>
  <cp:lastModifiedBy>Rishuraj</cp:lastModifiedBy>
  <cp:revision>49</cp:revision>
  <dcterms:modified xsi:type="dcterms:W3CDTF">2023-08-06T09:15:00Z</dcterms:modified>
</cp:coreProperties>
</file>