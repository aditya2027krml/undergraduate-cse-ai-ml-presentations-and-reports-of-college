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notesSlides/notesSlide1.xml" ContentType="application/vnd.openxmlformats-officedocument.presentationml.notesSlide+xml"/>
  <Default Extension="png" ContentType="image/png"/>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64" r:id="rId2"/>
    <p:sldId id="256" r:id="rId3"/>
    <p:sldId id="257" r:id="rId4"/>
    <p:sldId id="265" r:id="rId5"/>
    <p:sldId id="260" r:id="rId6"/>
    <p:sldId id="267" r:id="rId7"/>
    <p:sldId id="261" r:id="rId8"/>
    <p:sldId id="268" r:id="rId9"/>
    <p:sldId id="262" r:id="rId10"/>
    <p:sldId id="258" r:id="rId11"/>
    <p:sldId id="263" r:id="rId12"/>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1" d="100"/>
          <a:sy n="61" d="100"/>
        </p:scale>
        <p:origin x="-564" y="-84"/>
      </p:cViewPr>
      <p:guideLst>
        <p:guide orient="horz" pos="2592"/>
        <p:guide pos="4608"/>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a:t>
            </a:fld>
            <a:endParaRPr lang="en-US" dirty="0"/>
          </a:p>
        </p:txBody>
      </p:sp>
    </p:spTree>
    <p:extLst>
      <p:ext uri="{BB962C8B-B14F-4D97-AF65-F5344CB8AC3E}">
        <p14:creationId xmlns=""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2</a:t>
            </a:fld>
            <a:endParaRPr lang="en-US" dirty="0"/>
          </a:p>
        </p:txBody>
      </p:sp>
    </p:spTree>
    <p:extLst>
      <p:ext uri="{BB962C8B-B14F-4D97-AF65-F5344CB8AC3E}">
        <p14:creationId xmlns=""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3</a:t>
            </a:fld>
            <a:endParaRPr lang="en-US" dirty="0"/>
          </a:p>
        </p:txBody>
      </p:sp>
    </p:spTree>
    <p:extLst>
      <p:ext uri="{BB962C8B-B14F-4D97-AF65-F5344CB8AC3E}">
        <p14:creationId xmlns=""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0" y="1096963"/>
            <a:ext cx="9753600" cy="5486400"/>
          </a:xfrm>
          <a:prstGeom prst="rect">
            <a:avLst/>
          </a:prstGeom>
        </p:spPr>
      </p:sp>
      <p:sp>
        <p:nvSpPr>
          <p:cNvPr id="3" name="Notes Placeholder 2"/>
          <p:cNvSpPr>
            <a:spLocks noGrp="1"/>
          </p:cNvSpPr>
          <p:nvPr>
            <p:ph type="body" idx="1"/>
          </p:nvPr>
        </p:nvSpPr>
        <p:spPr>
          <a:xfrm>
            <a:off x="822325" y="6950075"/>
            <a:ext cx="6584950" cy="6583363"/>
          </a:xfrm>
          <a:prstGeom prst="rect">
            <a:avLst/>
          </a:prstGeom>
        </p:spPr>
        <p:txBody>
          <a:bodyPr/>
          <a:lstStyle/>
          <a:p>
            <a:endParaRPr lang="en-US" dirty="0"/>
          </a:p>
        </p:txBody>
      </p:sp>
      <p:sp>
        <p:nvSpPr>
          <p:cNvPr id="4" name="Slide Number Placeholder 3"/>
          <p:cNvSpPr>
            <a:spLocks noGrp="1"/>
          </p:cNvSpPr>
          <p:nvPr>
            <p:ph type="sldNum" sz="quarter" idx="10"/>
          </p:nvPr>
        </p:nvSpPr>
        <p:spPr>
          <a:xfrm>
            <a:off x="4660900" y="13896975"/>
            <a:ext cx="3567113" cy="730250"/>
          </a:xfrm>
          <a:prstGeom prst="rect">
            <a:avLst/>
          </a:prstGeom>
        </p:spPr>
        <p:txBody>
          <a:bodyPr/>
          <a:lstStyle/>
          <a:p>
            <a:fld id="{F7021451-1387-4CA6-816F-3879F97B5CBC}" type="slidenum">
              <a:rPr lang="en-US"/>
              <a:pPr/>
              <a:t>4</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5</a:t>
            </a:fld>
            <a:endParaRPr lang="en-US" dirty="0"/>
          </a:p>
        </p:txBody>
      </p:sp>
    </p:spTree>
    <p:extLst>
      <p:ext uri="{BB962C8B-B14F-4D97-AF65-F5344CB8AC3E}">
        <p14:creationId xmlns=""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0" y="1096963"/>
            <a:ext cx="9753600" cy="5486400"/>
          </a:xfrm>
          <a:prstGeom prst="rect">
            <a:avLst/>
          </a:prstGeom>
        </p:spPr>
      </p:sp>
      <p:sp>
        <p:nvSpPr>
          <p:cNvPr id="3" name="Notes Placeholder 2"/>
          <p:cNvSpPr>
            <a:spLocks noGrp="1"/>
          </p:cNvSpPr>
          <p:nvPr>
            <p:ph type="body" idx="1"/>
          </p:nvPr>
        </p:nvSpPr>
        <p:spPr>
          <a:xfrm>
            <a:off x="822325" y="6950075"/>
            <a:ext cx="6584950" cy="6583363"/>
          </a:xfrm>
          <a:prstGeom prst="rect">
            <a:avLst/>
          </a:prstGeom>
        </p:spPr>
        <p:txBody>
          <a:bodyPr/>
          <a:lstStyle/>
          <a:p>
            <a:endParaRPr lang="en-US" dirty="0"/>
          </a:p>
        </p:txBody>
      </p:sp>
      <p:sp>
        <p:nvSpPr>
          <p:cNvPr id="4" name="Slide Number Placeholder 3"/>
          <p:cNvSpPr>
            <a:spLocks noGrp="1"/>
          </p:cNvSpPr>
          <p:nvPr>
            <p:ph type="sldNum" sz="quarter" idx="10"/>
          </p:nvPr>
        </p:nvSpPr>
        <p:spPr>
          <a:xfrm>
            <a:off x="4660900" y="13896975"/>
            <a:ext cx="3567113" cy="730250"/>
          </a:xfrm>
          <a:prstGeom prst="rect">
            <a:avLst/>
          </a:prstGeom>
        </p:spPr>
        <p:txBody>
          <a:bodyPr/>
          <a:lstStyle/>
          <a:p>
            <a:fld id="{F7021451-1387-4CA6-816F-3879F97B5CBC}" type="slidenum">
              <a:rPr lang="en-US"/>
              <a:pPr/>
              <a:t>6</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7</a:t>
            </a:fld>
            <a:endParaRPr lang="en-US" dirty="0"/>
          </a:p>
        </p:txBody>
      </p:sp>
    </p:spTree>
    <p:extLst>
      <p:ext uri="{BB962C8B-B14F-4D97-AF65-F5344CB8AC3E}">
        <p14:creationId xmlns=""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0" y="1096963"/>
            <a:ext cx="9753600" cy="5486400"/>
          </a:xfrm>
          <a:prstGeom prst="rect">
            <a:avLst/>
          </a:prstGeom>
        </p:spPr>
      </p:sp>
      <p:sp>
        <p:nvSpPr>
          <p:cNvPr id="3" name="Notes Placeholder 2"/>
          <p:cNvSpPr>
            <a:spLocks noGrp="1"/>
          </p:cNvSpPr>
          <p:nvPr>
            <p:ph type="body" idx="1"/>
          </p:nvPr>
        </p:nvSpPr>
        <p:spPr>
          <a:xfrm>
            <a:off x="822325" y="6950075"/>
            <a:ext cx="6584950" cy="6583363"/>
          </a:xfrm>
          <a:prstGeom prst="rect">
            <a:avLst/>
          </a:prstGeom>
        </p:spPr>
        <p:txBody>
          <a:bodyPr/>
          <a:lstStyle/>
          <a:p>
            <a:endParaRPr lang="en-US" dirty="0"/>
          </a:p>
        </p:txBody>
      </p:sp>
      <p:sp>
        <p:nvSpPr>
          <p:cNvPr id="4" name="Slide Number Placeholder 3"/>
          <p:cNvSpPr>
            <a:spLocks noGrp="1"/>
          </p:cNvSpPr>
          <p:nvPr>
            <p:ph type="sldNum" sz="quarter" idx="10"/>
          </p:nvPr>
        </p:nvSpPr>
        <p:spPr>
          <a:xfrm>
            <a:off x="4660900" y="13896975"/>
            <a:ext cx="3567113" cy="730250"/>
          </a:xfrm>
          <a:prstGeom prst="rect">
            <a:avLst/>
          </a:prstGeom>
        </p:spPr>
        <p:txBody>
          <a:bodyPr/>
          <a:lstStyle/>
          <a:p>
            <a:fld id="{F7021451-1387-4CA6-816F-3879F97B5CBC}" type="slidenum">
              <a:rPr lang="en-US"/>
              <a:pPr/>
              <a:t>8</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9</a:t>
            </a:fld>
            <a:endParaRPr lang="en-US" dirty="0"/>
          </a:p>
        </p:txBody>
      </p:sp>
    </p:spTree>
    <p:extLst>
      <p:ext uri="{BB962C8B-B14F-4D97-AF65-F5344CB8AC3E}">
        <p14:creationId xmlns=""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10</a:t>
            </a:fld>
            <a:endParaRPr lang="en-US" dirty="0"/>
          </a:p>
        </p:txBody>
      </p:sp>
    </p:spTree>
    <p:extLst>
      <p:ext uri="{BB962C8B-B14F-4D97-AF65-F5344CB8AC3E}">
        <p14:creationId xmlns=""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11</a:t>
            </a:fld>
            <a:endParaRPr lang="en-US" dirty="0"/>
          </a:p>
        </p:txBody>
      </p:sp>
    </p:spTree>
    <p:extLst>
      <p:ext uri="{BB962C8B-B14F-4D97-AF65-F5344CB8AC3E}">
        <p14:creationId xmlns=""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421424"/>
          </a:solidFill>
          <a:ln/>
        </p:spPr>
      </p:sp>
      <p:sp>
        <p:nvSpPr>
          <p:cNvPr id="3" name="Shape 1"/>
          <p:cNvSpPr/>
          <p:nvPr/>
        </p:nvSpPr>
        <p:spPr>
          <a:xfrm>
            <a:off x="0" y="0"/>
            <a:ext cx="14630400" cy="8229600"/>
          </a:xfrm>
          <a:prstGeom prst="rect">
            <a:avLst/>
          </a:prstGeom>
          <a:solidFill>
            <a:srgbClr val="5C2438"/>
          </a:solidFill>
          <a:ln/>
        </p:spPr>
      </p:sp>
      <p:pic>
        <p:nvPicPr>
          <p:cNvPr id="4"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5" name="Text 2"/>
          <p:cNvSpPr/>
          <p:nvPr/>
        </p:nvSpPr>
        <p:spPr>
          <a:xfrm>
            <a:off x="6013343" y="542441"/>
            <a:ext cx="8384583" cy="2014149"/>
          </a:xfrm>
          <a:prstGeom prst="rect">
            <a:avLst/>
          </a:prstGeom>
          <a:noFill/>
          <a:ln/>
        </p:spPr>
        <p:txBody>
          <a:bodyPr wrap="square" rtlCol="0" anchor="t"/>
          <a:lstStyle/>
          <a:p>
            <a:r>
              <a:rPr lang="en-US" sz="4800" b="1" u="sng" dirty="0" smtClean="0">
                <a:solidFill>
                  <a:schemeClr val="accent4">
                    <a:lumMod val="60000"/>
                    <a:lumOff val="40000"/>
                  </a:schemeClr>
                </a:solidFill>
                <a:latin typeface="Bell MT" pitchFamily="18" charset="0"/>
                <a:ea typeface="Fraunces" pitchFamily="34" charset="-122"/>
                <a:cs typeface="Fraunces" pitchFamily="34" charset="-120"/>
              </a:rPr>
              <a:t>The Qualities of a Successful Entrepreneur &amp; Their Contribution in the Economy</a:t>
            </a:r>
            <a:endParaRPr lang="en-US" sz="4800" u="sng" dirty="0">
              <a:solidFill>
                <a:schemeClr val="accent4">
                  <a:lumMod val="60000"/>
                  <a:lumOff val="40000"/>
                </a:schemeClr>
              </a:solidFill>
              <a:latin typeface="Bell MT" pitchFamily="18" charset="0"/>
            </a:endParaRPr>
          </a:p>
        </p:txBody>
      </p:sp>
      <p:sp>
        <p:nvSpPr>
          <p:cNvPr id="6" name="Text 3"/>
          <p:cNvSpPr/>
          <p:nvPr/>
        </p:nvSpPr>
        <p:spPr>
          <a:xfrm>
            <a:off x="5811864" y="4277532"/>
            <a:ext cx="8586062" cy="3440623"/>
          </a:xfrm>
          <a:prstGeom prst="rect">
            <a:avLst/>
          </a:prstGeom>
          <a:noFill/>
          <a:ln/>
        </p:spPr>
        <p:txBody>
          <a:bodyPr wrap="square" rtlCol="0" anchor="t"/>
          <a:lstStyle/>
          <a:p>
            <a:r>
              <a:rPr lang="en-US" sz="2400" b="1" dirty="0" smtClean="0">
                <a:solidFill>
                  <a:schemeClr val="bg1"/>
                </a:solidFill>
                <a:latin typeface="MV Boli" pitchFamily="2" charset="0"/>
                <a:cs typeface="MV Boli" pitchFamily="2" charset="0"/>
              </a:rPr>
              <a:t>•NAME – </a:t>
            </a:r>
          </a:p>
          <a:p>
            <a:r>
              <a:rPr lang="en-US" sz="2400" b="1" dirty="0" smtClean="0">
                <a:solidFill>
                  <a:schemeClr val="bg1"/>
                </a:solidFill>
                <a:latin typeface="MV Boli" pitchFamily="2" charset="0"/>
                <a:cs typeface="MV Boli" pitchFamily="2" charset="0"/>
              </a:rPr>
              <a:t>•UNIVERSITY ROLL NO</a:t>
            </a:r>
            <a:r>
              <a:rPr lang="en-US" sz="2400" b="1" dirty="0" smtClean="0">
                <a:solidFill>
                  <a:schemeClr val="bg1"/>
                </a:solidFill>
                <a:latin typeface="MV Boli" pitchFamily="2" charset="0"/>
                <a:cs typeface="MV Boli" pitchFamily="2" charset="0"/>
              </a:rPr>
              <a:t>:</a:t>
            </a:r>
            <a:endParaRPr lang="en-US" sz="2400" b="1" dirty="0" smtClean="0">
              <a:solidFill>
                <a:schemeClr val="bg1"/>
              </a:solidFill>
              <a:latin typeface="MV Boli" pitchFamily="2" charset="0"/>
              <a:cs typeface="MV Boli" pitchFamily="2" charset="0"/>
            </a:endParaRPr>
          </a:p>
          <a:p>
            <a:r>
              <a:rPr lang="en-US" sz="2400" b="1" dirty="0" smtClean="0">
                <a:solidFill>
                  <a:schemeClr val="bg1"/>
                </a:solidFill>
                <a:latin typeface="MV Boli" pitchFamily="2" charset="0"/>
                <a:cs typeface="MV Boli" pitchFamily="2" charset="0"/>
              </a:rPr>
              <a:t>•PAPER NAME : PROJECT MANAGEMENT AND ENTREPRENEURSHIP</a:t>
            </a:r>
          </a:p>
          <a:p>
            <a:r>
              <a:rPr lang="en-US" sz="2400" b="1" dirty="0" smtClean="0">
                <a:solidFill>
                  <a:schemeClr val="bg1"/>
                </a:solidFill>
                <a:latin typeface="MV Boli" pitchFamily="2" charset="0"/>
                <a:cs typeface="MV Boli" pitchFamily="2" charset="0"/>
              </a:rPr>
              <a:t>•PAPER CODE : HSMC 701 </a:t>
            </a:r>
          </a:p>
          <a:p>
            <a:r>
              <a:rPr lang="en-US" sz="2400" b="1" dirty="0" smtClean="0">
                <a:solidFill>
                  <a:schemeClr val="bg1"/>
                </a:solidFill>
                <a:latin typeface="MV Boli" pitchFamily="2" charset="0"/>
                <a:cs typeface="MV Boli" pitchFamily="2" charset="0"/>
              </a:rPr>
              <a:t>•SEMESTER/YEAR : 7TH SEM/ 4th YEAR •DEPARTMENT :CSE(AI&amp;ML)</a:t>
            </a:r>
            <a:endParaRPr lang="en-US" sz="2400" b="1" dirty="0">
              <a:solidFill>
                <a:schemeClr val="bg1"/>
              </a:solidFill>
              <a:latin typeface="MV Boli" pitchFamily="2" charset="0"/>
              <a:cs typeface="MV Boli" pitchFamily="2"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421424"/>
          </a:solidFill>
          <a:ln/>
        </p:spPr>
      </p:sp>
      <p:sp>
        <p:nvSpPr>
          <p:cNvPr id="3" name="Shape 1"/>
          <p:cNvSpPr/>
          <p:nvPr/>
        </p:nvSpPr>
        <p:spPr>
          <a:xfrm>
            <a:off x="0" y="0"/>
            <a:ext cx="14630400" cy="8229600"/>
          </a:xfrm>
          <a:prstGeom prst="rect">
            <a:avLst/>
          </a:prstGeom>
          <a:solidFill>
            <a:srgbClr val="5C2438"/>
          </a:solidFill>
          <a:ln/>
        </p:spPr>
      </p:sp>
      <p:sp>
        <p:nvSpPr>
          <p:cNvPr id="5" name="Text 2"/>
          <p:cNvSpPr/>
          <p:nvPr/>
        </p:nvSpPr>
        <p:spPr>
          <a:xfrm>
            <a:off x="1053885" y="294468"/>
            <a:ext cx="13065071" cy="2588217"/>
          </a:xfrm>
          <a:prstGeom prst="rect">
            <a:avLst/>
          </a:prstGeom>
          <a:noFill/>
          <a:ln/>
        </p:spPr>
        <p:txBody>
          <a:bodyPr wrap="square" rtlCol="0" anchor="t"/>
          <a:lstStyle/>
          <a:p>
            <a:pPr algn="ctr"/>
            <a:r>
              <a:rPr lang="en-US" sz="4800" u="sng" dirty="0" smtClean="0">
                <a:solidFill>
                  <a:schemeClr val="accent4">
                    <a:lumMod val="60000"/>
                    <a:lumOff val="40000"/>
                  </a:schemeClr>
                </a:solidFill>
              </a:rPr>
              <a:t>INTROUDCTION</a:t>
            </a:r>
            <a:endParaRPr lang="en-US" sz="4800" u="sng" dirty="0">
              <a:solidFill>
                <a:schemeClr val="accent4">
                  <a:lumMod val="60000"/>
                  <a:lumOff val="40000"/>
                </a:schemeClr>
              </a:solidFill>
            </a:endParaRPr>
          </a:p>
        </p:txBody>
      </p:sp>
      <p:sp>
        <p:nvSpPr>
          <p:cNvPr id="6" name="Text 3"/>
          <p:cNvSpPr/>
          <p:nvPr/>
        </p:nvSpPr>
        <p:spPr>
          <a:xfrm>
            <a:off x="418455" y="1549831"/>
            <a:ext cx="8214102" cy="6075335"/>
          </a:xfrm>
          <a:prstGeom prst="rect">
            <a:avLst/>
          </a:prstGeom>
          <a:noFill/>
          <a:ln/>
        </p:spPr>
        <p:txBody>
          <a:bodyPr wrap="square" rtlCol="0" anchor="t"/>
          <a:lstStyle/>
          <a:p>
            <a:pPr marL="0" indent="0">
              <a:lnSpc>
                <a:spcPts val="2697"/>
              </a:lnSpc>
              <a:buFont typeface="Arial" pitchFamily="34" charset="0"/>
              <a:buChar char="•"/>
            </a:pPr>
            <a:r>
              <a:rPr lang="en-US" sz="2800" dirty="0">
                <a:solidFill>
                  <a:schemeClr val="accent4">
                    <a:lumMod val="60000"/>
                    <a:lumOff val="40000"/>
                  </a:schemeClr>
                </a:solidFill>
                <a:ea typeface="Montserrat" pitchFamily="34" charset="-122"/>
                <a:cs typeface="Montserrat" pitchFamily="34" charset="-120"/>
              </a:rPr>
              <a:t>Entrepreneurship is the driving force behind innovation, job creation, and economic growth. By harnessing their unique qualities, entrepreneurs play a vital role in shaping the world around us</a:t>
            </a:r>
            <a:r>
              <a:rPr lang="en-US" sz="2800" dirty="0" smtClean="0">
                <a:solidFill>
                  <a:schemeClr val="accent4">
                    <a:lumMod val="60000"/>
                    <a:lumOff val="40000"/>
                  </a:schemeClr>
                </a:solidFill>
                <a:ea typeface="Montserrat" pitchFamily="34" charset="-122"/>
                <a:cs typeface="Montserrat" pitchFamily="34" charset="-120"/>
              </a:rPr>
              <a:t>.</a:t>
            </a:r>
          </a:p>
          <a:p>
            <a:pPr marL="0" indent="0">
              <a:lnSpc>
                <a:spcPts val="2697"/>
              </a:lnSpc>
              <a:buFont typeface="Arial" pitchFamily="34" charset="0"/>
              <a:buChar char="•"/>
            </a:pPr>
            <a:endParaRPr lang="en-US" sz="2800" dirty="0" smtClean="0">
              <a:solidFill>
                <a:schemeClr val="accent4">
                  <a:lumMod val="60000"/>
                  <a:lumOff val="40000"/>
                </a:schemeClr>
              </a:solidFill>
              <a:ea typeface="Montserrat" pitchFamily="34" charset="-122"/>
              <a:cs typeface="Montserrat" pitchFamily="34" charset="-120"/>
            </a:endParaRPr>
          </a:p>
          <a:p>
            <a:pPr>
              <a:lnSpc>
                <a:spcPts val="2697"/>
              </a:lnSpc>
              <a:buFont typeface="Arial" pitchFamily="34" charset="0"/>
              <a:buChar char="•"/>
            </a:pPr>
            <a:r>
              <a:rPr lang="en-US" sz="2800" b="1" u="sng" dirty="0" smtClean="0">
                <a:solidFill>
                  <a:schemeClr val="accent4">
                    <a:lumMod val="60000"/>
                    <a:lumOff val="40000"/>
                  </a:schemeClr>
                </a:solidFill>
              </a:rPr>
              <a:t>Definition of an Entrepreneur</a:t>
            </a:r>
            <a:r>
              <a:rPr lang="en-US" sz="2800" u="sng" dirty="0" smtClean="0">
                <a:solidFill>
                  <a:schemeClr val="accent4">
                    <a:lumMod val="60000"/>
                    <a:lumOff val="40000"/>
                  </a:schemeClr>
                </a:solidFill>
              </a:rPr>
              <a:t>: </a:t>
            </a:r>
            <a:r>
              <a:rPr lang="en-US" sz="2800" dirty="0" smtClean="0">
                <a:solidFill>
                  <a:schemeClr val="accent4">
                    <a:lumMod val="60000"/>
                    <a:lumOff val="40000"/>
                  </a:schemeClr>
                </a:solidFill>
              </a:rPr>
              <a:t>An individual who initiates, manages, and assumes the risks of a business.</a:t>
            </a:r>
          </a:p>
          <a:p>
            <a:pPr>
              <a:lnSpc>
                <a:spcPts val="2697"/>
              </a:lnSpc>
            </a:pPr>
            <a:r>
              <a:rPr lang="en-US" sz="2800" dirty="0" smtClean="0">
                <a:solidFill>
                  <a:schemeClr val="accent4">
                    <a:lumMod val="60000"/>
                    <a:lumOff val="40000"/>
                  </a:schemeClr>
                </a:solidFill>
              </a:rPr>
              <a:t> </a:t>
            </a:r>
          </a:p>
          <a:p>
            <a:pPr>
              <a:lnSpc>
                <a:spcPts val="2697"/>
              </a:lnSpc>
              <a:buFont typeface="Arial" pitchFamily="34" charset="0"/>
              <a:buChar char="•"/>
            </a:pPr>
            <a:r>
              <a:rPr lang="en-US" sz="2800" b="1" u="sng" dirty="0" smtClean="0">
                <a:solidFill>
                  <a:schemeClr val="accent4">
                    <a:lumMod val="60000"/>
                    <a:lumOff val="40000"/>
                  </a:schemeClr>
                </a:solidFill>
              </a:rPr>
              <a:t>Importance</a:t>
            </a:r>
            <a:r>
              <a:rPr lang="en-US" sz="2800" u="sng" dirty="0" smtClean="0">
                <a:solidFill>
                  <a:schemeClr val="accent4">
                    <a:lumMod val="60000"/>
                    <a:lumOff val="40000"/>
                  </a:schemeClr>
                </a:solidFill>
              </a:rPr>
              <a:t>: </a:t>
            </a:r>
            <a:r>
              <a:rPr lang="en-US" sz="2800" dirty="0" smtClean="0">
                <a:solidFill>
                  <a:schemeClr val="accent4">
                    <a:lumMod val="60000"/>
                    <a:lumOff val="40000"/>
                  </a:schemeClr>
                </a:solidFill>
              </a:rPr>
              <a:t>Entrepreneurs drive innovation, create jobs, and contribute to economic growth.</a:t>
            </a:r>
            <a:endParaRPr lang="en-US" sz="2800" dirty="0" smtClean="0">
              <a:solidFill>
                <a:schemeClr val="accent4">
                  <a:lumMod val="60000"/>
                  <a:lumOff val="40000"/>
                </a:schemeClr>
              </a:solidFill>
              <a:ea typeface="Montserrat" pitchFamily="34" charset="-122"/>
              <a:cs typeface="Montserrat" pitchFamily="34" charset="-120"/>
            </a:endParaRPr>
          </a:p>
          <a:p>
            <a:pPr marL="0" indent="0">
              <a:lnSpc>
                <a:spcPts val="2697"/>
              </a:lnSpc>
              <a:buFont typeface="Arial" pitchFamily="34" charset="0"/>
              <a:buChar char="•"/>
            </a:pPr>
            <a:endParaRPr lang="en-US" sz="2800" dirty="0" smtClean="0">
              <a:solidFill>
                <a:schemeClr val="accent4">
                  <a:lumMod val="60000"/>
                  <a:lumOff val="40000"/>
                </a:schemeClr>
              </a:solidFill>
              <a:ea typeface="Montserrat" pitchFamily="34" charset="-122"/>
            </a:endParaRPr>
          </a:p>
          <a:p>
            <a:pPr>
              <a:lnSpc>
                <a:spcPts val="2697"/>
              </a:lnSpc>
              <a:buFont typeface="Arial" pitchFamily="34" charset="0"/>
              <a:buChar char="•"/>
            </a:pPr>
            <a:r>
              <a:rPr lang="en-US" sz="2800" dirty="0" smtClean="0">
                <a:solidFill>
                  <a:schemeClr val="accent4">
                    <a:lumMod val="60000"/>
                    <a:lumOff val="40000"/>
                  </a:schemeClr>
                </a:solidFill>
                <a:ea typeface="Nobile" pitchFamily="34" charset="-122"/>
                <a:cs typeface="Nobile" pitchFamily="34" charset="-120"/>
              </a:rPr>
              <a:t>Successful entrepreneurs possess a unique combination of traits that enable them to identify opportunities, take calculated risks, and drive innovation. These qualities are crucial for creating thriving businesses and contributing to the overall economic growth.</a:t>
            </a:r>
            <a:endParaRPr lang="en-US" sz="2800" dirty="0" smtClean="0">
              <a:solidFill>
                <a:schemeClr val="accent4">
                  <a:lumMod val="60000"/>
                  <a:lumOff val="40000"/>
                </a:schemeClr>
              </a:solidFill>
            </a:endParaRPr>
          </a:p>
          <a:p>
            <a:pPr marL="0" indent="0">
              <a:lnSpc>
                <a:spcPts val="2697"/>
              </a:lnSpc>
              <a:buFont typeface="Arial" pitchFamily="34" charset="0"/>
              <a:buChar char="•"/>
            </a:pPr>
            <a:endParaRPr lang="en-US" sz="2800" dirty="0">
              <a:solidFill>
                <a:schemeClr val="accent4">
                  <a:lumMod val="60000"/>
                  <a:lumOff val="40000"/>
                </a:schemeClr>
              </a:solidFill>
            </a:endParaRPr>
          </a:p>
        </p:txBody>
      </p:sp>
      <p:pic>
        <p:nvPicPr>
          <p:cNvPr id="11" name="Image 1" descr="preencoded.png"/>
          <p:cNvPicPr>
            <a:picLocks noChangeAspect="1"/>
          </p:cNvPicPr>
          <p:nvPr/>
        </p:nvPicPr>
        <p:blipFill>
          <a:blip r:embed="rId3"/>
          <a:stretch>
            <a:fillRect/>
          </a:stretch>
        </p:blipFill>
        <p:spPr>
          <a:xfrm>
            <a:off x="9022188" y="2045776"/>
            <a:ext cx="5344742" cy="3563205"/>
          </a:xfrm>
          <a:prstGeom prst="rect">
            <a:avLst/>
          </a:prstGeom>
          <a:ln w="57150">
            <a:solidFill>
              <a:schemeClr val="bg1">
                <a:lumMod val="65000"/>
              </a:schemeClr>
            </a:solid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421424"/>
          </a:solidFill>
          <a:ln/>
        </p:spPr>
      </p:sp>
      <p:sp>
        <p:nvSpPr>
          <p:cNvPr id="3" name="Shape 1"/>
          <p:cNvSpPr/>
          <p:nvPr/>
        </p:nvSpPr>
        <p:spPr>
          <a:xfrm>
            <a:off x="-102275" y="0"/>
            <a:ext cx="14732675" cy="8229600"/>
          </a:xfrm>
          <a:prstGeom prst="rect">
            <a:avLst/>
          </a:prstGeom>
          <a:solidFill>
            <a:srgbClr val="5C2438"/>
          </a:solidFill>
          <a:ln/>
        </p:spPr>
      </p:sp>
      <p:sp>
        <p:nvSpPr>
          <p:cNvPr id="5" name="Text 2"/>
          <p:cNvSpPr/>
          <p:nvPr/>
        </p:nvSpPr>
        <p:spPr>
          <a:xfrm>
            <a:off x="1798002" y="356461"/>
            <a:ext cx="9866233" cy="681990"/>
          </a:xfrm>
          <a:prstGeom prst="rect">
            <a:avLst/>
          </a:prstGeom>
          <a:noFill/>
          <a:ln/>
        </p:spPr>
        <p:txBody>
          <a:bodyPr wrap="none" rtlCol="0" anchor="t"/>
          <a:lstStyle/>
          <a:p>
            <a:pPr marL="0" indent="0">
              <a:lnSpc>
                <a:spcPts val="5371"/>
              </a:lnSpc>
              <a:buNone/>
            </a:pPr>
            <a:r>
              <a:rPr lang="en-US" sz="4297" b="1" u="sng" dirty="0">
                <a:solidFill>
                  <a:srgbClr val="FFB393"/>
                </a:solidFill>
                <a:latin typeface="Brygada 1918" pitchFamily="34" charset="0"/>
                <a:ea typeface="Brygada 1918" pitchFamily="34" charset="-122"/>
                <a:cs typeface="Brygada 1918" pitchFamily="34" charset="-120"/>
              </a:rPr>
              <a:t>Qualities of Successful Entrepreneurs</a:t>
            </a:r>
            <a:endParaRPr lang="en-US" sz="4297" u="sng" dirty="0"/>
          </a:p>
        </p:txBody>
      </p:sp>
      <p:sp>
        <p:nvSpPr>
          <p:cNvPr id="24" name="Oval 23"/>
          <p:cNvSpPr/>
          <p:nvPr/>
        </p:nvSpPr>
        <p:spPr>
          <a:xfrm>
            <a:off x="364408" y="1539813"/>
            <a:ext cx="2867187" cy="1619057"/>
          </a:xfrm>
          <a:prstGeom prst="ellipse">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sz="2400" b="1" dirty="0" smtClean="0">
                <a:solidFill>
                  <a:schemeClr val="tx1"/>
                </a:solidFill>
              </a:rPr>
              <a:t>RISK TAKING</a:t>
            </a:r>
            <a:endParaRPr lang="en-US" sz="2400" b="1" dirty="0">
              <a:solidFill>
                <a:schemeClr val="tx1"/>
              </a:solidFill>
            </a:endParaRPr>
          </a:p>
        </p:txBody>
      </p:sp>
      <p:sp>
        <p:nvSpPr>
          <p:cNvPr id="27" name="Oval 26"/>
          <p:cNvSpPr/>
          <p:nvPr/>
        </p:nvSpPr>
        <p:spPr>
          <a:xfrm>
            <a:off x="3905573" y="1539813"/>
            <a:ext cx="3053166" cy="1631216"/>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US" sz="2400" b="1" dirty="0" smtClean="0">
                <a:solidFill>
                  <a:schemeClr val="tx1"/>
                </a:solidFill>
              </a:rPr>
              <a:t>INNOVATION</a:t>
            </a:r>
            <a:endParaRPr lang="en-US" sz="2400" b="1" dirty="0">
              <a:solidFill>
                <a:schemeClr val="tx1"/>
              </a:solidFill>
            </a:endParaRPr>
          </a:p>
        </p:txBody>
      </p:sp>
      <p:sp>
        <p:nvSpPr>
          <p:cNvPr id="28" name="Oval 27"/>
          <p:cNvSpPr/>
          <p:nvPr/>
        </p:nvSpPr>
        <p:spPr>
          <a:xfrm>
            <a:off x="7696669" y="1543707"/>
            <a:ext cx="3146156" cy="1627322"/>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US" sz="2400" b="1" dirty="0" smtClean="0">
                <a:solidFill>
                  <a:schemeClr val="tx1"/>
                </a:solidFill>
              </a:rPr>
              <a:t>PERSEVERANCE</a:t>
            </a:r>
            <a:endParaRPr lang="en-US" sz="2400" b="1" dirty="0">
              <a:solidFill>
                <a:schemeClr val="tx1"/>
              </a:solidFill>
            </a:endParaRPr>
          </a:p>
        </p:txBody>
      </p:sp>
      <p:sp>
        <p:nvSpPr>
          <p:cNvPr id="29" name="Oval 28"/>
          <p:cNvSpPr/>
          <p:nvPr/>
        </p:nvSpPr>
        <p:spPr>
          <a:xfrm>
            <a:off x="364408" y="3707987"/>
            <a:ext cx="2867187" cy="1704813"/>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US" sz="2400" b="1" dirty="0" smtClean="0">
                <a:solidFill>
                  <a:schemeClr val="tx1"/>
                </a:solidFill>
              </a:rPr>
              <a:t>VISION</a:t>
            </a:r>
            <a:endParaRPr lang="en-US" sz="2400" b="1" dirty="0">
              <a:solidFill>
                <a:schemeClr val="tx1"/>
              </a:solidFill>
            </a:endParaRPr>
          </a:p>
        </p:txBody>
      </p:sp>
      <p:sp>
        <p:nvSpPr>
          <p:cNvPr id="30" name="Oval 29"/>
          <p:cNvSpPr/>
          <p:nvPr/>
        </p:nvSpPr>
        <p:spPr>
          <a:xfrm>
            <a:off x="3905573" y="3707987"/>
            <a:ext cx="3285640" cy="1704813"/>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US" sz="2400" b="1" dirty="0" smtClean="0">
                <a:solidFill>
                  <a:schemeClr val="tx1"/>
                </a:solidFill>
              </a:rPr>
              <a:t>Passion &amp; Drive</a:t>
            </a:r>
            <a:endParaRPr lang="en-US" sz="2400" b="1" dirty="0">
              <a:solidFill>
                <a:schemeClr val="tx1"/>
              </a:solidFill>
            </a:endParaRPr>
          </a:p>
        </p:txBody>
      </p:sp>
      <p:sp>
        <p:nvSpPr>
          <p:cNvPr id="32" name="Oval 31"/>
          <p:cNvSpPr/>
          <p:nvPr/>
        </p:nvSpPr>
        <p:spPr>
          <a:xfrm>
            <a:off x="7696669" y="3707987"/>
            <a:ext cx="3440624" cy="1704812"/>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US" sz="2400" b="1" dirty="0" smtClean="0">
                <a:solidFill>
                  <a:schemeClr val="tx1"/>
                </a:solidFill>
              </a:rPr>
              <a:t>Risk Taking Mindset</a:t>
            </a:r>
            <a:endParaRPr lang="en-US" sz="2400" b="1" dirty="0">
              <a:solidFill>
                <a:schemeClr val="tx1"/>
              </a:solidFill>
            </a:endParaRPr>
          </a:p>
        </p:txBody>
      </p:sp>
      <p:sp>
        <p:nvSpPr>
          <p:cNvPr id="33" name="Oval 32"/>
          <p:cNvSpPr/>
          <p:nvPr/>
        </p:nvSpPr>
        <p:spPr>
          <a:xfrm>
            <a:off x="364408" y="6183826"/>
            <a:ext cx="2813140" cy="1534332"/>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US" sz="2400" b="1" dirty="0" smtClean="0">
                <a:solidFill>
                  <a:schemeClr val="tx1"/>
                </a:solidFill>
              </a:rPr>
              <a:t>CREATIVITY</a:t>
            </a:r>
            <a:endParaRPr lang="en-US" sz="2400" b="1" dirty="0">
              <a:solidFill>
                <a:schemeClr val="tx1"/>
              </a:solidFill>
            </a:endParaRPr>
          </a:p>
        </p:txBody>
      </p:sp>
      <p:sp>
        <p:nvSpPr>
          <p:cNvPr id="34" name="Oval 33"/>
          <p:cNvSpPr/>
          <p:nvPr/>
        </p:nvSpPr>
        <p:spPr>
          <a:xfrm>
            <a:off x="3905573" y="6183825"/>
            <a:ext cx="3285640" cy="1534332"/>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US" sz="2400" b="1" dirty="0" smtClean="0">
                <a:solidFill>
                  <a:schemeClr val="tx1"/>
                </a:solidFill>
              </a:rPr>
              <a:t>Problem Solving Abilites</a:t>
            </a:r>
            <a:endParaRPr lang="en-US" sz="2400" b="1" dirty="0">
              <a:solidFill>
                <a:schemeClr val="tx1"/>
              </a:solidFill>
            </a:endParaRPr>
          </a:p>
        </p:txBody>
      </p:sp>
      <p:sp>
        <p:nvSpPr>
          <p:cNvPr id="35" name="Oval 34"/>
          <p:cNvSpPr/>
          <p:nvPr/>
        </p:nvSpPr>
        <p:spPr>
          <a:xfrm>
            <a:off x="7696669" y="6183827"/>
            <a:ext cx="3640341" cy="1534331"/>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US" sz="2400" b="1" dirty="0" smtClean="0">
                <a:solidFill>
                  <a:schemeClr val="tx1"/>
                </a:solidFill>
              </a:rPr>
              <a:t>Resilience &amp;   Adaptability</a:t>
            </a:r>
            <a:endParaRPr lang="en-US" sz="2400" b="1" dirty="0">
              <a:solidFill>
                <a:schemeClr val="tx1"/>
              </a:solidFill>
            </a:endParaRPr>
          </a:p>
        </p:txBody>
      </p:sp>
      <p:sp>
        <p:nvSpPr>
          <p:cNvPr id="37" name="Rounded Rectangle 36"/>
          <p:cNvSpPr/>
          <p:nvPr/>
        </p:nvSpPr>
        <p:spPr>
          <a:xfrm>
            <a:off x="11337010" y="2895399"/>
            <a:ext cx="3107409" cy="2714988"/>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US" sz="2400" b="1" dirty="0" smtClean="0">
                <a:solidFill>
                  <a:schemeClr val="tx1"/>
                </a:solidFill>
              </a:rPr>
              <a:t>Networking &amp; Collaboration</a:t>
            </a:r>
            <a:endParaRPr lang="en-US" sz="2400" b="1" dirty="0">
              <a:solidFill>
                <a:schemeClr val="tx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15498"/>
            <a:ext cx="14630400" cy="8230314"/>
          </a:xfrm>
          <a:prstGeom prst="rect">
            <a:avLst/>
          </a:prstGeom>
          <a:solidFill>
            <a:srgbClr val="FAFFFA"/>
          </a:solidFill>
          <a:ln/>
        </p:spPr>
      </p:sp>
      <p:pic>
        <p:nvPicPr>
          <p:cNvPr id="4" name="Image 0" descr="preencoded.png"/>
          <p:cNvPicPr>
            <a:picLocks noChangeAspect="1"/>
          </p:cNvPicPr>
          <p:nvPr/>
        </p:nvPicPr>
        <p:blipFill>
          <a:blip r:embed="rId3"/>
          <a:stretch>
            <a:fillRect/>
          </a:stretch>
        </p:blipFill>
        <p:spPr>
          <a:xfrm>
            <a:off x="0" y="0"/>
            <a:ext cx="5486400" cy="8230314"/>
          </a:xfrm>
          <a:prstGeom prst="rect">
            <a:avLst/>
          </a:prstGeom>
        </p:spPr>
      </p:pic>
      <p:pic>
        <p:nvPicPr>
          <p:cNvPr id="5" name="Image 1" descr="preencoded.png"/>
          <p:cNvPicPr>
            <a:picLocks noChangeAspect="1"/>
          </p:cNvPicPr>
          <p:nvPr/>
        </p:nvPicPr>
        <p:blipFill>
          <a:blip r:embed="rId4"/>
          <a:stretch>
            <a:fillRect/>
          </a:stretch>
        </p:blipFill>
        <p:spPr>
          <a:xfrm>
            <a:off x="263723" y="2579965"/>
            <a:ext cx="4958834" cy="3070384"/>
          </a:xfrm>
          <a:prstGeom prst="rect">
            <a:avLst/>
          </a:prstGeom>
        </p:spPr>
      </p:pic>
      <p:sp>
        <p:nvSpPr>
          <p:cNvPr id="6" name="Text 2"/>
          <p:cNvSpPr/>
          <p:nvPr/>
        </p:nvSpPr>
        <p:spPr>
          <a:xfrm>
            <a:off x="6224826" y="580192"/>
            <a:ext cx="6900624" cy="659368"/>
          </a:xfrm>
          <a:prstGeom prst="rect">
            <a:avLst/>
          </a:prstGeom>
          <a:noFill/>
          <a:ln/>
        </p:spPr>
        <p:txBody>
          <a:bodyPr wrap="none" rtlCol="0" anchor="t"/>
          <a:lstStyle/>
          <a:p>
            <a:pPr marL="0" indent="0" algn="ctr">
              <a:lnSpc>
                <a:spcPts val="5192"/>
              </a:lnSpc>
              <a:buNone/>
            </a:pPr>
            <a:r>
              <a:rPr lang="en-US" sz="4154" b="1" u="sng" dirty="0">
                <a:solidFill>
                  <a:srgbClr val="3B4540"/>
                </a:solidFill>
                <a:latin typeface="Fraunces" pitchFamily="34" charset="0"/>
                <a:ea typeface="Fraunces" pitchFamily="34" charset="-122"/>
                <a:cs typeface="Fraunces" pitchFamily="34" charset="-120"/>
              </a:rPr>
              <a:t>Problem-Solving Abilities</a:t>
            </a:r>
            <a:endParaRPr lang="en-US" sz="4154" u="sng" dirty="0"/>
          </a:p>
        </p:txBody>
      </p:sp>
      <p:sp>
        <p:nvSpPr>
          <p:cNvPr id="7" name="Shape 3"/>
          <p:cNvSpPr/>
          <p:nvPr/>
        </p:nvSpPr>
        <p:spPr>
          <a:xfrm>
            <a:off x="6529864" y="1556028"/>
            <a:ext cx="22860" cy="6094095"/>
          </a:xfrm>
          <a:prstGeom prst="roundRect">
            <a:avLst>
              <a:gd name="adj" fmla="val 830720"/>
            </a:avLst>
          </a:prstGeom>
          <a:solidFill>
            <a:srgbClr val="CED9CE"/>
          </a:solidFill>
          <a:ln/>
        </p:spPr>
      </p:sp>
      <p:sp>
        <p:nvSpPr>
          <p:cNvPr id="8" name="Shape 4"/>
          <p:cNvSpPr/>
          <p:nvPr/>
        </p:nvSpPr>
        <p:spPr>
          <a:xfrm>
            <a:off x="6755785" y="2019181"/>
            <a:ext cx="738426" cy="22860"/>
          </a:xfrm>
          <a:prstGeom prst="roundRect">
            <a:avLst>
              <a:gd name="adj" fmla="val 830720"/>
            </a:avLst>
          </a:prstGeom>
          <a:solidFill>
            <a:srgbClr val="CED9CE"/>
          </a:solidFill>
          <a:ln/>
        </p:spPr>
      </p:sp>
      <p:sp>
        <p:nvSpPr>
          <p:cNvPr id="9" name="Shape 5"/>
          <p:cNvSpPr/>
          <p:nvPr/>
        </p:nvSpPr>
        <p:spPr>
          <a:xfrm>
            <a:off x="6303943" y="1793319"/>
            <a:ext cx="474702" cy="474702"/>
          </a:xfrm>
          <a:prstGeom prst="roundRect">
            <a:avLst>
              <a:gd name="adj" fmla="val 40005"/>
            </a:avLst>
          </a:prstGeom>
          <a:solidFill>
            <a:srgbClr val="E8F3E8"/>
          </a:solidFill>
          <a:ln/>
        </p:spPr>
      </p:sp>
      <p:sp>
        <p:nvSpPr>
          <p:cNvPr id="10" name="Text 6"/>
          <p:cNvSpPr/>
          <p:nvPr/>
        </p:nvSpPr>
        <p:spPr>
          <a:xfrm>
            <a:off x="6462296" y="1872377"/>
            <a:ext cx="157877" cy="316468"/>
          </a:xfrm>
          <a:prstGeom prst="rect">
            <a:avLst/>
          </a:prstGeom>
          <a:noFill/>
          <a:ln/>
        </p:spPr>
        <p:txBody>
          <a:bodyPr wrap="none" rtlCol="0" anchor="t"/>
          <a:lstStyle/>
          <a:p>
            <a:pPr marL="0" indent="0" algn="ctr">
              <a:lnSpc>
                <a:spcPts val="2492"/>
              </a:lnSpc>
              <a:buNone/>
            </a:pPr>
            <a:r>
              <a:rPr lang="en-US" sz="2492" b="1" dirty="0">
                <a:solidFill>
                  <a:srgbClr val="405449"/>
                </a:solidFill>
                <a:latin typeface="Fraunces" pitchFamily="34" charset="0"/>
                <a:ea typeface="Fraunces" pitchFamily="34" charset="-122"/>
                <a:cs typeface="Fraunces" pitchFamily="34" charset="-120"/>
              </a:rPr>
              <a:t>1</a:t>
            </a:r>
            <a:endParaRPr lang="en-US" sz="2492" dirty="0"/>
          </a:p>
        </p:txBody>
      </p:sp>
      <p:sp>
        <p:nvSpPr>
          <p:cNvPr id="11" name="Text 7"/>
          <p:cNvSpPr/>
          <p:nvPr/>
        </p:nvSpPr>
        <p:spPr>
          <a:xfrm>
            <a:off x="7701796" y="1767007"/>
            <a:ext cx="2668072" cy="329565"/>
          </a:xfrm>
          <a:prstGeom prst="rect">
            <a:avLst/>
          </a:prstGeom>
          <a:noFill/>
          <a:ln/>
        </p:spPr>
        <p:txBody>
          <a:bodyPr wrap="none" rtlCol="0" anchor="t"/>
          <a:lstStyle/>
          <a:p>
            <a:pPr marL="0" indent="0" algn="l">
              <a:lnSpc>
                <a:spcPts val="2596"/>
              </a:lnSpc>
              <a:buNone/>
            </a:pPr>
            <a:r>
              <a:rPr lang="en-US" sz="2077" b="1" dirty="0">
                <a:solidFill>
                  <a:srgbClr val="405449"/>
                </a:solidFill>
                <a:latin typeface="Fraunces" pitchFamily="34" charset="0"/>
                <a:ea typeface="Fraunces" pitchFamily="34" charset="-122"/>
                <a:cs typeface="Fraunces" pitchFamily="34" charset="-120"/>
              </a:rPr>
              <a:t>Analytical Thinking</a:t>
            </a:r>
            <a:endParaRPr lang="en-US" sz="2077" dirty="0"/>
          </a:p>
        </p:txBody>
      </p:sp>
      <p:sp>
        <p:nvSpPr>
          <p:cNvPr id="12" name="Text 8"/>
          <p:cNvSpPr/>
          <p:nvPr/>
        </p:nvSpPr>
        <p:spPr>
          <a:xfrm>
            <a:off x="7701796" y="2223135"/>
            <a:ext cx="6190178" cy="1012627"/>
          </a:xfrm>
          <a:prstGeom prst="rect">
            <a:avLst/>
          </a:prstGeom>
          <a:noFill/>
          <a:ln/>
        </p:spPr>
        <p:txBody>
          <a:bodyPr wrap="square" rtlCol="0" anchor="t"/>
          <a:lstStyle/>
          <a:p>
            <a:pPr marL="0" indent="0" algn="l">
              <a:lnSpc>
                <a:spcPts val="2658"/>
              </a:lnSpc>
              <a:buNone/>
            </a:pPr>
            <a:r>
              <a:rPr lang="en-US" sz="1661" dirty="0">
                <a:solidFill>
                  <a:srgbClr val="405449"/>
                </a:solidFill>
                <a:latin typeface="Nobile" pitchFamily="34" charset="0"/>
                <a:ea typeface="Nobile" pitchFamily="34" charset="-122"/>
                <a:cs typeface="Nobile" pitchFamily="34" charset="-120"/>
              </a:rPr>
              <a:t>Successful entrepreneurs are able to break down complex problems and systematically analyze the root causes to develop effective solutions.</a:t>
            </a:r>
            <a:endParaRPr lang="en-US" sz="1661" dirty="0"/>
          </a:p>
        </p:txBody>
      </p:sp>
      <p:sp>
        <p:nvSpPr>
          <p:cNvPr id="13" name="Shape 9"/>
          <p:cNvSpPr/>
          <p:nvPr/>
        </p:nvSpPr>
        <p:spPr>
          <a:xfrm>
            <a:off x="6755785" y="4120872"/>
            <a:ext cx="738426" cy="22860"/>
          </a:xfrm>
          <a:prstGeom prst="roundRect">
            <a:avLst>
              <a:gd name="adj" fmla="val 830720"/>
            </a:avLst>
          </a:prstGeom>
          <a:solidFill>
            <a:srgbClr val="CED9CE"/>
          </a:solidFill>
          <a:ln/>
        </p:spPr>
      </p:sp>
      <p:sp>
        <p:nvSpPr>
          <p:cNvPr id="14" name="Shape 10"/>
          <p:cNvSpPr/>
          <p:nvPr/>
        </p:nvSpPr>
        <p:spPr>
          <a:xfrm>
            <a:off x="6303943" y="3895011"/>
            <a:ext cx="474702" cy="474702"/>
          </a:xfrm>
          <a:prstGeom prst="roundRect">
            <a:avLst>
              <a:gd name="adj" fmla="val 40005"/>
            </a:avLst>
          </a:prstGeom>
          <a:solidFill>
            <a:srgbClr val="E8F3E8"/>
          </a:solidFill>
          <a:ln/>
        </p:spPr>
      </p:sp>
      <p:sp>
        <p:nvSpPr>
          <p:cNvPr id="15" name="Text 11"/>
          <p:cNvSpPr/>
          <p:nvPr/>
        </p:nvSpPr>
        <p:spPr>
          <a:xfrm>
            <a:off x="6437888" y="3974068"/>
            <a:ext cx="206812" cy="316468"/>
          </a:xfrm>
          <a:prstGeom prst="rect">
            <a:avLst/>
          </a:prstGeom>
          <a:noFill/>
          <a:ln/>
        </p:spPr>
        <p:txBody>
          <a:bodyPr wrap="none" rtlCol="0" anchor="t"/>
          <a:lstStyle/>
          <a:p>
            <a:pPr marL="0" indent="0" algn="ctr">
              <a:lnSpc>
                <a:spcPts val="2492"/>
              </a:lnSpc>
              <a:buNone/>
            </a:pPr>
            <a:r>
              <a:rPr lang="en-US" sz="2492" b="1" dirty="0">
                <a:solidFill>
                  <a:srgbClr val="405449"/>
                </a:solidFill>
                <a:latin typeface="Fraunces" pitchFamily="34" charset="0"/>
                <a:ea typeface="Fraunces" pitchFamily="34" charset="-122"/>
                <a:cs typeface="Fraunces" pitchFamily="34" charset="-120"/>
              </a:rPr>
              <a:t>2</a:t>
            </a:r>
            <a:endParaRPr lang="en-US" sz="2492" dirty="0"/>
          </a:p>
        </p:txBody>
      </p:sp>
      <p:sp>
        <p:nvSpPr>
          <p:cNvPr id="16" name="Text 12"/>
          <p:cNvSpPr/>
          <p:nvPr/>
        </p:nvSpPr>
        <p:spPr>
          <a:xfrm>
            <a:off x="7701796" y="3868698"/>
            <a:ext cx="3448288" cy="329565"/>
          </a:xfrm>
          <a:prstGeom prst="rect">
            <a:avLst/>
          </a:prstGeom>
          <a:noFill/>
          <a:ln/>
        </p:spPr>
        <p:txBody>
          <a:bodyPr wrap="none" rtlCol="0" anchor="t"/>
          <a:lstStyle/>
          <a:p>
            <a:pPr marL="0" indent="0" algn="l">
              <a:lnSpc>
                <a:spcPts val="2596"/>
              </a:lnSpc>
              <a:buNone/>
            </a:pPr>
            <a:r>
              <a:rPr lang="en-US" sz="2077" b="1" dirty="0">
                <a:solidFill>
                  <a:srgbClr val="405449"/>
                </a:solidFill>
                <a:latin typeface="Fraunces" pitchFamily="34" charset="0"/>
                <a:ea typeface="Fraunces" pitchFamily="34" charset="-122"/>
                <a:cs typeface="Fraunces" pitchFamily="34" charset="-120"/>
              </a:rPr>
              <a:t>Creative Problem-Solving</a:t>
            </a:r>
            <a:endParaRPr lang="en-US" sz="2077" dirty="0"/>
          </a:p>
        </p:txBody>
      </p:sp>
      <p:sp>
        <p:nvSpPr>
          <p:cNvPr id="17" name="Text 13"/>
          <p:cNvSpPr/>
          <p:nvPr/>
        </p:nvSpPr>
        <p:spPr>
          <a:xfrm>
            <a:off x="7701796" y="4324826"/>
            <a:ext cx="6190178" cy="1012627"/>
          </a:xfrm>
          <a:prstGeom prst="rect">
            <a:avLst/>
          </a:prstGeom>
          <a:noFill/>
          <a:ln/>
        </p:spPr>
        <p:txBody>
          <a:bodyPr wrap="square" rtlCol="0" anchor="t"/>
          <a:lstStyle/>
          <a:p>
            <a:pPr marL="0" indent="0" algn="l">
              <a:lnSpc>
                <a:spcPts val="2658"/>
              </a:lnSpc>
              <a:buNone/>
            </a:pPr>
            <a:r>
              <a:rPr lang="en-US" sz="1661" dirty="0">
                <a:solidFill>
                  <a:srgbClr val="405449"/>
                </a:solidFill>
                <a:latin typeface="Nobile" pitchFamily="34" charset="0"/>
                <a:ea typeface="Nobile" pitchFamily="34" charset="-122"/>
                <a:cs typeface="Nobile" pitchFamily="34" charset="-120"/>
              </a:rPr>
              <a:t>They are not limited to conventional approaches and are willing to think outside the box to find innovative solutions to unique challenges.</a:t>
            </a:r>
            <a:endParaRPr lang="en-US" sz="1661" dirty="0"/>
          </a:p>
        </p:txBody>
      </p:sp>
      <p:sp>
        <p:nvSpPr>
          <p:cNvPr id="18" name="Shape 14"/>
          <p:cNvSpPr/>
          <p:nvPr/>
        </p:nvSpPr>
        <p:spPr>
          <a:xfrm>
            <a:off x="6755785" y="6222563"/>
            <a:ext cx="738426" cy="22860"/>
          </a:xfrm>
          <a:prstGeom prst="roundRect">
            <a:avLst>
              <a:gd name="adj" fmla="val 830720"/>
            </a:avLst>
          </a:prstGeom>
          <a:solidFill>
            <a:srgbClr val="CED9CE"/>
          </a:solidFill>
          <a:ln/>
        </p:spPr>
      </p:sp>
      <p:sp>
        <p:nvSpPr>
          <p:cNvPr id="19" name="Shape 15"/>
          <p:cNvSpPr/>
          <p:nvPr/>
        </p:nvSpPr>
        <p:spPr>
          <a:xfrm>
            <a:off x="6303943" y="5996702"/>
            <a:ext cx="474702" cy="474702"/>
          </a:xfrm>
          <a:prstGeom prst="roundRect">
            <a:avLst>
              <a:gd name="adj" fmla="val 40005"/>
            </a:avLst>
          </a:prstGeom>
          <a:solidFill>
            <a:srgbClr val="E8F3E8"/>
          </a:solidFill>
          <a:ln/>
        </p:spPr>
      </p:sp>
      <p:sp>
        <p:nvSpPr>
          <p:cNvPr id="20" name="Text 16"/>
          <p:cNvSpPr/>
          <p:nvPr/>
        </p:nvSpPr>
        <p:spPr>
          <a:xfrm>
            <a:off x="6445746" y="6075759"/>
            <a:ext cx="191095" cy="316468"/>
          </a:xfrm>
          <a:prstGeom prst="rect">
            <a:avLst/>
          </a:prstGeom>
          <a:noFill/>
          <a:ln/>
        </p:spPr>
        <p:txBody>
          <a:bodyPr wrap="none" rtlCol="0" anchor="t"/>
          <a:lstStyle/>
          <a:p>
            <a:pPr marL="0" indent="0" algn="ctr">
              <a:lnSpc>
                <a:spcPts val="2492"/>
              </a:lnSpc>
              <a:buNone/>
            </a:pPr>
            <a:r>
              <a:rPr lang="en-US" sz="2492" b="1" dirty="0">
                <a:solidFill>
                  <a:srgbClr val="405449"/>
                </a:solidFill>
                <a:latin typeface="Fraunces" pitchFamily="34" charset="0"/>
                <a:ea typeface="Fraunces" pitchFamily="34" charset="-122"/>
                <a:cs typeface="Fraunces" pitchFamily="34" charset="-120"/>
              </a:rPr>
              <a:t>3</a:t>
            </a:r>
            <a:endParaRPr lang="en-US" sz="2492" dirty="0"/>
          </a:p>
        </p:txBody>
      </p:sp>
      <p:sp>
        <p:nvSpPr>
          <p:cNvPr id="21" name="Text 17"/>
          <p:cNvSpPr/>
          <p:nvPr/>
        </p:nvSpPr>
        <p:spPr>
          <a:xfrm>
            <a:off x="7701796" y="5970389"/>
            <a:ext cx="2637473" cy="329565"/>
          </a:xfrm>
          <a:prstGeom prst="rect">
            <a:avLst/>
          </a:prstGeom>
          <a:noFill/>
          <a:ln/>
        </p:spPr>
        <p:txBody>
          <a:bodyPr wrap="none" rtlCol="0" anchor="t"/>
          <a:lstStyle/>
          <a:p>
            <a:pPr marL="0" indent="0" algn="l">
              <a:lnSpc>
                <a:spcPts val="2596"/>
              </a:lnSpc>
              <a:buNone/>
            </a:pPr>
            <a:r>
              <a:rPr lang="en-US" sz="2077" b="1" dirty="0">
                <a:solidFill>
                  <a:srgbClr val="405449"/>
                </a:solidFill>
                <a:latin typeface="Fraunces" pitchFamily="34" charset="0"/>
                <a:ea typeface="Fraunces" pitchFamily="34" charset="-122"/>
                <a:cs typeface="Fraunces" pitchFamily="34" charset="-120"/>
              </a:rPr>
              <a:t>Resourcefulness</a:t>
            </a:r>
            <a:endParaRPr lang="en-US" sz="2077" dirty="0"/>
          </a:p>
        </p:txBody>
      </p:sp>
      <p:sp>
        <p:nvSpPr>
          <p:cNvPr id="22" name="Text 18"/>
          <p:cNvSpPr/>
          <p:nvPr/>
        </p:nvSpPr>
        <p:spPr>
          <a:xfrm>
            <a:off x="7701796" y="6426518"/>
            <a:ext cx="6190178" cy="1012627"/>
          </a:xfrm>
          <a:prstGeom prst="rect">
            <a:avLst/>
          </a:prstGeom>
          <a:noFill/>
          <a:ln/>
        </p:spPr>
        <p:txBody>
          <a:bodyPr wrap="square" rtlCol="0" anchor="t"/>
          <a:lstStyle/>
          <a:p>
            <a:pPr marL="0" indent="0" algn="l">
              <a:lnSpc>
                <a:spcPts val="2658"/>
              </a:lnSpc>
              <a:buNone/>
            </a:pPr>
            <a:r>
              <a:rPr lang="en-US" sz="1661" dirty="0">
                <a:solidFill>
                  <a:srgbClr val="405449"/>
                </a:solidFill>
                <a:latin typeface="Nobile" pitchFamily="34" charset="0"/>
                <a:ea typeface="Nobile" pitchFamily="34" charset="-122"/>
                <a:cs typeface="Nobile" pitchFamily="34" charset="-120"/>
              </a:rPr>
              <a:t>Successful entrepreneurs are adept at utilizing limited resources and leveraging their network to overcome obstacles and achieve their goals.</a:t>
            </a:r>
            <a:endParaRPr lang="en-US" sz="166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421424"/>
          </a:solidFill>
          <a:ln/>
        </p:spPr>
      </p:sp>
      <p:sp>
        <p:nvSpPr>
          <p:cNvPr id="3" name="Shape 1"/>
          <p:cNvSpPr/>
          <p:nvPr/>
        </p:nvSpPr>
        <p:spPr>
          <a:xfrm>
            <a:off x="0" y="0"/>
            <a:ext cx="14630400" cy="8229600"/>
          </a:xfrm>
          <a:prstGeom prst="rect">
            <a:avLst/>
          </a:prstGeom>
          <a:solidFill>
            <a:srgbClr val="5C2438"/>
          </a:solidFill>
          <a:ln/>
        </p:spPr>
      </p:sp>
      <p:pic>
        <p:nvPicPr>
          <p:cNvPr id="4" name="Image 0" descr="preencoded.png"/>
          <p:cNvPicPr>
            <a:picLocks noChangeAspect="1"/>
          </p:cNvPicPr>
          <p:nvPr/>
        </p:nvPicPr>
        <p:blipFill>
          <a:blip r:embed="rId3"/>
          <a:stretch>
            <a:fillRect/>
          </a:stretch>
        </p:blipFill>
        <p:spPr>
          <a:xfrm>
            <a:off x="0" y="0"/>
            <a:ext cx="14630400" cy="2451497"/>
          </a:xfrm>
          <a:prstGeom prst="rect">
            <a:avLst/>
          </a:prstGeom>
        </p:spPr>
      </p:pic>
      <p:sp>
        <p:nvSpPr>
          <p:cNvPr id="5" name="Text 2"/>
          <p:cNvSpPr/>
          <p:nvPr/>
        </p:nvSpPr>
        <p:spPr>
          <a:xfrm>
            <a:off x="4406145" y="2663845"/>
            <a:ext cx="5229939" cy="653772"/>
          </a:xfrm>
          <a:prstGeom prst="rect">
            <a:avLst/>
          </a:prstGeom>
          <a:noFill/>
          <a:ln/>
        </p:spPr>
        <p:txBody>
          <a:bodyPr wrap="none" rtlCol="0" anchor="t"/>
          <a:lstStyle/>
          <a:p>
            <a:pPr marL="0" indent="0" algn="ctr">
              <a:lnSpc>
                <a:spcPts val="5148"/>
              </a:lnSpc>
              <a:buNone/>
            </a:pPr>
            <a:r>
              <a:rPr lang="en-US" sz="4118" b="1" u="sng" dirty="0">
                <a:solidFill>
                  <a:srgbClr val="FFB393"/>
                </a:solidFill>
                <a:latin typeface="Brygada 1918" pitchFamily="34" charset="0"/>
                <a:ea typeface="Brygada 1918" pitchFamily="34" charset="-122"/>
                <a:cs typeface="Brygada 1918" pitchFamily="34" charset="-120"/>
              </a:rPr>
              <a:t>Innovation</a:t>
            </a:r>
            <a:endParaRPr lang="en-US" sz="4118" u="sng" dirty="0"/>
          </a:p>
        </p:txBody>
      </p:sp>
      <p:sp>
        <p:nvSpPr>
          <p:cNvPr id="6" name="Shape 3"/>
          <p:cNvSpPr/>
          <p:nvPr/>
        </p:nvSpPr>
        <p:spPr>
          <a:xfrm>
            <a:off x="686395" y="3938588"/>
            <a:ext cx="6530816" cy="1777841"/>
          </a:xfrm>
          <a:prstGeom prst="roundRect">
            <a:avLst>
              <a:gd name="adj" fmla="val 1655"/>
            </a:avLst>
          </a:prstGeom>
          <a:solidFill>
            <a:srgbClr val="4D1529"/>
          </a:solidFill>
          <a:ln/>
        </p:spPr>
      </p:sp>
      <p:sp>
        <p:nvSpPr>
          <p:cNvPr id="7" name="Text 4"/>
          <p:cNvSpPr/>
          <p:nvPr/>
        </p:nvSpPr>
        <p:spPr>
          <a:xfrm>
            <a:off x="882491" y="4134683"/>
            <a:ext cx="2614970" cy="326827"/>
          </a:xfrm>
          <a:prstGeom prst="rect">
            <a:avLst/>
          </a:prstGeom>
          <a:noFill/>
          <a:ln/>
        </p:spPr>
        <p:txBody>
          <a:bodyPr wrap="none" rtlCol="0" anchor="t"/>
          <a:lstStyle/>
          <a:p>
            <a:pPr marL="0" indent="0">
              <a:lnSpc>
                <a:spcPts val="2574"/>
              </a:lnSpc>
              <a:buNone/>
            </a:pPr>
            <a:r>
              <a:rPr lang="en-US" sz="2059" b="1" dirty="0">
                <a:solidFill>
                  <a:srgbClr val="F4CAB8"/>
                </a:solidFill>
                <a:latin typeface="Brygada 1918" pitchFamily="34" charset="0"/>
                <a:ea typeface="Brygada 1918" pitchFamily="34" charset="-122"/>
                <a:cs typeface="Brygada 1918" pitchFamily="34" charset="-120"/>
              </a:rPr>
              <a:t>Creativity</a:t>
            </a:r>
            <a:endParaRPr lang="en-US" sz="2059" dirty="0"/>
          </a:p>
        </p:txBody>
      </p:sp>
      <p:sp>
        <p:nvSpPr>
          <p:cNvPr id="8" name="Text 5"/>
          <p:cNvSpPr/>
          <p:nvPr/>
        </p:nvSpPr>
        <p:spPr>
          <a:xfrm>
            <a:off x="882491" y="4579144"/>
            <a:ext cx="6138624" cy="627459"/>
          </a:xfrm>
          <a:prstGeom prst="rect">
            <a:avLst/>
          </a:prstGeom>
          <a:noFill/>
          <a:ln/>
        </p:spPr>
        <p:txBody>
          <a:bodyPr wrap="square" rtlCol="0" anchor="t"/>
          <a:lstStyle/>
          <a:p>
            <a:pPr marL="0" indent="0">
              <a:lnSpc>
                <a:spcPts val="2471"/>
              </a:lnSpc>
              <a:buNone/>
            </a:pPr>
            <a:r>
              <a:rPr lang="en-US" sz="1544" dirty="0">
                <a:solidFill>
                  <a:srgbClr val="F4CAB8"/>
                </a:solidFill>
                <a:latin typeface="Montserrat" pitchFamily="34" charset="0"/>
                <a:ea typeface="Montserrat" pitchFamily="34" charset="-122"/>
                <a:cs typeface="Montserrat" pitchFamily="34" charset="-120"/>
              </a:rPr>
              <a:t>Entrepreneurs possess a creative mindset that allows them to think outside the box and develop unique solutions.</a:t>
            </a:r>
            <a:endParaRPr lang="en-US" sz="1544" dirty="0"/>
          </a:p>
        </p:txBody>
      </p:sp>
      <p:sp>
        <p:nvSpPr>
          <p:cNvPr id="9" name="Shape 6"/>
          <p:cNvSpPr/>
          <p:nvPr/>
        </p:nvSpPr>
        <p:spPr>
          <a:xfrm>
            <a:off x="7413308" y="3938588"/>
            <a:ext cx="6530816" cy="1777841"/>
          </a:xfrm>
          <a:prstGeom prst="roundRect">
            <a:avLst>
              <a:gd name="adj" fmla="val 1655"/>
            </a:avLst>
          </a:prstGeom>
          <a:solidFill>
            <a:srgbClr val="4D1529"/>
          </a:solidFill>
          <a:ln/>
        </p:spPr>
      </p:sp>
      <p:sp>
        <p:nvSpPr>
          <p:cNvPr id="10" name="Text 7"/>
          <p:cNvSpPr/>
          <p:nvPr/>
        </p:nvSpPr>
        <p:spPr>
          <a:xfrm>
            <a:off x="7609403" y="4134683"/>
            <a:ext cx="2614970" cy="326827"/>
          </a:xfrm>
          <a:prstGeom prst="rect">
            <a:avLst/>
          </a:prstGeom>
          <a:noFill/>
          <a:ln/>
        </p:spPr>
        <p:txBody>
          <a:bodyPr wrap="none" rtlCol="0" anchor="t"/>
          <a:lstStyle/>
          <a:p>
            <a:pPr marL="0" indent="0">
              <a:lnSpc>
                <a:spcPts val="2574"/>
              </a:lnSpc>
              <a:buNone/>
            </a:pPr>
            <a:r>
              <a:rPr lang="en-US" sz="2059" b="1" dirty="0">
                <a:solidFill>
                  <a:srgbClr val="F4CAB8"/>
                </a:solidFill>
                <a:latin typeface="Brygada 1918" pitchFamily="34" charset="0"/>
                <a:ea typeface="Brygada 1918" pitchFamily="34" charset="-122"/>
                <a:cs typeface="Brygada 1918" pitchFamily="34" charset="-120"/>
              </a:rPr>
              <a:t>Problem-Solving</a:t>
            </a:r>
            <a:endParaRPr lang="en-US" sz="2059" dirty="0"/>
          </a:p>
        </p:txBody>
      </p:sp>
      <p:sp>
        <p:nvSpPr>
          <p:cNvPr id="11" name="Text 8"/>
          <p:cNvSpPr/>
          <p:nvPr/>
        </p:nvSpPr>
        <p:spPr>
          <a:xfrm>
            <a:off x="7609403" y="4579144"/>
            <a:ext cx="6138624" cy="941189"/>
          </a:xfrm>
          <a:prstGeom prst="rect">
            <a:avLst/>
          </a:prstGeom>
          <a:noFill/>
          <a:ln/>
        </p:spPr>
        <p:txBody>
          <a:bodyPr wrap="square" rtlCol="0" anchor="t"/>
          <a:lstStyle/>
          <a:p>
            <a:pPr marL="0" indent="0">
              <a:lnSpc>
                <a:spcPts val="2471"/>
              </a:lnSpc>
              <a:buNone/>
            </a:pPr>
            <a:r>
              <a:rPr lang="en-US" sz="1544" dirty="0">
                <a:solidFill>
                  <a:srgbClr val="F4CAB8"/>
                </a:solidFill>
                <a:latin typeface="Montserrat" pitchFamily="34" charset="0"/>
                <a:ea typeface="Montserrat" pitchFamily="34" charset="-122"/>
                <a:cs typeface="Montserrat" pitchFamily="34" charset="-120"/>
              </a:rPr>
              <a:t>They are adept at identifying and addressing pain points, using their innovative capabilities to create value for their customers.</a:t>
            </a:r>
            <a:endParaRPr lang="en-US" sz="1544" dirty="0"/>
          </a:p>
        </p:txBody>
      </p:sp>
      <p:sp>
        <p:nvSpPr>
          <p:cNvPr id="12" name="Shape 9"/>
          <p:cNvSpPr/>
          <p:nvPr/>
        </p:nvSpPr>
        <p:spPr>
          <a:xfrm>
            <a:off x="686395" y="5912525"/>
            <a:ext cx="6530816" cy="1777841"/>
          </a:xfrm>
          <a:prstGeom prst="roundRect">
            <a:avLst>
              <a:gd name="adj" fmla="val 1655"/>
            </a:avLst>
          </a:prstGeom>
          <a:solidFill>
            <a:srgbClr val="4D1529"/>
          </a:solidFill>
          <a:ln/>
        </p:spPr>
      </p:sp>
      <p:sp>
        <p:nvSpPr>
          <p:cNvPr id="13" name="Text 10"/>
          <p:cNvSpPr/>
          <p:nvPr/>
        </p:nvSpPr>
        <p:spPr>
          <a:xfrm>
            <a:off x="882491" y="6108621"/>
            <a:ext cx="2614970" cy="326827"/>
          </a:xfrm>
          <a:prstGeom prst="rect">
            <a:avLst/>
          </a:prstGeom>
          <a:noFill/>
          <a:ln/>
        </p:spPr>
        <p:txBody>
          <a:bodyPr wrap="none" rtlCol="0" anchor="t"/>
          <a:lstStyle/>
          <a:p>
            <a:pPr marL="0" indent="0">
              <a:lnSpc>
                <a:spcPts val="2574"/>
              </a:lnSpc>
              <a:buNone/>
            </a:pPr>
            <a:r>
              <a:rPr lang="en-US" sz="2059" b="1" dirty="0">
                <a:solidFill>
                  <a:srgbClr val="F4CAB8"/>
                </a:solidFill>
                <a:latin typeface="Brygada 1918" pitchFamily="34" charset="0"/>
                <a:ea typeface="Brygada 1918" pitchFamily="34" charset="-122"/>
                <a:cs typeface="Brygada 1918" pitchFamily="34" charset="-120"/>
              </a:rPr>
              <a:t>Adaptability</a:t>
            </a:r>
            <a:endParaRPr lang="en-US" sz="2059" dirty="0"/>
          </a:p>
        </p:txBody>
      </p:sp>
      <p:sp>
        <p:nvSpPr>
          <p:cNvPr id="14" name="Text 11"/>
          <p:cNvSpPr/>
          <p:nvPr/>
        </p:nvSpPr>
        <p:spPr>
          <a:xfrm>
            <a:off x="882491" y="6553081"/>
            <a:ext cx="6138624" cy="941189"/>
          </a:xfrm>
          <a:prstGeom prst="rect">
            <a:avLst/>
          </a:prstGeom>
          <a:noFill/>
          <a:ln/>
        </p:spPr>
        <p:txBody>
          <a:bodyPr wrap="square" rtlCol="0" anchor="t"/>
          <a:lstStyle/>
          <a:p>
            <a:pPr marL="0" indent="0">
              <a:lnSpc>
                <a:spcPts val="2471"/>
              </a:lnSpc>
              <a:buNone/>
            </a:pPr>
            <a:r>
              <a:rPr lang="en-US" sz="1544" dirty="0">
                <a:solidFill>
                  <a:srgbClr val="F4CAB8"/>
                </a:solidFill>
                <a:latin typeface="Montserrat" pitchFamily="34" charset="0"/>
                <a:ea typeface="Montserrat" pitchFamily="34" charset="-122"/>
                <a:cs typeface="Montserrat" pitchFamily="34" charset="-120"/>
              </a:rPr>
              <a:t>Successful entrepreneurs are able to quickly adapt to changing market conditions and pivot their strategies as needed.</a:t>
            </a:r>
            <a:endParaRPr lang="en-US" sz="1544" dirty="0"/>
          </a:p>
        </p:txBody>
      </p:sp>
      <p:sp>
        <p:nvSpPr>
          <p:cNvPr id="15" name="Shape 12"/>
          <p:cNvSpPr/>
          <p:nvPr/>
        </p:nvSpPr>
        <p:spPr>
          <a:xfrm>
            <a:off x="7413308" y="5912525"/>
            <a:ext cx="6530816" cy="1777841"/>
          </a:xfrm>
          <a:prstGeom prst="roundRect">
            <a:avLst>
              <a:gd name="adj" fmla="val 1655"/>
            </a:avLst>
          </a:prstGeom>
          <a:solidFill>
            <a:srgbClr val="4D1529"/>
          </a:solidFill>
          <a:ln/>
        </p:spPr>
      </p:sp>
      <p:sp>
        <p:nvSpPr>
          <p:cNvPr id="16" name="Text 13"/>
          <p:cNvSpPr/>
          <p:nvPr/>
        </p:nvSpPr>
        <p:spPr>
          <a:xfrm>
            <a:off x="7609403" y="6108621"/>
            <a:ext cx="2614970" cy="326827"/>
          </a:xfrm>
          <a:prstGeom prst="rect">
            <a:avLst/>
          </a:prstGeom>
          <a:noFill/>
          <a:ln/>
        </p:spPr>
        <p:txBody>
          <a:bodyPr wrap="none" rtlCol="0" anchor="t"/>
          <a:lstStyle/>
          <a:p>
            <a:pPr marL="0" indent="0">
              <a:lnSpc>
                <a:spcPts val="2574"/>
              </a:lnSpc>
              <a:buNone/>
            </a:pPr>
            <a:r>
              <a:rPr lang="en-US" sz="2059" b="1" dirty="0">
                <a:solidFill>
                  <a:srgbClr val="F4CAB8"/>
                </a:solidFill>
                <a:latin typeface="Brygada 1918" pitchFamily="34" charset="0"/>
                <a:ea typeface="Brygada 1918" pitchFamily="34" charset="-122"/>
                <a:cs typeface="Brygada 1918" pitchFamily="34" charset="-120"/>
              </a:rPr>
              <a:t>Resourcefulness</a:t>
            </a:r>
            <a:endParaRPr lang="en-US" sz="2059" dirty="0"/>
          </a:p>
        </p:txBody>
      </p:sp>
      <p:sp>
        <p:nvSpPr>
          <p:cNvPr id="17" name="Text 14"/>
          <p:cNvSpPr/>
          <p:nvPr/>
        </p:nvSpPr>
        <p:spPr>
          <a:xfrm>
            <a:off x="7609403" y="6553081"/>
            <a:ext cx="6138624" cy="941189"/>
          </a:xfrm>
          <a:prstGeom prst="rect">
            <a:avLst/>
          </a:prstGeom>
          <a:noFill/>
          <a:ln/>
        </p:spPr>
        <p:txBody>
          <a:bodyPr wrap="square" rtlCol="0" anchor="t"/>
          <a:lstStyle/>
          <a:p>
            <a:pPr marL="0" indent="0">
              <a:lnSpc>
                <a:spcPts val="2471"/>
              </a:lnSpc>
              <a:buNone/>
            </a:pPr>
            <a:r>
              <a:rPr lang="en-US" sz="1544" dirty="0">
                <a:solidFill>
                  <a:srgbClr val="F4CAB8"/>
                </a:solidFill>
                <a:latin typeface="Montserrat" pitchFamily="34" charset="0"/>
                <a:ea typeface="Montserrat" pitchFamily="34" charset="-122"/>
                <a:cs typeface="Montserrat" pitchFamily="34" charset="-120"/>
              </a:rPr>
              <a:t>They make the most of limited resources, leveraging their creativity and problem-solving skills to drive growth and success.</a:t>
            </a:r>
            <a:endParaRPr lang="en-US" sz="1544"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p:cNvPicPr>
            <a:picLocks noChangeAspect="1"/>
          </p:cNvPicPr>
          <p:nvPr/>
        </p:nvPicPr>
        <p:blipFill>
          <a:blip r:embed="rId3"/>
          <a:stretch>
            <a:fillRect/>
          </a:stretch>
        </p:blipFill>
        <p:spPr>
          <a:xfrm>
            <a:off x="0" y="0"/>
            <a:ext cx="14630400" cy="2516148"/>
          </a:xfrm>
          <a:prstGeom prst="rect">
            <a:avLst/>
          </a:prstGeom>
        </p:spPr>
      </p:pic>
      <p:sp>
        <p:nvSpPr>
          <p:cNvPr id="5" name="Text 2"/>
          <p:cNvSpPr/>
          <p:nvPr/>
        </p:nvSpPr>
        <p:spPr>
          <a:xfrm>
            <a:off x="704493" y="3230642"/>
            <a:ext cx="7734419" cy="629007"/>
          </a:xfrm>
          <a:prstGeom prst="rect">
            <a:avLst/>
          </a:prstGeom>
          <a:noFill/>
          <a:ln/>
        </p:spPr>
        <p:txBody>
          <a:bodyPr wrap="none" rtlCol="0" anchor="t"/>
          <a:lstStyle/>
          <a:p>
            <a:pPr marL="0" indent="0">
              <a:lnSpc>
                <a:spcPts val="4953"/>
              </a:lnSpc>
              <a:buNone/>
            </a:pPr>
            <a:r>
              <a:rPr lang="en-US" sz="3962" b="1" dirty="0">
                <a:solidFill>
                  <a:srgbClr val="3B4540"/>
                </a:solidFill>
                <a:latin typeface="Fraunces" pitchFamily="34" charset="0"/>
                <a:ea typeface="Fraunces" pitchFamily="34" charset="-122"/>
                <a:cs typeface="Fraunces" pitchFamily="34" charset="-120"/>
              </a:rPr>
              <a:t>Networking and Collaboration</a:t>
            </a:r>
            <a:endParaRPr lang="en-US" sz="3962" dirty="0"/>
          </a:p>
        </p:txBody>
      </p:sp>
      <p:pic>
        <p:nvPicPr>
          <p:cNvPr id="6" name="Image 1" descr="preencoded.png"/>
          <p:cNvPicPr>
            <a:picLocks noChangeAspect="1"/>
          </p:cNvPicPr>
          <p:nvPr/>
        </p:nvPicPr>
        <p:blipFill>
          <a:blip r:embed="rId4"/>
          <a:stretch>
            <a:fillRect/>
          </a:stretch>
        </p:blipFill>
        <p:spPr>
          <a:xfrm>
            <a:off x="704493" y="4161472"/>
            <a:ext cx="4407098" cy="805101"/>
          </a:xfrm>
          <a:prstGeom prst="rect">
            <a:avLst/>
          </a:prstGeom>
        </p:spPr>
      </p:pic>
      <p:sp>
        <p:nvSpPr>
          <p:cNvPr id="7" name="Text 3"/>
          <p:cNvSpPr/>
          <p:nvPr/>
        </p:nvSpPr>
        <p:spPr>
          <a:xfrm>
            <a:off x="905708" y="5268397"/>
            <a:ext cx="2925485" cy="314444"/>
          </a:xfrm>
          <a:prstGeom prst="rect">
            <a:avLst/>
          </a:prstGeom>
          <a:noFill/>
          <a:ln/>
        </p:spPr>
        <p:txBody>
          <a:bodyPr wrap="none" rtlCol="0" anchor="t"/>
          <a:lstStyle/>
          <a:p>
            <a:pPr marL="0" indent="0" algn="l">
              <a:lnSpc>
                <a:spcPts val="2477"/>
              </a:lnSpc>
              <a:buNone/>
            </a:pPr>
            <a:r>
              <a:rPr lang="en-US" sz="1981" b="1" dirty="0">
                <a:solidFill>
                  <a:srgbClr val="405449"/>
                </a:solidFill>
                <a:latin typeface="Fraunces" pitchFamily="34" charset="0"/>
                <a:ea typeface="Fraunces" pitchFamily="34" charset="-122"/>
                <a:cs typeface="Fraunces" pitchFamily="34" charset="-120"/>
              </a:rPr>
              <a:t>Building Relationships</a:t>
            </a:r>
            <a:endParaRPr lang="en-US" sz="1981" dirty="0"/>
          </a:p>
        </p:txBody>
      </p:sp>
      <p:sp>
        <p:nvSpPr>
          <p:cNvPr id="8" name="Text 4"/>
          <p:cNvSpPr/>
          <p:nvPr/>
        </p:nvSpPr>
        <p:spPr>
          <a:xfrm>
            <a:off x="905708" y="5703570"/>
            <a:ext cx="4004667" cy="1610320"/>
          </a:xfrm>
          <a:prstGeom prst="rect">
            <a:avLst/>
          </a:prstGeom>
          <a:noFill/>
          <a:ln/>
        </p:spPr>
        <p:txBody>
          <a:bodyPr wrap="square" rtlCol="0" anchor="t"/>
          <a:lstStyle/>
          <a:p>
            <a:pPr marL="0" indent="0" algn="l">
              <a:lnSpc>
                <a:spcPts val="2536"/>
              </a:lnSpc>
              <a:buNone/>
            </a:pPr>
            <a:r>
              <a:rPr lang="en-US" sz="1585" dirty="0">
                <a:solidFill>
                  <a:srgbClr val="405449"/>
                </a:solidFill>
                <a:latin typeface="Nobile" pitchFamily="34" charset="0"/>
                <a:ea typeface="Nobile" pitchFamily="34" charset="-122"/>
                <a:cs typeface="Nobile" pitchFamily="34" charset="-120"/>
              </a:rPr>
              <a:t>Successful entrepreneurs understand the value of building a strong network of mentors, industry peers, and potential partners to access resources, knowledge, and new opportunities.</a:t>
            </a:r>
            <a:endParaRPr lang="en-US" sz="1585" dirty="0"/>
          </a:p>
        </p:txBody>
      </p:sp>
      <p:pic>
        <p:nvPicPr>
          <p:cNvPr id="9" name="Image 2" descr="preencoded.png"/>
          <p:cNvPicPr>
            <a:picLocks noChangeAspect="1"/>
          </p:cNvPicPr>
          <p:nvPr/>
        </p:nvPicPr>
        <p:blipFill>
          <a:blip r:embed="rId5"/>
          <a:stretch>
            <a:fillRect/>
          </a:stretch>
        </p:blipFill>
        <p:spPr>
          <a:xfrm>
            <a:off x="5111591" y="4161472"/>
            <a:ext cx="4407098" cy="805101"/>
          </a:xfrm>
          <a:prstGeom prst="rect">
            <a:avLst/>
          </a:prstGeom>
        </p:spPr>
      </p:pic>
      <p:sp>
        <p:nvSpPr>
          <p:cNvPr id="10" name="Text 5"/>
          <p:cNvSpPr/>
          <p:nvPr/>
        </p:nvSpPr>
        <p:spPr>
          <a:xfrm>
            <a:off x="5312807" y="5268397"/>
            <a:ext cx="2817257" cy="314444"/>
          </a:xfrm>
          <a:prstGeom prst="rect">
            <a:avLst/>
          </a:prstGeom>
          <a:noFill/>
          <a:ln/>
        </p:spPr>
        <p:txBody>
          <a:bodyPr wrap="none" rtlCol="0" anchor="t"/>
          <a:lstStyle/>
          <a:p>
            <a:pPr marL="0" indent="0" algn="l">
              <a:lnSpc>
                <a:spcPts val="2477"/>
              </a:lnSpc>
              <a:buNone/>
            </a:pPr>
            <a:r>
              <a:rPr lang="en-US" sz="1981" b="1" dirty="0">
                <a:solidFill>
                  <a:srgbClr val="405449"/>
                </a:solidFill>
                <a:latin typeface="Fraunces" pitchFamily="34" charset="0"/>
                <a:ea typeface="Fraunces" pitchFamily="34" charset="-122"/>
                <a:cs typeface="Fraunces" pitchFamily="34" charset="-120"/>
              </a:rPr>
              <a:t>Collaborative Mindset</a:t>
            </a:r>
            <a:endParaRPr lang="en-US" sz="1981" dirty="0"/>
          </a:p>
        </p:txBody>
      </p:sp>
      <p:sp>
        <p:nvSpPr>
          <p:cNvPr id="11" name="Text 6"/>
          <p:cNvSpPr/>
          <p:nvPr/>
        </p:nvSpPr>
        <p:spPr>
          <a:xfrm>
            <a:off x="5312807" y="5703570"/>
            <a:ext cx="4004667" cy="1610320"/>
          </a:xfrm>
          <a:prstGeom prst="rect">
            <a:avLst/>
          </a:prstGeom>
          <a:noFill/>
          <a:ln/>
        </p:spPr>
        <p:txBody>
          <a:bodyPr wrap="square" rtlCol="0" anchor="t"/>
          <a:lstStyle/>
          <a:p>
            <a:pPr marL="0" indent="0" algn="l">
              <a:lnSpc>
                <a:spcPts val="2536"/>
              </a:lnSpc>
              <a:buNone/>
            </a:pPr>
            <a:r>
              <a:rPr lang="en-US" sz="1585" dirty="0">
                <a:solidFill>
                  <a:srgbClr val="405449"/>
                </a:solidFill>
                <a:latin typeface="Nobile" pitchFamily="34" charset="0"/>
                <a:ea typeface="Nobile" pitchFamily="34" charset="-122"/>
                <a:cs typeface="Nobile" pitchFamily="34" charset="-120"/>
              </a:rPr>
              <a:t>They are skilled at fostering a cooperative work environment, recognizing that collaboration can lead to synergistic outcomes and propel their businesses forward.</a:t>
            </a:r>
            <a:endParaRPr lang="en-US" sz="1585" dirty="0"/>
          </a:p>
        </p:txBody>
      </p:sp>
      <p:pic>
        <p:nvPicPr>
          <p:cNvPr id="12" name="Image 3" descr="preencoded.png"/>
          <p:cNvPicPr>
            <a:picLocks noChangeAspect="1"/>
          </p:cNvPicPr>
          <p:nvPr/>
        </p:nvPicPr>
        <p:blipFill>
          <a:blip r:embed="rId6"/>
          <a:stretch>
            <a:fillRect/>
          </a:stretch>
        </p:blipFill>
        <p:spPr>
          <a:xfrm>
            <a:off x="9518690" y="4161472"/>
            <a:ext cx="4407098" cy="805101"/>
          </a:xfrm>
          <a:prstGeom prst="rect">
            <a:avLst/>
          </a:prstGeom>
        </p:spPr>
      </p:pic>
      <p:sp>
        <p:nvSpPr>
          <p:cNvPr id="13" name="Text 7"/>
          <p:cNvSpPr/>
          <p:nvPr/>
        </p:nvSpPr>
        <p:spPr>
          <a:xfrm>
            <a:off x="9719905" y="5268397"/>
            <a:ext cx="3256955" cy="314444"/>
          </a:xfrm>
          <a:prstGeom prst="rect">
            <a:avLst/>
          </a:prstGeom>
          <a:noFill/>
          <a:ln/>
        </p:spPr>
        <p:txBody>
          <a:bodyPr wrap="none" rtlCol="0" anchor="t"/>
          <a:lstStyle/>
          <a:p>
            <a:pPr marL="0" indent="0" algn="l">
              <a:lnSpc>
                <a:spcPts val="2477"/>
              </a:lnSpc>
              <a:buNone/>
            </a:pPr>
            <a:r>
              <a:rPr lang="en-US" sz="1981" b="1" dirty="0">
                <a:solidFill>
                  <a:srgbClr val="405449"/>
                </a:solidFill>
                <a:latin typeface="Fraunces" pitchFamily="34" charset="0"/>
                <a:ea typeface="Fraunces" pitchFamily="34" charset="-122"/>
                <a:cs typeface="Fraunces" pitchFamily="34" charset="-120"/>
              </a:rPr>
              <a:t>Effective Communication</a:t>
            </a:r>
            <a:endParaRPr lang="en-US" sz="1981" dirty="0"/>
          </a:p>
        </p:txBody>
      </p:sp>
      <p:sp>
        <p:nvSpPr>
          <p:cNvPr id="14" name="Text 8"/>
          <p:cNvSpPr/>
          <p:nvPr/>
        </p:nvSpPr>
        <p:spPr>
          <a:xfrm>
            <a:off x="9719905" y="5703570"/>
            <a:ext cx="4004667" cy="1610320"/>
          </a:xfrm>
          <a:prstGeom prst="rect">
            <a:avLst/>
          </a:prstGeom>
          <a:noFill/>
          <a:ln/>
        </p:spPr>
        <p:txBody>
          <a:bodyPr wrap="square" rtlCol="0" anchor="t"/>
          <a:lstStyle/>
          <a:p>
            <a:pPr marL="0" indent="0" algn="l">
              <a:lnSpc>
                <a:spcPts val="2536"/>
              </a:lnSpc>
              <a:buNone/>
            </a:pPr>
            <a:r>
              <a:rPr lang="en-US" sz="1585" dirty="0">
                <a:solidFill>
                  <a:srgbClr val="405449"/>
                </a:solidFill>
                <a:latin typeface="Nobile" pitchFamily="34" charset="0"/>
                <a:ea typeface="Nobile" pitchFamily="34" charset="-122"/>
                <a:cs typeface="Nobile" pitchFamily="34" charset="-120"/>
              </a:rPr>
              <a:t>Successful entrepreneurs are excellent communicators, able to clearly articulate their vision and ideas to various stakeholders, including investors, employees, and customers.</a:t>
            </a:r>
            <a:endParaRPr lang="en-US" sz="158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421424"/>
          </a:solidFill>
          <a:ln/>
        </p:spPr>
      </p:sp>
      <p:sp>
        <p:nvSpPr>
          <p:cNvPr id="3" name="Shape 1"/>
          <p:cNvSpPr/>
          <p:nvPr/>
        </p:nvSpPr>
        <p:spPr>
          <a:xfrm>
            <a:off x="0" y="-46494"/>
            <a:ext cx="14630400" cy="8229600"/>
          </a:xfrm>
          <a:prstGeom prst="rect">
            <a:avLst/>
          </a:prstGeom>
          <a:solidFill>
            <a:srgbClr val="5C2438"/>
          </a:solidFill>
          <a:ln/>
        </p:spPr>
      </p:sp>
      <p:pic>
        <p:nvPicPr>
          <p:cNvPr id="4"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5" name="Text 2"/>
          <p:cNvSpPr/>
          <p:nvPr/>
        </p:nvSpPr>
        <p:spPr>
          <a:xfrm>
            <a:off x="6235660" y="800457"/>
            <a:ext cx="5709404" cy="713542"/>
          </a:xfrm>
          <a:prstGeom prst="rect">
            <a:avLst/>
          </a:prstGeom>
          <a:noFill/>
          <a:ln/>
        </p:spPr>
        <p:txBody>
          <a:bodyPr wrap="none" rtlCol="0" anchor="t"/>
          <a:lstStyle/>
          <a:p>
            <a:pPr marL="0" indent="0" algn="ctr">
              <a:lnSpc>
                <a:spcPts val="5620"/>
              </a:lnSpc>
              <a:buNone/>
            </a:pPr>
            <a:r>
              <a:rPr lang="en-US" sz="4496" b="1" u="sng" dirty="0">
                <a:solidFill>
                  <a:srgbClr val="FFB393"/>
                </a:solidFill>
                <a:latin typeface="Brygada 1918" pitchFamily="34" charset="0"/>
                <a:ea typeface="Brygada 1918" pitchFamily="34" charset="-122"/>
                <a:cs typeface="Brygada 1918" pitchFamily="34" charset="-120"/>
              </a:rPr>
              <a:t>Perseverance</a:t>
            </a:r>
            <a:endParaRPr lang="en-US" sz="4496" u="sng" dirty="0"/>
          </a:p>
        </p:txBody>
      </p:sp>
      <p:pic>
        <p:nvPicPr>
          <p:cNvPr id="6" name="Image 1" descr="preencoded.png"/>
          <p:cNvPicPr>
            <a:picLocks noChangeAspect="1"/>
          </p:cNvPicPr>
          <p:nvPr/>
        </p:nvPicPr>
        <p:blipFill>
          <a:blip r:embed="rId4"/>
          <a:stretch>
            <a:fillRect/>
          </a:stretch>
        </p:blipFill>
        <p:spPr>
          <a:xfrm>
            <a:off x="6235660" y="1835110"/>
            <a:ext cx="1070491" cy="1940600"/>
          </a:xfrm>
          <a:prstGeom prst="rect">
            <a:avLst/>
          </a:prstGeom>
        </p:spPr>
      </p:pic>
      <p:sp>
        <p:nvSpPr>
          <p:cNvPr id="7" name="Text 3"/>
          <p:cNvSpPr/>
          <p:nvPr/>
        </p:nvSpPr>
        <p:spPr>
          <a:xfrm>
            <a:off x="7627263" y="2049185"/>
            <a:ext cx="2854643" cy="356830"/>
          </a:xfrm>
          <a:prstGeom prst="rect">
            <a:avLst/>
          </a:prstGeom>
          <a:noFill/>
          <a:ln/>
        </p:spPr>
        <p:txBody>
          <a:bodyPr wrap="none" rtlCol="0" anchor="t"/>
          <a:lstStyle/>
          <a:p>
            <a:pPr marL="0" indent="0" algn="l">
              <a:lnSpc>
                <a:spcPts val="2810"/>
              </a:lnSpc>
              <a:buNone/>
            </a:pPr>
            <a:r>
              <a:rPr lang="en-US" sz="2248" b="1" dirty="0">
                <a:solidFill>
                  <a:srgbClr val="F4CAB8"/>
                </a:solidFill>
                <a:latin typeface="Brygada 1918" pitchFamily="34" charset="0"/>
                <a:ea typeface="Brygada 1918" pitchFamily="34" charset="-122"/>
                <a:cs typeface="Brygada 1918" pitchFamily="34" charset="-120"/>
              </a:rPr>
              <a:t>Resilience</a:t>
            </a:r>
            <a:endParaRPr lang="en-US" sz="2248" dirty="0"/>
          </a:p>
        </p:txBody>
      </p:sp>
      <p:sp>
        <p:nvSpPr>
          <p:cNvPr id="8" name="Text 4"/>
          <p:cNvSpPr/>
          <p:nvPr/>
        </p:nvSpPr>
        <p:spPr>
          <a:xfrm>
            <a:off x="7627263" y="2534364"/>
            <a:ext cx="6253877" cy="1027271"/>
          </a:xfrm>
          <a:prstGeom prst="rect">
            <a:avLst/>
          </a:prstGeom>
          <a:noFill/>
          <a:ln/>
        </p:spPr>
        <p:txBody>
          <a:bodyPr wrap="square" rtlCol="0" anchor="t"/>
          <a:lstStyle/>
          <a:p>
            <a:pPr marL="0" indent="0" algn="l">
              <a:lnSpc>
                <a:spcPts val="2697"/>
              </a:lnSpc>
              <a:buNone/>
            </a:pPr>
            <a:r>
              <a:rPr lang="en-US" sz="1686" dirty="0">
                <a:solidFill>
                  <a:srgbClr val="F4CAB8"/>
                </a:solidFill>
                <a:latin typeface="Montserrat" pitchFamily="34" charset="0"/>
                <a:ea typeface="Montserrat" pitchFamily="34" charset="-122"/>
                <a:cs typeface="Montserrat" pitchFamily="34" charset="-120"/>
              </a:rPr>
              <a:t>Entrepreneurs face numerous setbacks and failures, but their resilience and determination enable them to bounce back stronger.</a:t>
            </a:r>
            <a:endParaRPr lang="en-US" sz="1686" dirty="0"/>
          </a:p>
        </p:txBody>
      </p:sp>
      <p:pic>
        <p:nvPicPr>
          <p:cNvPr id="9" name="Image 2" descr="preencoded.png"/>
          <p:cNvPicPr>
            <a:picLocks noChangeAspect="1"/>
          </p:cNvPicPr>
          <p:nvPr/>
        </p:nvPicPr>
        <p:blipFill>
          <a:blip r:embed="rId5"/>
          <a:stretch>
            <a:fillRect/>
          </a:stretch>
        </p:blipFill>
        <p:spPr>
          <a:xfrm>
            <a:off x="6235660" y="3775710"/>
            <a:ext cx="1070491" cy="1712714"/>
          </a:xfrm>
          <a:prstGeom prst="rect">
            <a:avLst/>
          </a:prstGeom>
        </p:spPr>
      </p:pic>
      <p:sp>
        <p:nvSpPr>
          <p:cNvPr id="10" name="Text 5"/>
          <p:cNvSpPr/>
          <p:nvPr/>
        </p:nvSpPr>
        <p:spPr>
          <a:xfrm>
            <a:off x="7627263" y="3989784"/>
            <a:ext cx="2854643" cy="356830"/>
          </a:xfrm>
          <a:prstGeom prst="rect">
            <a:avLst/>
          </a:prstGeom>
          <a:noFill/>
          <a:ln/>
        </p:spPr>
        <p:txBody>
          <a:bodyPr wrap="none" rtlCol="0" anchor="t"/>
          <a:lstStyle/>
          <a:p>
            <a:pPr marL="0" indent="0" algn="l">
              <a:lnSpc>
                <a:spcPts val="2810"/>
              </a:lnSpc>
              <a:buNone/>
            </a:pPr>
            <a:r>
              <a:rPr lang="en-US" sz="2248" b="1" dirty="0">
                <a:solidFill>
                  <a:srgbClr val="F4CAB8"/>
                </a:solidFill>
                <a:latin typeface="Brygada 1918" pitchFamily="34" charset="0"/>
                <a:ea typeface="Brygada 1918" pitchFamily="34" charset="-122"/>
                <a:cs typeface="Brygada 1918" pitchFamily="34" charset="-120"/>
              </a:rPr>
              <a:t>Commitment</a:t>
            </a:r>
            <a:endParaRPr lang="en-US" sz="2248" dirty="0"/>
          </a:p>
        </p:txBody>
      </p:sp>
      <p:sp>
        <p:nvSpPr>
          <p:cNvPr id="11" name="Text 6"/>
          <p:cNvSpPr/>
          <p:nvPr/>
        </p:nvSpPr>
        <p:spPr>
          <a:xfrm>
            <a:off x="7627263" y="4474964"/>
            <a:ext cx="6253877" cy="684848"/>
          </a:xfrm>
          <a:prstGeom prst="rect">
            <a:avLst/>
          </a:prstGeom>
          <a:noFill/>
          <a:ln/>
        </p:spPr>
        <p:txBody>
          <a:bodyPr wrap="square" rtlCol="0" anchor="t"/>
          <a:lstStyle/>
          <a:p>
            <a:pPr marL="0" indent="0" algn="l">
              <a:lnSpc>
                <a:spcPts val="2697"/>
              </a:lnSpc>
              <a:buNone/>
            </a:pPr>
            <a:r>
              <a:rPr lang="en-US" sz="1686" dirty="0">
                <a:solidFill>
                  <a:srgbClr val="F4CAB8"/>
                </a:solidFill>
                <a:latin typeface="Montserrat" pitchFamily="34" charset="0"/>
                <a:ea typeface="Montserrat" pitchFamily="34" charset="-122"/>
                <a:cs typeface="Montserrat" pitchFamily="34" charset="-120"/>
              </a:rPr>
              <a:t>They are deeply committed to their vision and are willing to work tirelessly to turn their ideas into reality.</a:t>
            </a:r>
            <a:endParaRPr lang="en-US" sz="1686" dirty="0"/>
          </a:p>
        </p:txBody>
      </p:sp>
      <p:pic>
        <p:nvPicPr>
          <p:cNvPr id="12" name="Image 3" descr="preencoded.png"/>
          <p:cNvPicPr>
            <a:picLocks noChangeAspect="1"/>
          </p:cNvPicPr>
          <p:nvPr/>
        </p:nvPicPr>
        <p:blipFill>
          <a:blip r:embed="rId6"/>
          <a:stretch>
            <a:fillRect/>
          </a:stretch>
        </p:blipFill>
        <p:spPr>
          <a:xfrm>
            <a:off x="6235660" y="5488424"/>
            <a:ext cx="1070491" cy="1940600"/>
          </a:xfrm>
          <a:prstGeom prst="rect">
            <a:avLst/>
          </a:prstGeom>
        </p:spPr>
      </p:pic>
      <p:sp>
        <p:nvSpPr>
          <p:cNvPr id="13" name="Text 7"/>
          <p:cNvSpPr/>
          <p:nvPr/>
        </p:nvSpPr>
        <p:spPr>
          <a:xfrm>
            <a:off x="7627263" y="5702498"/>
            <a:ext cx="2854643" cy="356830"/>
          </a:xfrm>
          <a:prstGeom prst="rect">
            <a:avLst/>
          </a:prstGeom>
          <a:noFill/>
          <a:ln/>
        </p:spPr>
        <p:txBody>
          <a:bodyPr wrap="none" rtlCol="0" anchor="t"/>
          <a:lstStyle/>
          <a:p>
            <a:pPr marL="0" indent="0" algn="l">
              <a:lnSpc>
                <a:spcPts val="2810"/>
              </a:lnSpc>
              <a:buNone/>
            </a:pPr>
            <a:r>
              <a:rPr lang="en-US" sz="2248" b="1" dirty="0">
                <a:solidFill>
                  <a:srgbClr val="F4CAB8"/>
                </a:solidFill>
                <a:latin typeface="Brygada 1918" pitchFamily="34" charset="0"/>
                <a:ea typeface="Brygada 1918" pitchFamily="34" charset="-122"/>
                <a:cs typeface="Brygada 1918" pitchFamily="34" charset="-120"/>
              </a:rPr>
              <a:t>Grit</a:t>
            </a:r>
            <a:endParaRPr lang="en-US" sz="2248" dirty="0"/>
          </a:p>
        </p:txBody>
      </p:sp>
      <p:sp>
        <p:nvSpPr>
          <p:cNvPr id="14" name="Text 8"/>
          <p:cNvSpPr/>
          <p:nvPr/>
        </p:nvSpPr>
        <p:spPr>
          <a:xfrm>
            <a:off x="7627263" y="6187678"/>
            <a:ext cx="6253877" cy="1027271"/>
          </a:xfrm>
          <a:prstGeom prst="rect">
            <a:avLst/>
          </a:prstGeom>
          <a:noFill/>
          <a:ln/>
        </p:spPr>
        <p:txBody>
          <a:bodyPr wrap="square" rtlCol="0" anchor="t"/>
          <a:lstStyle/>
          <a:p>
            <a:pPr marL="0" indent="0" algn="l">
              <a:lnSpc>
                <a:spcPts val="2697"/>
              </a:lnSpc>
              <a:buNone/>
            </a:pPr>
            <a:r>
              <a:rPr lang="en-US" sz="1686" dirty="0">
                <a:solidFill>
                  <a:srgbClr val="F4CAB8"/>
                </a:solidFill>
                <a:latin typeface="Montserrat" pitchFamily="34" charset="0"/>
                <a:ea typeface="Montserrat" pitchFamily="34" charset="-122"/>
                <a:cs typeface="Montserrat" pitchFamily="34" charset="-120"/>
              </a:rPr>
              <a:t>Successful entrepreneurs possess an unwavering grit that allows them to overcome challenges and achieve their goals.</a:t>
            </a:r>
            <a:endParaRPr lang="en-US" sz="1686"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p:cNvPicPr>
            <a:picLocks noChangeAspect="1"/>
          </p:cNvPicPr>
          <p:nvPr/>
        </p:nvPicPr>
        <p:blipFill>
          <a:blip r:embed="rId3"/>
          <a:stretch>
            <a:fillRect/>
          </a:stretch>
        </p:blipFill>
        <p:spPr>
          <a:xfrm>
            <a:off x="9144000" y="0"/>
            <a:ext cx="5486400" cy="8229600"/>
          </a:xfrm>
          <a:prstGeom prst="rect">
            <a:avLst/>
          </a:prstGeom>
        </p:spPr>
      </p:pic>
      <p:pic>
        <p:nvPicPr>
          <p:cNvPr id="5" name="Image 1" descr="preencoded.png"/>
          <p:cNvPicPr>
            <a:picLocks noChangeAspect="1"/>
          </p:cNvPicPr>
          <p:nvPr/>
        </p:nvPicPr>
        <p:blipFill>
          <a:blip r:embed="rId4"/>
          <a:stretch>
            <a:fillRect/>
          </a:stretch>
        </p:blipFill>
        <p:spPr>
          <a:xfrm>
            <a:off x="9000411" y="1949649"/>
            <a:ext cx="5426870" cy="4070152"/>
          </a:xfrm>
          <a:prstGeom prst="rect">
            <a:avLst/>
          </a:prstGeom>
          <a:ln w="57150">
            <a:solidFill>
              <a:schemeClr val="bg1">
                <a:lumMod val="65000"/>
              </a:schemeClr>
            </a:solidFill>
          </a:ln>
        </p:spPr>
      </p:pic>
      <p:sp>
        <p:nvSpPr>
          <p:cNvPr id="6" name="Text 2"/>
          <p:cNvSpPr/>
          <p:nvPr/>
        </p:nvSpPr>
        <p:spPr>
          <a:xfrm>
            <a:off x="3885518" y="325464"/>
            <a:ext cx="5651540" cy="507921"/>
          </a:xfrm>
          <a:prstGeom prst="rect">
            <a:avLst/>
          </a:prstGeom>
          <a:noFill/>
          <a:ln/>
        </p:spPr>
        <p:txBody>
          <a:bodyPr wrap="none" rtlCol="0" anchor="t"/>
          <a:lstStyle/>
          <a:p>
            <a:pPr marL="0" indent="0" algn="ctr">
              <a:lnSpc>
                <a:spcPts val="4000"/>
              </a:lnSpc>
              <a:buNone/>
            </a:pPr>
            <a:r>
              <a:rPr lang="en-US" sz="3200" b="1" u="sng" dirty="0">
                <a:solidFill>
                  <a:srgbClr val="3B4540"/>
                </a:solidFill>
                <a:latin typeface="Fraunces" pitchFamily="34" charset="0"/>
                <a:ea typeface="Fraunces" pitchFamily="34" charset="-122"/>
                <a:cs typeface="Fraunces" pitchFamily="34" charset="-120"/>
              </a:rPr>
              <a:t>Resilience and Adaptability</a:t>
            </a:r>
            <a:endParaRPr lang="en-US" sz="3200" u="sng" dirty="0"/>
          </a:p>
        </p:txBody>
      </p:sp>
      <p:pic>
        <p:nvPicPr>
          <p:cNvPr id="7" name="Image 2" descr="preencoded.png"/>
          <p:cNvPicPr>
            <a:picLocks noChangeAspect="1"/>
          </p:cNvPicPr>
          <p:nvPr/>
        </p:nvPicPr>
        <p:blipFill>
          <a:blip r:embed="rId5"/>
          <a:stretch>
            <a:fillRect/>
          </a:stretch>
        </p:blipFill>
        <p:spPr>
          <a:xfrm>
            <a:off x="568881" y="1193369"/>
            <a:ext cx="406360" cy="406360"/>
          </a:xfrm>
          <a:prstGeom prst="rect">
            <a:avLst/>
          </a:prstGeom>
        </p:spPr>
      </p:pic>
      <p:sp>
        <p:nvSpPr>
          <p:cNvPr id="8" name="Text 3"/>
          <p:cNvSpPr/>
          <p:nvPr/>
        </p:nvSpPr>
        <p:spPr>
          <a:xfrm>
            <a:off x="1344948" y="1320349"/>
            <a:ext cx="2031921" cy="253960"/>
          </a:xfrm>
          <a:prstGeom prst="rect">
            <a:avLst/>
          </a:prstGeom>
          <a:noFill/>
          <a:ln/>
        </p:spPr>
        <p:txBody>
          <a:bodyPr wrap="none" rtlCol="0" anchor="t"/>
          <a:lstStyle/>
          <a:p>
            <a:pPr marL="0" indent="0" algn="l">
              <a:lnSpc>
                <a:spcPts val="2000"/>
              </a:lnSpc>
              <a:buNone/>
            </a:pPr>
            <a:r>
              <a:rPr lang="en-US" sz="2400" b="1" dirty="0">
                <a:solidFill>
                  <a:srgbClr val="405449"/>
                </a:solidFill>
                <a:latin typeface="Fraunces" pitchFamily="34" charset="0"/>
                <a:ea typeface="Fraunces" pitchFamily="34" charset="-122"/>
                <a:cs typeface="Fraunces" pitchFamily="34" charset="-120"/>
              </a:rPr>
              <a:t>Perseverance</a:t>
            </a:r>
            <a:endParaRPr lang="en-US" sz="2400" dirty="0"/>
          </a:p>
        </p:txBody>
      </p:sp>
      <p:sp>
        <p:nvSpPr>
          <p:cNvPr id="9" name="Text 4"/>
          <p:cNvSpPr/>
          <p:nvPr/>
        </p:nvSpPr>
        <p:spPr>
          <a:xfrm>
            <a:off x="568881" y="1949648"/>
            <a:ext cx="8006239" cy="520065"/>
          </a:xfrm>
          <a:prstGeom prst="rect">
            <a:avLst/>
          </a:prstGeom>
          <a:noFill/>
          <a:ln/>
        </p:spPr>
        <p:txBody>
          <a:bodyPr wrap="square" rtlCol="0" anchor="t"/>
          <a:lstStyle/>
          <a:p>
            <a:pPr marL="0" indent="0" algn="l">
              <a:lnSpc>
                <a:spcPts val="2048"/>
              </a:lnSpc>
              <a:buNone/>
            </a:pPr>
            <a:r>
              <a:rPr lang="en-US" sz="2400" dirty="0">
                <a:solidFill>
                  <a:srgbClr val="405449"/>
                </a:solidFill>
                <a:ea typeface="Nobile" pitchFamily="34" charset="-122"/>
                <a:cs typeface="Nobile" pitchFamily="34" charset="-120"/>
              </a:rPr>
              <a:t>Successful entrepreneurs understand that failure is a natural part of the entrepreneurial journey, and they are committed to learning from their mistakes and pushing forward.</a:t>
            </a:r>
            <a:endParaRPr lang="en-US" sz="2400" dirty="0"/>
          </a:p>
        </p:txBody>
      </p:sp>
      <p:pic>
        <p:nvPicPr>
          <p:cNvPr id="10" name="Image 3" descr="preencoded.png"/>
          <p:cNvPicPr>
            <a:picLocks noChangeAspect="1"/>
          </p:cNvPicPr>
          <p:nvPr/>
        </p:nvPicPr>
        <p:blipFill>
          <a:blip r:embed="rId6"/>
          <a:stretch>
            <a:fillRect/>
          </a:stretch>
        </p:blipFill>
        <p:spPr>
          <a:xfrm>
            <a:off x="568881" y="3160812"/>
            <a:ext cx="406360" cy="406360"/>
          </a:xfrm>
          <a:prstGeom prst="rect">
            <a:avLst/>
          </a:prstGeom>
        </p:spPr>
      </p:pic>
      <p:sp>
        <p:nvSpPr>
          <p:cNvPr id="11" name="Text 5"/>
          <p:cNvSpPr/>
          <p:nvPr/>
        </p:nvSpPr>
        <p:spPr>
          <a:xfrm>
            <a:off x="1344948" y="3313212"/>
            <a:ext cx="2031921" cy="253960"/>
          </a:xfrm>
          <a:prstGeom prst="rect">
            <a:avLst/>
          </a:prstGeom>
          <a:noFill/>
          <a:ln/>
        </p:spPr>
        <p:txBody>
          <a:bodyPr wrap="none" rtlCol="0" anchor="t"/>
          <a:lstStyle/>
          <a:p>
            <a:pPr marL="0" indent="0" algn="l">
              <a:lnSpc>
                <a:spcPts val="2000"/>
              </a:lnSpc>
              <a:buNone/>
            </a:pPr>
            <a:r>
              <a:rPr lang="en-US" sz="2400" b="1" dirty="0">
                <a:solidFill>
                  <a:srgbClr val="405449"/>
                </a:solidFill>
                <a:latin typeface="Fraunces" pitchFamily="34" charset="0"/>
                <a:ea typeface="Fraunces" pitchFamily="34" charset="-122"/>
                <a:cs typeface="Fraunces" pitchFamily="34" charset="-120"/>
              </a:rPr>
              <a:t>Flexibility</a:t>
            </a:r>
            <a:endParaRPr lang="en-US" sz="2400" dirty="0"/>
          </a:p>
        </p:txBody>
      </p:sp>
      <p:sp>
        <p:nvSpPr>
          <p:cNvPr id="12" name="Text 6"/>
          <p:cNvSpPr/>
          <p:nvPr/>
        </p:nvSpPr>
        <p:spPr>
          <a:xfrm>
            <a:off x="568881" y="3843580"/>
            <a:ext cx="8006239" cy="520065"/>
          </a:xfrm>
          <a:prstGeom prst="rect">
            <a:avLst/>
          </a:prstGeom>
          <a:noFill/>
          <a:ln/>
        </p:spPr>
        <p:txBody>
          <a:bodyPr wrap="square" rtlCol="0" anchor="t"/>
          <a:lstStyle/>
          <a:p>
            <a:pPr marL="0" indent="0" algn="l">
              <a:lnSpc>
                <a:spcPts val="2048"/>
              </a:lnSpc>
              <a:buNone/>
            </a:pPr>
            <a:r>
              <a:rPr lang="en-US" sz="2400" dirty="0">
                <a:solidFill>
                  <a:srgbClr val="405449"/>
                </a:solidFill>
                <a:ea typeface="Nobile" pitchFamily="34" charset="-122"/>
                <a:cs typeface="Nobile" pitchFamily="34" charset="-120"/>
              </a:rPr>
              <a:t>They are able to quickly adapt to changing circumstances and adjust their strategies accordingly, ensuring the long-term sustainability of their businesses.</a:t>
            </a:r>
            <a:endParaRPr lang="en-US" sz="2400" dirty="0"/>
          </a:p>
        </p:txBody>
      </p:sp>
      <p:pic>
        <p:nvPicPr>
          <p:cNvPr id="13" name="Image 4" descr="preencoded.png"/>
          <p:cNvPicPr>
            <a:picLocks noChangeAspect="1"/>
          </p:cNvPicPr>
          <p:nvPr/>
        </p:nvPicPr>
        <p:blipFill>
          <a:blip r:embed="rId7"/>
          <a:stretch>
            <a:fillRect/>
          </a:stretch>
        </p:blipFill>
        <p:spPr>
          <a:xfrm>
            <a:off x="568881" y="5291971"/>
            <a:ext cx="406360" cy="406360"/>
          </a:xfrm>
          <a:prstGeom prst="rect">
            <a:avLst/>
          </a:prstGeom>
        </p:spPr>
      </p:pic>
      <p:sp>
        <p:nvSpPr>
          <p:cNvPr id="14" name="Text 7"/>
          <p:cNvSpPr/>
          <p:nvPr/>
        </p:nvSpPr>
        <p:spPr>
          <a:xfrm>
            <a:off x="1344948" y="5418951"/>
            <a:ext cx="2031921" cy="253960"/>
          </a:xfrm>
          <a:prstGeom prst="rect">
            <a:avLst/>
          </a:prstGeom>
          <a:noFill/>
          <a:ln/>
        </p:spPr>
        <p:txBody>
          <a:bodyPr wrap="none" rtlCol="0" anchor="t"/>
          <a:lstStyle/>
          <a:p>
            <a:pPr marL="0" indent="0" algn="l">
              <a:lnSpc>
                <a:spcPts val="2000"/>
              </a:lnSpc>
              <a:buNone/>
            </a:pPr>
            <a:r>
              <a:rPr lang="en-US" sz="2400" b="1" dirty="0">
                <a:solidFill>
                  <a:srgbClr val="405449"/>
                </a:solidFill>
                <a:latin typeface="Fraunces" pitchFamily="34" charset="0"/>
                <a:ea typeface="Fraunces" pitchFamily="34" charset="-122"/>
                <a:cs typeface="Fraunces" pitchFamily="34" charset="-120"/>
              </a:rPr>
              <a:t>Mental Toughness</a:t>
            </a:r>
            <a:endParaRPr lang="en-US" sz="2400" dirty="0"/>
          </a:p>
        </p:txBody>
      </p:sp>
      <p:sp>
        <p:nvSpPr>
          <p:cNvPr id="15" name="Text 8"/>
          <p:cNvSpPr/>
          <p:nvPr/>
        </p:nvSpPr>
        <p:spPr>
          <a:xfrm>
            <a:off x="568881" y="6019800"/>
            <a:ext cx="8006239" cy="520065"/>
          </a:xfrm>
          <a:prstGeom prst="rect">
            <a:avLst/>
          </a:prstGeom>
          <a:noFill/>
          <a:ln/>
        </p:spPr>
        <p:txBody>
          <a:bodyPr wrap="square" rtlCol="0" anchor="t"/>
          <a:lstStyle/>
          <a:p>
            <a:pPr marL="0" indent="0" algn="l">
              <a:lnSpc>
                <a:spcPts val="2048"/>
              </a:lnSpc>
              <a:buNone/>
            </a:pPr>
            <a:r>
              <a:rPr lang="en-US" sz="2400" dirty="0">
                <a:solidFill>
                  <a:srgbClr val="405449"/>
                </a:solidFill>
                <a:ea typeface="Nobile" pitchFamily="34" charset="-122"/>
                <a:cs typeface="Nobile" pitchFamily="34" charset="-120"/>
              </a:rPr>
              <a:t>Successful entrepreneurs have the mental fortitude to remain calm under pressure and make rational decisions, even in the face of adversity.</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421424"/>
          </a:solidFill>
          <a:ln/>
        </p:spPr>
      </p:sp>
      <p:sp>
        <p:nvSpPr>
          <p:cNvPr id="3" name="Shape 1"/>
          <p:cNvSpPr/>
          <p:nvPr/>
        </p:nvSpPr>
        <p:spPr>
          <a:xfrm>
            <a:off x="0" y="0"/>
            <a:ext cx="14630400" cy="8229600"/>
          </a:xfrm>
          <a:prstGeom prst="rect">
            <a:avLst/>
          </a:prstGeom>
          <a:solidFill>
            <a:srgbClr val="5C2438"/>
          </a:solidFill>
          <a:ln/>
        </p:spPr>
      </p:sp>
      <p:pic>
        <p:nvPicPr>
          <p:cNvPr id="4"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5" name="Text 2"/>
          <p:cNvSpPr/>
          <p:nvPr/>
        </p:nvSpPr>
        <p:spPr>
          <a:xfrm>
            <a:off x="749260" y="672227"/>
            <a:ext cx="5709404" cy="713542"/>
          </a:xfrm>
          <a:prstGeom prst="rect">
            <a:avLst/>
          </a:prstGeom>
          <a:noFill/>
          <a:ln/>
        </p:spPr>
        <p:txBody>
          <a:bodyPr wrap="none" rtlCol="0" anchor="t"/>
          <a:lstStyle/>
          <a:p>
            <a:pPr marL="0" indent="0" algn="ctr">
              <a:lnSpc>
                <a:spcPts val="5620"/>
              </a:lnSpc>
              <a:buNone/>
            </a:pPr>
            <a:r>
              <a:rPr lang="en-US" sz="4496" b="1" u="sng" dirty="0">
                <a:solidFill>
                  <a:srgbClr val="FFB393"/>
                </a:solidFill>
                <a:latin typeface="Brygada 1918" pitchFamily="34" charset="0"/>
                <a:ea typeface="Brygada 1918" pitchFamily="34" charset="-122"/>
                <a:cs typeface="Brygada 1918" pitchFamily="34" charset="-120"/>
              </a:rPr>
              <a:t>Vision</a:t>
            </a:r>
            <a:endParaRPr lang="en-US" sz="4496" u="sng" dirty="0"/>
          </a:p>
        </p:txBody>
      </p:sp>
      <p:pic>
        <p:nvPicPr>
          <p:cNvPr id="6" name="Image 1" descr="preencoded.png"/>
          <p:cNvPicPr>
            <a:picLocks noChangeAspect="1"/>
          </p:cNvPicPr>
          <p:nvPr/>
        </p:nvPicPr>
        <p:blipFill>
          <a:blip r:embed="rId4"/>
          <a:stretch>
            <a:fillRect/>
          </a:stretch>
        </p:blipFill>
        <p:spPr>
          <a:xfrm>
            <a:off x="749260" y="1706880"/>
            <a:ext cx="535186" cy="535186"/>
          </a:xfrm>
          <a:prstGeom prst="rect">
            <a:avLst/>
          </a:prstGeom>
        </p:spPr>
      </p:pic>
      <p:sp>
        <p:nvSpPr>
          <p:cNvPr id="7" name="Text 3"/>
          <p:cNvSpPr/>
          <p:nvPr/>
        </p:nvSpPr>
        <p:spPr>
          <a:xfrm>
            <a:off x="749260" y="2456140"/>
            <a:ext cx="2854643" cy="356830"/>
          </a:xfrm>
          <a:prstGeom prst="rect">
            <a:avLst/>
          </a:prstGeom>
          <a:noFill/>
          <a:ln/>
        </p:spPr>
        <p:txBody>
          <a:bodyPr wrap="none" rtlCol="0" anchor="t"/>
          <a:lstStyle/>
          <a:p>
            <a:pPr marL="0" indent="0" algn="l">
              <a:lnSpc>
                <a:spcPts val="2810"/>
              </a:lnSpc>
              <a:buNone/>
            </a:pPr>
            <a:r>
              <a:rPr lang="en-US" sz="2248" b="1" dirty="0">
                <a:solidFill>
                  <a:srgbClr val="F4CAB8"/>
                </a:solidFill>
                <a:latin typeface="Brygada 1918" pitchFamily="34" charset="0"/>
                <a:ea typeface="Brygada 1918" pitchFamily="34" charset="-122"/>
                <a:cs typeface="Brygada 1918" pitchFamily="34" charset="-120"/>
              </a:rPr>
              <a:t>Foresight</a:t>
            </a:r>
            <a:endParaRPr lang="en-US" sz="2248" dirty="0"/>
          </a:p>
        </p:txBody>
      </p:sp>
      <p:sp>
        <p:nvSpPr>
          <p:cNvPr id="8" name="Text 4"/>
          <p:cNvSpPr/>
          <p:nvPr/>
        </p:nvSpPr>
        <p:spPr>
          <a:xfrm>
            <a:off x="749260" y="2941320"/>
            <a:ext cx="3662124" cy="1027271"/>
          </a:xfrm>
          <a:prstGeom prst="rect">
            <a:avLst/>
          </a:prstGeom>
          <a:noFill/>
          <a:ln/>
        </p:spPr>
        <p:txBody>
          <a:bodyPr wrap="square" rtlCol="0" anchor="t"/>
          <a:lstStyle/>
          <a:p>
            <a:pPr marL="0" indent="0" algn="l">
              <a:lnSpc>
                <a:spcPts val="2697"/>
              </a:lnSpc>
              <a:buNone/>
            </a:pPr>
            <a:r>
              <a:rPr lang="en-US" sz="1686" dirty="0">
                <a:solidFill>
                  <a:srgbClr val="F4CAB8"/>
                </a:solidFill>
                <a:latin typeface="Montserrat" pitchFamily="34" charset="0"/>
                <a:ea typeface="Montserrat" pitchFamily="34" charset="-122"/>
                <a:cs typeface="Montserrat" pitchFamily="34" charset="-120"/>
              </a:rPr>
              <a:t>Entrepreneurs have a keen ability to anticipate market trends and envision future opportunities.</a:t>
            </a:r>
            <a:endParaRPr lang="en-US" sz="1686" dirty="0"/>
          </a:p>
        </p:txBody>
      </p:sp>
      <p:pic>
        <p:nvPicPr>
          <p:cNvPr id="9" name="Image 2" descr="preencoded.png"/>
          <p:cNvPicPr>
            <a:picLocks noChangeAspect="1"/>
          </p:cNvPicPr>
          <p:nvPr/>
        </p:nvPicPr>
        <p:blipFill>
          <a:blip r:embed="rId5"/>
          <a:stretch>
            <a:fillRect/>
          </a:stretch>
        </p:blipFill>
        <p:spPr>
          <a:xfrm>
            <a:off x="4732496" y="1706880"/>
            <a:ext cx="535186" cy="535186"/>
          </a:xfrm>
          <a:prstGeom prst="rect">
            <a:avLst/>
          </a:prstGeom>
        </p:spPr>
      </p:pic>
      <p:sp>
        <p:nvSpPr>
          <p:cNvPr id="10" name="Text 5"/>
          <p:cNvSpPr/>
          <p:nvPr/>
        </p:nvSpPr>
        <p:spPr>
          <a:xfrm>
            <a:off x="4732496" y="2456140"/>
            <a:ext cx="2854643" cy="356830"/>
          </a:xfrm>
          <a:prstGeom prst="rect">
            <a:avLst/>
          </a:prstGeom>
          <a:noFill/>
          <a:ln/>
        </p:spPr>
        <p:txBody>
          <a:bodyPr wrap="none" rtlCol="0" anchor="t"/>
          <a:lstStyle/>
          <a:p>
            <a:pPr marL="0" indent="0" algn="l">
              <a:lnSpc>
                <a:spcPts val="2810"/>
              </a:lnSpc>
              <a:buNone/>
            </a:pPr>
            <a:r>
              <a:rPr lang="en-US" sz="2248" b="1" dirty="0">
                <a:solidFill>
                  <a:srgbClr val="F4CAB8"/>
                </a:solidFill>
                <a:latin typeface="Brygada 1918" pitchFamily="34" charset="0"/>
                <a:ea typeface="Brygada 1918" pitchFamily="34" charset="-122"/>
                <a:cs typeface="Brygada 1918" pitchFamily="34" charset="-120"/>
              </a:rPr>
              <a:t>Direction</a:t>
            </a:r>
            <a:endParaRPr lang="en-US" sz="2248" dirty="0"/>
          </a:p>
        </p:txBody>
      </p:sp>
      <p:sp>
        <p:nvSpPr>
          <p:cNvPr id="11" name="Text 6"/>
          <p:cNvSpPr/>
          <p:nvPr/>
        </p:nvSpPr>
        <p:spPr>
          <a:xfrm>
            <a:off x="4732496" y="2941320"/>
            <a:ext cx="3662243" cy="1369695"/>
          </a:xfrm>
          <a:prstGeom prst="rect">
            <a:avLst/>
          </a:prstGeom>
          <a:noFill/>
          <a:ln/>
        </p:spPr>
        <p:txBody>
          <a:bodyPr wrap="square" rtlCol="0" anchor="t"/>
          <a:lstStyle/>
          <a:p>
            <a:pPr marL="0" indent="0" algn="l">
              <a:lnSpc>
                <a:spcPts val="2697"/>
              </a:lnSpc>
              <a:buNone/>
            </a:pPr>
            <a:r>
              <a:rPr lang="en-US" sz="1686" dirty="0">
                <a:solidFill>
                  <a:srgbClr val="F4CAB8"/>
                </a:solidFill>
                <a:latin typeface="Montserrat" pitchFamily="34" charset="0"/>
                <a:ea typeface="Montserrat" pitchFamily="34" charset="-122"/>
                <a:cs typeface="Montserrat" pitchFamily="34" charset="-120"/>
              </a:rPr>
              <a:t>They possess a clear and compelling vision that guides their decision-making and inspires their teams.</a:t>
            </a:r>
            <a:endParaRPr lang="en-US" sz="1686" dirty="0"/>
          </a:p>
        </p:txBody>
      </p:sp>
      <p:pic>
        <p:nvPicPr>
          <p:cNvPr id="12" name="Image 3" descr="preencoded.png"/>
          <p:cNvPicPr>
            <a:picLocks noChangeAspect="1"/>
          </p:cNvPicPr>
          <p:nvPr/>
        </p:nvPicPr>
        <p:blipFill>
          <a:blip r:embed="rId6"/>
          <a:stretch>
            <a:fillRect/>
          </a:stretch>
        </p:blipFill>
        <p:spPr>
          <a:xfrm>
            <a:off x="749260" y="4953238"/>
            <a:ext cx="535186" cy="535186"/>
          </a:xfrm>
          <a:prstGeom prst="rect">
            <a:avLst/>
          </a:prstGeom>
        </p:spPr>
      </p:pic>
      <p:sp>
        <p:nvSpPr>
          <p:cNvPr id="13" name="Text 7"/>
          <p:cNvSpPr/>
          <p:nvPr/>
        </p:nvSpPr>
        <p:spPr>
          <a:xfrm>
            <a:off x="749260" y="5702498"/>
            <a:ext cx="2854643" cy="356830"/>
          </a:xfrm>
          <a:prstGeom prst="rect">
            <a:avLst/>
          </a:prstGeom>
          <a:noFill/>
          <a:ln/>
        </p:spPr>
        <p:txBody>
          <a:bodyPr wrap="none" rtlCol="0" anchor="t"/>
          <a:lstStyle/>
          <a:p>
            <a:pPr marL="0" indent="0" algn="l">
              <a:lnSpc>
                <a:spcPts val="2810"/>
              </a:lnSpc>
              <a:buNone/>
            </a:pPr>
            <a:r>
              <a:rPr lang="en-US" sz="2248" b="1" dirty="0">
                <a:solidFill>
                  <a:srgbClr val="F4CAB8"/>
                </a:solidFill>
                <a:latin typeface="Brygada 1918" pitchFamily="34" charset="0"/>
                <a:ea typeface="Brygada 1918" pitchFamily="34" charset="-122"/>
                <a:cs typeface="Brygada 1918" pitchFamily="34" charset="-120"/>
              </a:rPr>
              <a:t>Focus</a:t>
            </a:r>
            <a:endParaRPr lang="en-US" sz="2248" dirty="0"/>
          </a:p>
        </p:txBody>
      </p:sp>
      <p:sp>
        <p:nvSpPr>
          <p:cNvPr id="14" name="Text 8"/>
          <p:cNvSpPr/>
          <p:nvPr/>
        </p:nvSpPr>
        <p:spPr>
          <a:xfrm>
            <a:off x="749260" y="6187678"/>
            <a:ext cx="3662124" cy="1369695"/>
          </a:xfrm>
          <a:prstGeom prst="rect">
            <a:avLst/>
          </a:prstGeom>
          <a:noFill/>
          <a:ln/>
        </p:spPr>
        <p:txBody>
          <a:bodyPr wrap="square" rtlCol="0" anchor="t"/>
          <a:lstStyle/>
          <a:p>
            <a:pPr marL="0" indent="0" algn="l">
              <a:lnSpc>
                <a:spcPts val="2697"/>
              </a:lnSpc>
              <a:buNone/>
            </a:pPr>
            <a:r>
              <a:rPr lang="en-US" sz="1686" dirty="0">
                <a:solidFill>
                  <a:srgbClr val="F4CAB8"/>
                </a:solidFill>
                <a:latin typeface="Montserrat" pitchFamily="34" charset="0"/>
                <a:ea typeface="Montserrat" pitchFamily="34" charset="-122"/>
                <a:cs typeface="Montserrat" pitchFamily="34" charset="-120"/>
              </a:rPr>
              <a:t>Successful entrepreneurs relentlessly work towards their goals, staying focused on their long-term vision.</a:t>
            </a:r>
            <a:endParaRPr lang="en-US" sz="1686" dirty="0"/>
          </a:p>
        </p:txBody>
      </p:sp>
      <p:pic>
        <p:nvPicPr>
          <p:cNvPr id="15" name="Image 4" descr="preencoded.png"/>
          <p:cNvPicPr>
            <a:picLocks noChangeAspect="1"/>
          </p:cNvPicPr>
          <p:nvPr/>
        </p:nvPicPr>
        <p:blipFill>
          <a:blip r:embed="rId7"/>
          <a:stretch>
            <a:fillRect/>
          </a:stretch>
        </p:blipFill>
        <p:spPr>
          <a:xfrm>
            <a:off x="4732496" y="4953238"/>
            <a:ext cx="535186" cy="535186"/>
          </a:xfrm>
          <a:prstGeom prst="rect">
            <a:avLst/>
          </a:prstGeom>
        </p:spPr>
      </p:pic>
      <p:sp>
        <p:nvSpPr>
          <p:cNvPr id="16" name="Text 9"/>
          <p:cNvSpPr/>
          <p:nvPr/>
        </p:nvSpPr>
        <p:spPr>
          <a:xfrm>
            <a:off x="4732496" y="5702498"/>
            <a:ext cx="2854643" cy="356830"/>
          </a:xfrm>
          <a:prstGeom prst="rect">
            <a:avLst/>
          </a:prstGeom>
          <a:noFill/>
          <a:ln/>
        </p:spPr>
        <p:txBody>
          <a:bodyPr wrap="none" rtlCol="0" anchor="t"/>
          <a:lstStyle/>
          <a:p>
            <a:pPr marL="0" indent="0" algn="l">
              <a:lnSpc>
                <a:spcPts val="2810"/>
              </a:lnSpc>
              <a:buNone/>
            </a:pPr>
            <a:r>
              <a:rPr lang="en-US" sz="2248" b="1" dirty="0">
                <a:solidFill>
                  <a:srgbClr val="F4CAB8"/>
                </a:solidFill>
                <a:latin typeface="Brygada 1918" pitchFamily="34" charset="0"/>
                <a:ea typeface="Brygada 1918" pitchFamily="34" charset="-122"/>
                <a:cs typeface="Brygada 1918" pitchFamily="34" charset="-120"/>
              </a:rPr>
              <a:t>Passion</a:t>
            </a:r>
            <a:endParaRPr lang="en-US" sz="2248" dirty="0"/>
          </a:p>
        </p:txBody>
      </p:sp>
      <p:sp>
        <p:nvSpPr>
          <p:cNvPr id="17" name="Text 10"/>
          <p:cNvSpPr/>
          <p:nvPr/>
        </p:nvSpPr>
        <p:spPr>
          <a:xfrm>
            <a:off x="4732496" y="6187678"/>
            <a:ext cx="3662243" cy="1369695"/>
          </a:xfrm>
          <a:prstGeom prst="rect">
            <a:avLst/>
          </a:prstGeom>
          <a:noFill/>
          <a:ln/>
        </p:spPr>
        <p:txBody>
          <a:bodyPr wrap="square" rtlCol="0" anchor="t"/>
          <a:lstStyle/>
          <a:p>
            <a:pPr marL="0" indent="0" algn="l">
              <a:lnSpc>
                <a:spcPts val="2697"/>
              </a:lnSpc>
              <a:buNone/>
            </a:pPr>
            <a:r>
              <a:rPr lang="en-US" sz="1686" dirty="0">
                <a:solidFill>
                  <a:srgbClr val="F4CAB8"/>
                </a:solidFill>
                <a:latin typeface="Montserrat" pitchFamily="34" charset="0"/>
                <a:ea typeface="Montserrat" pitchFamily="34" charset="-122"/>
                <a:cs typeface="Montserrat" pitchFamily="34" charset="-120"/>
              </a:rPr>
              <a:t>Entrepreneurs are deeply passionate about their businesses, which fuels their drive and determination.</a:t>
            </a:r>
            <a:endParaRPr lang="en-US" sz="1686"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421424"/>
          </a:solidFill>
          <a:ln/>
        </p:spPr>
      </p:sp>
      <p:sp>
        <p:nvSpPr>
          <p:cNvPr id="3" name="Shape 1"/>
          <p:cNvSpPr/>
          <p:nvPr/>
        </p:nvSpPr>
        <p:spPr>
          <a:xfrm>
            <a:off x="0" y="0"/>
            <a:ext cx="14630400" cy="8229600"/>
          </a:xfrm>
          <a:prstGeom prst="rect">
            <a:avLst/>
          </a:prstGeom>
          <a:solidFill>
            <a:srgbClr val="5C2438"/>
          </a:solidFill>
          <a:ln/>
        </p:spPr>
      </p:sp>
      <p:sp>
        <p:nvSpPr>
          <p:cNvPr id="4" name="Text 2"/>
          <p:cNvSpPr/>
          <p:nvPr/>
        </p:nvSpPr>
        <p:spPr>
          <a:xfrm>
            <a:off x="749260" y="108178"/>
            <a:ext cx="12902684" cy="713542"/>
          </a:xfrm>
          <a:prstGeom prst="rect">
            <a:avLst/>
          </a:prstGeom>
          <a:noFill/>
          <a:ln/>
        </p:spPr>
        <p:txBody>
          <a:bodyPr wrap="none" rtlCol="0" anchor="t"/>
          <a:lstStyle/>
          <a:p>
            <a:pPr marL="0" indent="0" algn="ctr">
              <a:lnSpc>
                <a:spcPts val="5620"/>
              </a:lnSpc>
              <a:buNone/>
            </a:pPr>
            <a:r>
              <a:rPr lang="en-US" sz="4496" b="1" u="sng" dirty="0">
                <a:solidFill>
                  <a:srgbClr val="FFB393"/>
                </a:solidFill>
                <a:latin typeface="Brygada 1918" pitchFamily="34" charset="0"/>
                <a:ea typeface="Brygada 1918" pitchFamily="34" charset="-122"/>
                <a:cs typeface="Brygada 1918" pitchFamily="34" charset="-120"/>
              </a:rPr>
              <a:t>How Entrepreneurs Contribute to the Economy</a:t>
            </a:r>
            <a:endParaRPr lang="en-US" sz="4496" u="sng" dirty="0"/>
          </a:p>
        </p:txBody>
      </p:sp>
      <p:sp>
        <p:nvSpPr>
          <p:cNvPr id="6" name="Text 4"/>
          <p:cNvSpPr/>
          <p:nvPr/>
        </p:nvSpPr>
        <p:spPr>
          <a:xfrm>
            <a:off x="361803" y="1625417"/>
            <a:ext cx="4028599" cy="2277274"/>
          </a:xfrm>
          <a:prstGeom prst="rect">
            <a:avLst/>
          </a:prstGeom>
          <a:noFill/>
          <a:ln/>
        </p:spPr>
        <p:txBody>
          <a:bodyPr wrap="square" rtlCol="0" anchor="t"/>
          <a:lstStyle/>
          <a:p>
            <a:pPr>
              <a:lnSpc>
                <a:spcPts val="2092"/>
              </a:lnSpc>
            </a:pPr>
            <a:r>
              <a:rPr lang="en-US" sz="2400" b="1" u="sng" dirty="0" smtClean="0">
                <a:solidFill>
                  <a:srgbClr val="FFB393"/>
                </a:solidFill>
                <a:latin typeface="Brygada 1918" pitchFamily="34" charset="0"/>
                <a:ea typeface="Brygada 1918" pitchFamily="34" charset="-122"/>
                <a:cs typeface="Brygada 1918" pitchFamily="34" charset="-120"/>
              </a:rPr>
              <a:t>1. Job Creation</a:t>
            </a:r>
            <a:endParaRPr lang="en-US" sz="2400" b="1" u="sng" dirty="0" smtClean="0"/>
          </a:p>
          <a:p>
            <a:pPr>
              <a:lnSpc>
                <a:spcPts val="2092"/>
              </a:lnSpc>
            </a:pPr>
            <a:endParaRPr lang="en-US" sz="1600" dirty="0" smtClean="0">
              <a:solidFill>
                <a:schemeClr val="bg1"/>
              </a:solidFill>
              <a:latin typeface="Nobile" pitchFamily="34" charset="0"/>
              <a:ea typeface="Nobile" pitchFamily="34" charset="-122"/>
              <a:cs typeface="Nobile" pitchFamily="34" charset="-120"/>
            </a:endParaRPr>
          </a:p>
          <a:p>
            <a:pPr>
              <a:lnSpc>
                <a:spcPts val="2092"/>
              </a:lnSpc>
            </a:pPr>
            <a:r>
              <a:rPr lang="en-US" sz="2400" dirty="0" smtClean="0">
                <a:solidFill>
                  <a:schemeClr val="bg1"/>
                </a:solidFill>
                <a:ea typeface="Nobile" pitchFamily="34" charset="-122"/>
                <a:cs typeface="Nobile" pitchFamily="34" charset="-120"/>
              </a:rPr>
              <a:t>Successful entrepreneurs are drivers of economic growth, creating new job opportunities and contributing to the overall employment rate.</a:t>
            </a:r>
            <a:endParaRPr lang="en-US" sz="2400" dirty="0">
              <a:solidFill>
                <a:schemeClr val="bg1"/>
              </a:solidFill>
            </a:endParaRPr>
          </a:p>
        </p:txBody>
      </p:sp>
      <p:sp>
        <p:nvSpPr>
          <p:cNvPr id="7" name="Text 5"/>
          <p:cNvSpPr/>
          <p:nvPr/>
        </p:nvSpPr>
        <p:spPr>
          <a:xfrm>
            <a:off x="5106209" y="1625417"/>
            <a:ext cx="3216473" cy="356830"/>
          </a:xfrm>
          <a:prstGeom prst="rect">
            <a:avLst/>
          </a:prstGeom>
          <a:noFill/>
          <a:ln/>
        </p:spPr>
        <p:txBody>
          <a:bodyPr wrap="none" rtlCol="0" anchor="t"/>
          <a:lstStyle/>
          <a:p>
            <a:pPr marL="0" indent="0">
              <a:lnSpc>
                <a:spcPts val="2810"/>
              </a:lnSpc>
              <a:buNone/>
            </a:pPr>
            <a:endParaRPr lang="en-US" sz="2248" dirty="0"/>
          </a:p>
        </p:txBody>
      </p:sp>
      <p:sp>
        <p:nvSpPr>
          <p:cNvPr id="8" name="Text 6"/>
          <p:cNvSpPr/>
          <p:nvPr/>
        </p:nvSpPr>
        <p:spPr>
          <a:xfrm>
            <a:off x="4749748" y="1625417"/>
            <a:ext cx="4859201" cy="2232684"/>
          </a:xfrm>
          <a:prstGeom prst="rect">
            <a:avLst/>
          </a:prstGeom>
          <a:noFill/>
          <a:ln/>
        </p:spPr>
        <p:txBody>
          <a:bodyPr wrap="square" rtlCol="0" anchor="t"/>
          <a:lstStyle/>
          <a:p>
            <a:pPr>
              <a:lnSpc>
                <a:spcPts val="2043"/>
              </a:lnSpc>
            </a:pPr>
            <a:r>
              <a:rPr lang="en-US" sz="2400" b="1" u="sng" dirty="0" smtClean="0">
                <a:solidFill>
                  <a:schemeClr val="accent2">
                    <a:lumMod val="60000"/>
                    <a:lumOff val="40000"/>
                  </a:schemeClr>
                </a:solidFill>
                <a:latin typeface="Fraunces" pitchFamily="34" charset="0"/>
                <a:ea typeface="Fraunces" pitchFamily="34" charset="-122"/>
                <a:cs typeface="Fraunces" pitchFamily="34" charset="-120"/>
              </a:rPr>
              <a:t>2. Innovation and Productivity</a:t>
            </a:r>
            <a:endParaRPr lang="en-US" sz="2400" b="1" u="sng" dirty="0" smtClean="0">
              <a:solidFill>
                <a:schemeClr val="accent2">
                  <a:lumMod val="60000"/>
                  <a:lumOff val="40000"/>
                </a:schemeClr>
              </a:solidFill>
            </a:endParaRPr>
          </a:p>
          <a:p>
            <a:pPr marL="0" indent="0">
              <a:lnSpc>
                <a:spcPts val="2697"/>
              </a:lnSpc>
              <a:buNone/>
            </a:pPr>
            <a:endParaRPr lang="en-US" sz="1686" dirty="0" smtClean="0">
              <a:solidFill>
                <a:srgbClr val="F4CAB8"/>
              </a:solidFill>
              <a:latin typeface="Montserrat" pitchFamily="34" charset="0"/>
              <a:ea typeface="Montserrat" pitchFamily="34" charset="-122"/>
              <a:cs typeface="Montserrat" pitchFamily="34" charset="-120"/>
            </a:endParaRPr>
          </a:p>
          <a:p>
            <a:pPr>
              <a:lnSpc>
                <a:spcPts val="2092"/>
              </a:lnSpc>
            </a:pPr>
            <a:r>
              <a:rPr lang="en-US" sz="2400" dirty="0" smtClean="0">
                <a:solidFill>
                  <a:schemeClr val="bg1"/>
                </a:solidFill>
                <a:ea typeface="Nobile" pitchFamily="34" charset="-122"/>
                <a:cs typeface="Nobile" pitchFamily="34" charset="-120"/>
              </a:rPr>
              <a:t>Their pioneering ideas and disruptive technologies help to improve efficiency, increase productivity, and enhance the overall competitiveness of the economy.</a:t>
            </a:r>
            <a:endParaRPr lang="en-US" sz="2400" dirty="0">
              <a:solidFill>
                <a:schemeClr val="bg1"/>
              </a:solidFill>
            </a:endParaRPr>
          </a:p>
        </p:txBody>
      </p:sp>
      <p:sp>
        <p:nvSpPr>
          <p:cNvPr id="10" name="Text 8"/>
          <p:cNvSpPr/>
          <p:nvPr/>
        </p:nvSpPr>
        <p:spPr>
          <a:xfrm>
            <a:off x="9934415" y="1580827"/>
            <a:ext cx="4493548" cy="2650210"/>
          </a:xfrm>
          <a:prstGeom prst="rect">
            <a:avLst/>
          </a:prstGeom>
          <a:noFill/>
          <a:ln/>
        </p:spPr>
        <p:txBody>
          <a:bodyPr wrap="square" rtlCol="0" anchor="t"/>
          <a:lstStyle/>
          <a:p>
            <a:pPr>
              <a:lnSpc>
                <a:spcPts val="2697"/>
              </a:lnSpc>
            </a:pPr>
            <a:r>
              <a:rPr lang="en-US" sz="2400" b="1" u="sng" dirty="0" smtClean="0">
                <a:solidFill>
                  <a:srgbClr val="FFB393"/>
                </a:solidFill>
                <a:latin typeface="Brygada 1918" pitchFamily="34" charset="0"/>
                <a:ea typeface="Brygada 1918" pitchFamily="34" charset="-122"/>
                <a:cs typeface="Brygada 1918" pitchFamily="34" charset="-120"/>
              </a:rPr>
              <a:t>3. Driving Economic Growth</a:t>
            </a:r>
            <a:endParaRPr lang="en-US" sz="2400" b="1" u="sng" dirty="0" smtClean="0"/>
          </a:p>
          <a:p>
            <a:pPr marL="0" indent="0">
              <a:lnSpc>
                <a:spcPts val="2697"/>
              </a:lnSpc>
              <a:buNone/>
            </a:pPr>
            <a:endParaRPr lang="en-US" sz="1686" dirty="0" smtClean="0">
              <a:solidFill>
                <a:srgbClr val="F4CAB8"/>
              </a:solidFill>
              <a:latin typeface="Montserrat" pitchFamily="34" charset="0"/>
              <a:ea typeface="Montserrat" pitchFamily="34" charset="-122"/>
              <a:cs typeface="Montserrat" pitchFamily="34" charset="-120"/>
            </a:endParaRPr>
          </a:p>
          <a:p>
            <a:pPr marL="0" indent="0">
              <a:lnSpc>
                <a:spcPts val="2697"/>
              </a:lnSpc>
              <a:buNone/>
            </a:pPr>
            <a:r>
              <a:rPr lang="en-US" sz="2400" dirty="0" smtClean="0">
                <a:solidFill>
                  <a:schemeClr val="bg1"/>
                </a:solidFill>
                <a:ea typeface="Montserrat" pitchFamily="34" charset="-122"/>
                <a:cs typeface="Montserrat" pitchFamily="34" charset="-120"/>
              </a:rPr>
              <a:t>Successful </a:t>
            </a:r>
            <a:r>
              <a:rPr lang="en-US" sz="2400" dirty="0">
                <a:solidFill>
                  <a:schemeClr val="bg1"/>
                </a:solidFill>
                <a:ea typeface="Montserrat" pitchFamily="34" charset="-122"/>
                <a:cs typeface="Montserrat" pitchFamily="34" charset="-120"/>
              </a:rPr>
              <a:t>entrepreneurs contribute to the overall economic growth of a region or country, driving prosperity and development.</a:t>
            </a:r>
            <a:endParaRPr lang="en-US" sz="2400" dirty="0">
              <a:solidFill>
                <a:schemeClr val="bg1"/>
              </a:solidFill>
            </a:endParaRPr>
          </a:p>
        </p:txBody>
      </p:sp>
      <p:sp>
        <p:nvSpPr>
          <p:cNvPr id="12" name="TextBox 11"/>
          <p:cNvSpPr txBox="1"/>
          <p:nvPr/>
        </p:nvSpPr>
        <p:spPr>
          <a:xfrm>
            <a:off x="749259" y="4618495"/>
            <a:ext cx="5884016" cy="2862322"/>
          </a:xfrm>
          <a:prstGeom prst="rect">
            <a:avLst/>
          </a:prstGeom>
          <a:noFill/>
        </p:spPr>
        <p:txBody>
          <a:bodyPr wrap="square" rtlCol="0">
            <a:spAutoFit/>
          </a:bodyPr>
          <a:lstStyle/>
          <a:p>
            <a:r>
              <a:rPr lang="en-US" sz="2400" b="1" u="sng" dirty="0" smtClean="0">
                <a:solidFill>
                  <a:schemeClr val="accent2">
                    <a:lumMod val="60000"/>
                    <a:lumOff val="40000"/>
                  </a:schemeClr>
                </a:solidFill>
                <a:latin typeface="Fraunces" pitchFamily="34" charset="0"/>
                <a:ea typeface="Fraunces" pitchFamily="34" charset="-122"/>
                <a:cs typeface="Fraunces" pitchFamily="34" charset="-120"/>
              </a:rPr>
              <a:t>4. Tax Revenue Generation</a:t>
            </a:r>
            <a:endParaRPr lang="en-US" sz="2400" u="sng" dirty="0" smtClean="0">
              <a:solidFill>
                <a:schemeClr val="accent2">
                  <a:lumMod val="60000"/>
                  <a:lumOff val="40000"/>
                </a:schemeClr>
              </a:solidFill>
            </a:endParaRPr>
          </a:p>
          <a:p>
            <a:endParaRPr lang="en-US" dirty="0" smtClean="0">
              <a:solidFill>
                <a:schemeClr val="bg1"/>
              </a:solidFill>
              <a:latin typeface="Nobile" pitchFamily="34" charset="0"/>
              <a:ea typeface="Nobile" pitchFamily="34" charset="-122"/>
              <a:cs typeface="Nobile" pitchFamily="34" charset="-120"/>
            </a:endParaRPr>
          </a:p>
          <a:p>
            <a:r>
              <a:rPr lang="en-US" sz="2400" dirty="0" smtClean="0">
                <a:solidFill>
                  <a:schemeClr val="bg1"/>
                </a:solidFill>
                <a:ea typeface="Nobile" pitchFamily="34" charset="-122"/>
                <a:cs typeface="Nobile" pitchFamily="34" charset="-120"/>
              </a:rPr>
              <a:t>Thriving entrepreneurial ventures generate tax revenue for the government, which can be reinvested into infrastructure, social programs, and other initiatives that benefit the broader community.</a:t>
            </a:r>
            <a:endParaRPr lang="en-US" sz="2400" dirty="0" smtClean="0">
              <a:solidFill>
                <a:schemeClr val="bg1"/>
              </a:solidFill>
            </a:endParaRPr>
          </a:p>
          <a:p>
            <a:endParaRPr lang="en-US" dirty="0">
              <a:solidFill>
                <a:schemeClr val="bg1"/>
              </a:solidFill>
            </a:endParaRPr>
          </a:p>
        </p:txBody>
      </p:sp>
      <p:sp>
        <p:nvSpPr>
          <p:cNvPr id="13" name="TextBox 12"/>
          <p:cNvSpPr txBox="1"/>
          <p:nvPr/>
        </p:nvSpPr>
        <p:spPr>
          <a:xfrm>
            <a:off x="7253115" y="4618495"/>
            <a:ext cx="5765369" cy="2862322"/>
          </a:xfrm>
          <a:prstGeom prst="rect">
            <a:avLst/>
          </a:prstGeom>
          <a:noFill/>
        </p:spPr>
        <p:txBody>
          <a:bodyPr wrap="square" rtlCol="0">
            <a:spAutoFit/>
          </a:bodyPr>
          <a:lstStyle/>
          <a:p>
            <a:r>
              <a:rPr lang="en-US" sz="2400" b="1" u="sng" dirty="0" smtClean="0">
                <a:solidFill>
                  <a:schemeClr val="accent2">
                    <a:lumMod val="60000"/>
                    <a:lumOff val="40000"/>
                  </a:schemeClr>
                </a:solidFill>
                <a:latin typeface="Fraunces" pitchFamily="34" charset="0"/>
                <a:ea typeface="Fraunces" pitchFamily="34" charset="-122"/>
                <a:cs typeface="Fraunces" pitchFamily="34" charset="-120"/>
              </a:rPr>
              <a:t>5. Inspiring the Next Generation</a:t>
            </a:r>
          </a:p>
          <a:p>
            <a:endParaRPr lang="en-US" dirty="0" smtClean="0">
              <a:solidFill>
                <a:schemeClr val="bg1"/>
              </a:solidFill>
            </a:endParaRPr>
          </a:p>
          <a:p>
            <a:r>
              <a:rPr lang="en-US" sz="2400" dirty="0" smtClean="0">
                <a:solidFill>
                  <a:schemeClr val="bg1"/>
                </a:solidFill>
                <a:ea typeface="Nobile" pitchFamily="34" charset="-122"/>
                <a:cs typeface="Nobile" pitchFamily="34" charset="-120"/>
              </a:rPr>
              <a:t>Successful entrepreneurs serve as role models, inspiring and empowering others to pursue their own entrepreneurial dreams, further fueling the cycle of innovation and economic progress.</a:t>
            </a:r>
            <a:endParaRPr lang="en-US" sz="2400" dirty="0" smtClean="0">
              <a:solidFill>
                <a:schemeClr val="bg1"/>
              </a:solidFill>
            </a:endParaRPr>
          </a:p>
          <a:p>
            <a:endParaRPr lang="en-US" dirty="0">
              <a:solidFill>
                <a:schemeClr val="bg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421424"/>
          </a:solidFill>
          <a:ln/>
        </p:spPr>
      </p:sp>
      <p:sp>
        <p:nvSpPr>
          <p:cNvPr id="3" name="Shape 1"/>
          <p:cNvSpPr/>
          <p:nvPr/>
        </p:nvSpPr>
        <p:spPr>
          <a:xfrm>
            <a:off x="0" y="0"/>
            <a:ext cx="14630400" cy="8229600"/>
          </a:xfrm>
          <a:prstGeom prst="rect">
            <a:avLst/>
          </a:prstGeom>
          <a:solidFill>
            <a:srgbClr val="5C2438"/>
          </a:solidFill>
          <a:ln/>
        </p:spPr>
      </p:sp>
      <p:pic>
        <p:nvPicPr>
          <p:cNvPr id="4"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5" name="Text 2"/>
          <p:cNvSpPr/>
          <p:nvPr/>
        </p:nvSpPr>
        <p:spPr>
          <a:xfrm>
            <a:off x="1710156" y="6307810"/>
            <a:ext cx="5709404" cy="713542"/>
          </a:xfrm>
          <a:prstGeom prst="rect">
            <a:avLst/>
          </a:prstGeom>
          <a:noFill/>
          <a:ln/>
        </p:spPr>
        <p:txBody>
          <a:bodyPr wrap="none" rtlCol="0" anchor="t"/>
          <a:lstStyle/>
          <a:p>
            <a:pPr marL="0" indent="0">
              <a:lnSpc>
                <a:spcPts val="5620"/>
              </a:lnSpc>
              <a:buNone/>
            </a:pPr>
            <a:r>
              <a:rPr lang="en-US" sz="8000" dirty="0">
                <a:solidFill>
                  <a:srgbClr val="FFB393"/>
                </a:solidFill>
                <a:latin typeface="MV Boli" pitchFamily="2" charset="0"/>
                <a:ea typeface="Brygada 1918" pitchFamily="34" charset="-122"/>
                <a:cs typeface="MV Boli" pitchFamily="2" charset="0"/>
              </a:rPr>
              <a:t>Thank</a:t>
            </a:r>
            <a:r>
              <a:rPr lang="en-US" sz="8000" b="1" dirty="0">
                <a:solidFill>
                  <a:srgbClr val="FFB393"/>
                </a:solidFill>
                <a:latin typeface="MV Boli" pitchFamily="2" charset="0"/>
                <a:ea typeface="Brygada 1918" pitchFamily="34" charset="-122"/>
                <a:cs typeface="MV Boli" pitchFamily="2" charset="0"/>
              </a:rPr>
              <a:t> You</a:t>
            </a:r>
            <a:endParaRPr lang="en-US" sz="8000" dirty="0">
              <a:latin typeface="MV Boli" pitchFamily="2" charset="0"/>
              <a:cs typeface="MV Boli" pitchFamily="2" charset="0"/>
            </a:endParaRPr>
          </a:p>
        </p:txBody>
      </p:sp>
      <p:sp>
        <p:nvSpPr>
          <p:cNvPr id="8" name="TextBox 7"/>
          <p:cNvSpPr txBox="1"/>
          <p:nvPr/>
        </p:nvSpPr>
        <p:spPr>
          <a:xfrm>
            <a:off x="718265" y="1751308"/>
            <a:ext cx="7278860" cy="2677656"/>
          </a:xfrm>
          <a:prstGeom prst="rect">
            <a:avLst/>
          </a:prstGeom>
          <a:noFill/>
        </p:spPr>
        <p:txBody>
          <a:bodyPr wrap="square" rtlCol="0">
            <a:spAutoFit/>
          </a:bodyPr>
          <a:lstStyle/>
          <a:p>
            <a:r>
              <a:rPr lang="en-US" sz="2400" b="1" dirty="0" smtClean="0">
                <a:solidFill>
                  <a:schemeClr val="bg1"/>
                </a:solidFill>
              </a:rPr>
              <a:t>Summary of Qualities</a:t>
            </a:r>
            <a:r>
              <a:rPr lang="en-US" sz="2400" dirty="0" smtClean="0">
                <a:solidFill>
                  <a:schemeClr val="bg1"/>
                </a:solidFill>
              </a:rPr>
              <a:t>: Visionary leadership, risk-taking, adaptability, innovation, networking, and resilience.</a:t>
            </a:r>
          </a:p>
          <a:p>
            <a:endParaRPr lang="en-US" sz="2400" dirty="0" smtClean="0">
              <a:solidFill>
                <a:schemeClr val="bg1"/>
              </a:solidFill>
            </a:endParaRPr>
          </a:p>
          <a:p>
            <a:r>
              <a:rPr lang="en-US" sz="2400" b="1" dirty="0" smtClean="0">
                <a:solidFill>
                  <a:schemeClr val="bg1"/>
                </a:solidFill>
              </a:rPr>
              <a:t>Overall Contribution</a:t>
            </a:r>
            <a:r>
              <a:rPr lang="en-US" sz="2400" dirty="0" smtClean="0">
                <a:solidFill>
                  <a:schemeClr val="bg1"/>
                </a:solidFill>
              </a:rPr>
              <a:t>: Entrepreneurs are key drivers of economic growth, job creation, and innovation. They play a crucial role in shaping the global economy.</a:t>
            </a:r>
          </a:p>
          <a:p>
            <a:endParaRPr lang="en-US" sz="2400" dirty="0">
              <a:solidFill>
                <a:schemeClr val="bg1"/>
              </a:solidFill>
            </a:endParaRPr>
          </a:p>
        </p:txBody>
      </p:sp>
      <p:sp>
        <p:nvSpPr>
          <p:cNvPr id="9" name="TextBox 8"/>
          <p:cNvSpPr txBox="1"/>
          <p:nvPr/>
        </p:nvSpPr>
        <p:spPr>
          <a:xfrm>
            <a:off x="2149565" y="482746"/>
            <a:ext cx="4003468" cy="923330"/>
          </a:xfrm>
          <a:prstGeom prst="rect">
            <a:avLst/>
          </a:prstGeom>
          <a:noFill/>
        </p:spPr>
        <p:txBody>
          <a:bodyPr wrap="none" rtlCol="0">
            <a:spAutoFit/>
          </a:bodyPr>
          <a:lstStyle/>
          <a:p>
            <a:pPr algn="ctr"/>
            <a:r>
              <a:rPr lang="en-US" sz="5400" b="1" u="sng" dirty="0" smtClean="0">
                <a:solidFill>
                  <a:schemeClr val="accent4">
                    <a:lumMod val="40000"/>
                    <a:lumOff val="60000"/>
                  </a:schemeClr>
                </a:solidFill>
              </a:rPr>
              <a:t>CONCLUSION</a:t>
            </a:r>
            <a:endParaRPr lang="en-US" sz="5400" b="1" u="sng" dirty="0">
              <a:solidFill>
                <a:schemeClr val="accent4">
                  <a:lumMod val="40000"/>
                  <a:lumOff val="60000"/>
                </a:schemeClr>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171</TotalTime>
  <Words>839</Words>
  <Application>Microsoft Office PowerPoint</Application>
  <PresentationFormat>Custom</PresentationFormat>
  <Paragraphs>106</Paragraphs>
  <Slides>11</Slides>
  <Notes>11</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Rishuraj</cp:lastModifiedBy>
  <cp:revision>26</cp:revision>
  <dcterms:created xsi:type="dcterms:W3CDTF">2024-08-11T18:51:09Z</dcterms:created>
  <dcterms:modified xsi:type="dcterms:W3CDTF">2025-03-26T18:51:12Z</dcterms:modified>
</cp:coreProperties>
</file>