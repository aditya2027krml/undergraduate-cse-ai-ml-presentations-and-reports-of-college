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57" r:id="rId4"/>
    <p:sldId id="265" r:id="rId5"/>
    <p:sldId id="266" r:id="rId6"/>
    <p:sldId id="267" r:id="rId7"/>
    <p:sldId id="268" r:id="rId8"/>
    <p:sldId id="269" r:id="rId9"/>
    <p:sldId id="272" r:id="rId10"/>
    <p:sldId id="273" r:id="rId11"/>
    <p:sldId id="270" r:id="rId1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86380" autoAdjust="0"/>
  </p:normalViewPr>
  <p:slideViewPr>
    <p:cSldViewPr snapToGrid="0" snapToObjects="1">
      <p:cViewPr varScale="1">
        <p:scale>
          <a:sx n="61" d="100"/>
          <a:sy n="61" d="100"/>
        </p:scale>
        <p:origin x="-462" y="-84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24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602"/>
            <a:ext cx="14630400" cy="8260596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247971" y="463416"/>
            <a:ext cx="13917479" cy="1937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5000" u="sng" dirty="0" smtClean="0">
                <a:solidFill>
                  <a:srgbClr val="002060"/>
                </a:solidFill>
                <a:latin typeface="Arial Rounded MT Bold" pitchFamily="34" charset="0"/>
              </a:rPr>
              <a:t>Introduction to Natural Language Processing, Regular Expressions, and Tokenization</a:t>
            </a:r>
            <a:endParaRPr lang="en-US" sz="5000" b="1" u="sng" spc="-842" dirty="0">
              <a:solidFill>
                <a:srgbClr val="002060"/>
              </a:solidFill>
              <a:latin typeface="Arial Rounded MT Bold" pitchFamily="34" charset="0"/>
              <a:ea typeface="TT Bluescreens Bold"/>
              <a:cs typeface="TT Bluescreens Bold"/>
              <a:sym typeface="TT Bluescreens Bold"/>
            </a:endParaRPr>
          </a:p>
        </p:txBody>
      </p:sp>
      <p:sp>
        <p:nvSpPr>
          <p:cNvPr id="6" name="Text 2"/>
          <p:cNvSpPr/>
          <p:nvPr/>
        </p:nvSpPr>
        <p:spPr>
          <a:xfrm>
            <a:off x="898310" y="4891623"/>
            <a:ext cx="8018304" cy="2537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sz="2800" smtClean="0">
                <a:latin typeface="MV Boli" pitchFamily="2" charset="0"/>
                <a:cs typeface="MV Boli" pitchFamily="2" charset="0"/>
              </a:rPr>
              <a:t>NAME </a:t>
            </a:r>
            <a:r>
              <a:rPr lang="en-US" sz="2800" smtClean="0">
                <a:latin typeface="MV Boli" pitchFamily="2" charset="0"/>
                <a:cs typeface="MV Boli" pitchFamily="2" charset="0"/>
              </a:rPr>
              <a:t>:</a:t>
            </a:r>
            <a:endParaRPr lang="en-US" sz="2800" b="1" u="sng" dirty="0" smtClean="0">
              <a:latin typeface="MV Boli" pitchFamily="2" charset="0"/>
              <a:cs typeface="MV Boli" pitchFamily="2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MV Boli" pitchFamily="2" charset="0"/>
                <a:cs typeface="MV Boli" pitchFamily="2" charset="0"/>
              </a:rPr>
              <a:t>UNIVERSITY ROLL NO</a:t>
            </a:r>
            <a:r>
              <a:rPr lang="en-US" sz="2800" dirty="0" smtClean="0">
                <a:latin typeface="MV Boli" pitchFamily="2" charset="0"/>
                <a:cs typeface="MV Boli" pitchFamily="2" charset="0"/>
              </a:rPr>
              <a:t>:</a:t>
            </a:r>
            <a:endParaRPr lang="en-US" sz="2800" b="1" u="sng" dirty="0" smtClean="0">
              <a:latin typeface="MV Boli" pitchFamily="2" charset="0"/>
              <a:cs typeface="MV Boli" pitchFamily="2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MV Boli" pitchFamily="2" charset="0"/>
                <a:cs typeface="MV Boli" pitchFamily="2" charset="0"/>
              </a:rPr>
              <a:t>PAPER NAME : Natural Language Processing  PAPER CODE : PEC-AIML 801A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MV Boli" pitchFamily="2" charset="0"/>
                <a:cs typeface="MV Boli" pitchFamily="2" charset="0"/>
              </a:rPr>
              <a:t>SEMESTER/YEAR : 8TH SEM/ 4th YEAR DEPARTMENT :CSE(AI&amp;ML) </a:t>
            </a:r>
            <a:endParaRPr lang="en-US" sz="2800" dirty="0">
              <a:latin typeface="MV Boli" pitchFamily="2" charset="0"/>
              <a:cs typeface="MV Boli" pitchFamily="2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793790" y="6297811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247971" y="3262477"/>
            <a:ext cx="69628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A Flexible and Iterative Approach to Software Development</a:t>
            </a:r>
            <a:endParaRPr lang="en-US" sz="2200" dirty="0"/>
          </a:p>
        </p:txBody>
      </p:sp>
      <p:grpSp>
        <p:nvGrpSpPr>
          <p:cNvPr id="10" name="Group 7"/>
          <p:cNvGrpSpPr/>
          <p:nvPr/>
        </p:nvGrpSpPr>
        <p:grpSpPr>
          <a:xfrm>
            <a:off x="450890" y="4881170"/>
            <a:ext cx="228600" cy="2761283"/>
            <a:chOff x="0" y="0"/>
            <a:chExt cx="73694" cy="593451"/>
          </a:xfrm>
        </p:grpSpPr>
        <p:sp>
          <p:nvSpPr>
            <p:cNvPr id="11" name="Freeform 8"/>
            <p:cNvSpPr/>
            <p:nvPr/>
          </p:nvSpPr>
          <p:spPr>
            <a:xfrm>
              <a:off x="0" y="0"/>
              <a:ext cx="73694" cy="593451"/>
            </a:xfrm>
            <a:custGeom>
              <a:avLst/>
              <a:gdLst/>
              <a:ahLst/>
              <a:cxnLst/>
              <a:rect l="l" t="t" r="r" b="b"/>
              <a:pathLst>
                <a:path w="73694" h="593451">
                  <a:moveTo>
                    <a:pt x="0" y="0"/>
                  </a:moveTo>
                  <a:lnTo>
                    <a:pt x="73694" y="0"/>
                  </a:lnTo>
                  <a:lnTo>
                    <a:pt x="73694" y="593451"/>
                  </a:lnTo>
                  <a:lnTo>
                    <a:pt x="0" y="593451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</p:spPr>
        </p:sp>
        <p:sp>
          <p:nvSpPr>
            <p:cNvPr id="12" name="TextBox 9"/>
            <p:cNvSpPr txBox="1"/>
            <p:nvPr/>
          </p:nvSpPr>
          <p:spPr>
            <a:xfrm>
              <a:off x="0" y="-47625"/>
              <a:ext cx="73694" cy="641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3" name="Picture 12" descr="Natural Language Processing (NLP)_ An Essential Element of AI.jf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319569" y="4089203"/>
            <a:ext cx="4845881" cy="2999335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793790" y="294468"/>
            <a:ext cx="12891213" cy="1164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4400" u="sng" dirty="0" smtClean="0">
                <a:solidFill>
                  <a:srgbClr val="002060"/>
                </a:solidFill>
                <a:latin typeface="Arial Rounded MT Bold" pitchFamily="34" charset="0"/>
              </a:rPr>
              <a:t>What is Natural Language Processing (NLP)?</a:t>
            </a:r>
          </a:p>
          <a:p>
            <a:pPr algn="ctr"/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526942" y="1458665"/>
            <a:ext cx="8508570" cy="67311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u="sng" dirty="0" smtClean="0"/>
              <a:t>Definition:</a:t>
            </a:r>
            <a:r>
              <a:rPr lang="en-US" sz="2400" dirty="0" smtClean="0"/>
              <a:t> NLP is a subfield of Artificial Intelligence (AI) that focuses on the interaction between computers and humans through natural language.</a:t>
            </a:r>
          </a:p>
          <a:p>
            <a:r>
              <a:rPr lang="en-US" sz="2400" b="1" u="sng" dirty="0" smtClean="0"/>
              <a:t>Goals of NLP: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Enable machines to read, understand, and derive meaning from human languages.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Facilitate human-computer interaction in a way that is natural and intuitive.</a:t>
            </a:r>
          </a:p>
          <a:p>
            <a:r>
              <a:rPr lang="en-US" sz="2400" b="1" u="sng" dirty="0" smtClean="0"/>
              <a:t>Key Components: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Syntax: Structure of sentences.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Semantics: Meaning of words and sentences.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Pragmatics: Contextual use of language.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Discourse: How preceding sentences influence the interpretation of the next ones.</a:t>
            </a:r>
          </a:p>
          <a:p>
            <a:r>
              <a:rPr lang="en-US" sz="2400" b="1" u="sng" dirty="0" smtClean="0"/>
              <a:t>Importance:</a:t>
            </a:r>
            <a:r>
              <a:rPr lang="en-US" sz="2400" dirty="0" smtClean="0"/>
              <a:t> With the exponential growth of data generated in textual form, NLP allows for effective data analysis and decision-making.</a:t>
            </a:r>
          </a:p>
          <a:p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793790" y="6297811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10" name="Picture 9" descr="images (2).jf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90" y="2820692"/>
            <a:ext cx="4564073" cy="3037183"/>
          </a:xfrm>
          <a:prstGeom prst="rect">
            <a:avLst/>
          </a:prstGeom>
          <a:ln w="76200"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3180"/>
            <a:ext cx="14630400" cy="8248412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4238684" y="201383"/>
            <a:ext cx="4936688" cy="4961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/>
            <a:r>
              <a:rPr lang="en-US" sz="4000" u="sng" dirty="0" smtClean="0">
                <a:solidFill>
                  <a:srgbClr val="002060"/>
                </a:solidFill>
                <a:latin typeface="Arial Rounded MT Bold" pitchFamily="34" charset="0"/>
              </a:rPr>
              <a:t>Real-World Applications of NLP</a:t>
            </a:r>
            <a:endParaRPr lang="en-US" sz="4000" u="sng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3403" y="1286357"/>
            <a:ext cx="1284809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u="sng" dirty="0" smtClean="0"/>
              <a:t>Virtual Assistants:</a:t>
            </a:r>
          </a:p>
          <a:p>
            <a:pPr lvl="1" algn="just"/>
            <a:r>
              <a:rPr lang="en-US" sz="2400" dirty="0" smtClean="0"/>
              <a:t>Examples include </a:t>
            </a:r>
            <a:r>
              <a:rPr lang="en-US" sz="2400" dirty="0" err="1" smtClean="0"/>
              <a:t>Siri</a:t>
            </a:r>
            <a:r>
              <a:rPr lang="en-US" sz="2400" dirty="0" smtClean="0"/>
              <a:t>, Google Assistant, and </a:t>
            </a:r>
            <a:r>
              <a:rPr lang="en-US" sz="2400" dirty="0" err="1" smtClean="0"/>
              <a:t>Alexa</a:t>
            </a:r>
            <a:r>
              <a:rPr lang="en-US" sz="2400" dirty="0" smtClean="0"/>
              <a:t>. They use NLP to understand user queries and provide relevant responses.</a:t>
            </a:r>
          </a:p>
          <a:p>
            <a:pPr algn="just"/>
            <a:r>
              <a:rPr lang="en-US" sz="2400" b="1" u="sng" dirty="0" smtClean="0"/>
              <a:t>Machine Translation:</a:t>
            </a:r>
          </a:p>
          <a:p>
            <a:pPr lvl="1" algn="just"/>
            <a:r>
              <a:rPr lang="en-US" sz="2400" dirty="0" smtClean="0"/>
              <a:t>Services like Google Translate utilize NLP algorithms to translate text between languages while preserving meaning.</a:t>
            </a:r>
          </a:p>
          <a:p>
            <a:pPr algn="just"/>
            <a:r>
              <a:rPr lang="en-US" sz="2400" b="1" u="sng" dirty="0" smtClean="0"/>
              <a:t>Sentiment Analysis:</a:t>
            </a:r>
          </a:p>
          <a:p>
            <a:pPr lvl="1" algn="just"/>
            <a:r>
              <a:rPr lang="en-US" sz="2400" dirty="0" smtClean="0"/>
              <a:t>Businesses analyze customer feedback on social media or reviews to gauge public sentiment about products or services.</a:t>
            </a:r>
          </a:p>
          <a:p>
            <a:pPr algn="just"/>
            <a:r>
              <a:rPr lang="en-US" sz="2400" b="1" u="sng" dirty="0" smtClean="0"/>
              <a:t>Spam Filtering:</a:t>
            </a:r>
          </a:p>
          <a:p>
            <a:pPr lvl="1" algn="just"/>
            <a:r>
              <a:rPr lang="en-US" sz="2400" dirty="0" smtClean="0"/>
              <a:t>Email services use NLP techniques to identify and filter out spam messages based on content analysis.</a:t>
            </a:r>
          </a:p>
          <a:p>
            <a:pPr algn="just"/>
            <a:r>
              <a:rPr lang="en-US" sz="2400" b="1" u="sng" dirty="0" smtClean="0"/>
              <a:t>Text Summarization:</a:t>
            </a:r>
          </a:p>
          <a:p>
            <a:pPr lvl="1" algn="just"/>
            <a:r>
              <a:rPr lang="en-US" sz="2400" dirty="0" smtClean="0"/>
              <a:t>Algorithms automatically condense large documents into concise summaries while retaining key information.</a:t>
            </a:r>
          </a:p>
          <a:p>
            <a:pPr algn="just"/>
            <a:r>
              <a:rPr lang="en-US" sz="2400" b="1" u="sng" dirty="0" smtClean="0"/>
              <a:t>Information Extraction:</a:t>
            </a:r>
          </a:p>
          <a:p>
            <a:pPr lvl="1" algn="just"/>
            <a:r>
              <a:rPr lang="en-US" sz="2400" dirty="0" smtClean="0"/>
              <a:t>Extracting structured information from unstructured data sources like news articles or research papers.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184"/>
            <a:ext cx="14630400" cy="8248412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4238684" y="449449"/>
            <a:ext cx="4936688" cy="4961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/>
            <a:r>
              <a:rPr lang="en-US" sz="4000" u="sng" dirty="0" smtClean="0">
                <a:solidFill>
                  <a:srgbClr val="002060"/>
                </a:solidFill>
                <a:latin typeface="Arial Rounded MT Bold" pitchFamily="34" charset="0"/>
              </a:rPr>
              <a:t>How NLP Works - The Process of NLP</a:t>
            </a:r>
            <a:endParaRPr lang="en-US" sz="4000" u="sng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8934" y="1813302"/>
            <a:ext cx="130650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Data Preprocessing:</a:t>
            </a:r>
          </a:p>
          <a:p>
            <a:pPr lvl="1"/>
            <a:r>
              <a:rPr lang="en-US" sz="2400" dirty="0" smtClean="0"/>
              <a:t>Cleaning and preparing text data for analysis. This includes:</a:t>
            </a:r>
          </a:p>
          <a:p>
            <a:pPr lvl="2"/>
            <a:r>
              <a:rPr lang="en-US" sz="2400" dirty="0" smtClean="0"/>
              <a:t>Removing punctuation, special characters, and stop words (common words like "and," "the").</a:t>
            </a:r>
          </a:p>
          <a:p>
            <a:pPr lvl="2"/>
            <a:r>
              <a:rPr lang="en-US" sz="2400" dirty="0" smtClean="0"/>
              <a:t>Normalizing text through lowercasing or stemming (reducing words to their root form).</a:t>
            </a:r>
          </a:p>
          <a:p>
            <a:pPr lvl="2"/>
            <a:r>
              <a:rPr lang="en-US" sz="2400" dirty="0" smtClean="0"/>
              <a:t>Tokenization (breaking text into words or phrases).</a:t>
            </a:r>
          </a:p>
          <a:p>
            <a:r>
              <a:rPr lang="en-US" sz="2400" b="1" u="sng" dirty="0" smtClean="0"/>
              <a:t>Algorithm Development:</a:t>
            </a:r>
          </a:p>
          <a:p>
            <a:pPr lvl="1"/>
            <a:r>
              <a:rPr lang="en-US" sz="2400" dirty="0" smtClean="0"/>
              <a:t>Using rule-based systems or machine learning models:</a:t>
            </a:r>
          </a:p>
          <a:p>
            <a:pPr lvl="2"/>
            <a:r>
              <a:rPr lang="en-US" sz="2400" dirty="0" smtClean="0"/>
              <a:t>Rule-based systems rely on predefined linguistic rules (e.g., grammar rules).</a:t>
            </a:r>
          </a:p>
          <a:p>
            <a:pPr lvl="2"/>
            <a:r>
              <a:rPr lang="en-US" sz="2400" dirty="0" smtClean="0"/>
              <a:t>Machine learning models learn patterns from data (e.g., supervised learning with labeled datasets).</a:t>
            </a:r>
          </a:p>
          <a:p>
            <a:r>
              <a:rPr lang="en-US" sz="2400" b="1" u="sng" dirty="0" smtClean="0"/>
              <a:t>Evaluation Metrics:</a:t>
            </a:r>
          </a:p>
          <a:p>
            <a:pPr lvl="1"/>
            <a:r>
              <a:rPr lang="en-US" sz="2400" dirty="0" smtClean="0"/>
              <a:t>Precision, Recall, F1 Score, and Accuracy are used to evaluate model performance. For example:</a:t>
            </a:r>
          </a:p>
          <a:p>
            <a:pPr lvl="2"/>
            <a:r>
              <a:rPr lang="en-US" sz="2400" dirty="0" smtClean="0"/>
              <a:t>Precision = True Positives / (True Positives + False Positives)</a:t>
            </a:r>
          </a:p>
          <a:p>
            <a:pPr lvl="2"/>
            <a:r>
              <a:rPr lang="en-US" sz="2400" dirty="0" smtClean="0"/>
              <a:t>Recall = True Positives / (True Positives + False Negatives)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3314"/>
            <a:ext cx="14630400" cy="8248412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4610643" y="201383"/>
            <a:ext cx="4936688" cy="4961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/>
            <a:r>
              <a:rPr lang="en-US" sz="4000" u="sng" dirty="0" smtClean="0">
                <a:solidFill>
                  <a:srgbClr val="002060"/>
                </a:solidFill>
                <a:latin typeface="Arial Rounded MT Bold" pitchFamily="34" charset="0"/>
              </a:rPr>
              <a:t>Introduction to Regular Expressions (Regex) in NLP</a:t>
            </a:r>
          </a:p>
          <a:p>
            <a:pPr algn="ctr"/>
            <a:endParaRPr lang="en-US" sz="4000" u="sng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2956" y="1379349"/>
            <a:ext cx="939197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u="sng" dirty="0" smtClean="0"/>
              <a:t>Definition: </a:t>
            </a:r>
            <a:r>
              <a:rPr lang="en-US" sz="2400" dirty="0" smtClean="0"/>
              <a:t>A regular expression is a sequence of characters that defines a search pattern. It is used for string matching within texts.</a:t>
            </a:r>
          </a:p>
          <a:p>
            <a:pPr lvl="1"/>
            <a:r>
              <a:rPr lang="en-US" sz="2400" b="1" u="sng" dirty="0" smtClean="0"/>
              <a:t>Components of Regex:</a:t>
            </a:r>
          </a:p>
          <a:p>
            <a:pPr lvl="2"/>
            <a:r>
              <a:rPr lang="en-US" sz="2400" dirty="0" smtClean="0"/>
              <a:t>Literal Characters: Match themselves (e.g., a, b, 1).</a:t>
            </a:r>
          </a:p>
          <a:p>
            <a:pPr lvl="2"/>
            <a:r>
              <a:rPr lang="en-US" sz="2400" dirty="0" smtClean="0"/>
              <a:t>Met characters: Special characters with specific meanings (e.g., ., *, +, ?, ^, $).</a:t>
            </a:r>
          </a:p>
          <a:p>
            <a:pPr lvl="3"/>
            <a:r>
              <a:rPr lang="en-US" sz="2400" dirty="0" smtClean="0"/>
              <a:t>‘.’ matches any character except newline.</a:t>
            </a:r>
          </a:p>
          <a:p>
            <a:pPr lvl="3"/>
            <a:r>
              <a:rPr lang="en-US" sz="2400" dirty="0" smtClean="0"/>
              <a:t>‘*’ matches zero or more occurrences of the preceding element.</a:t>
            </a:r>
          </a:p>
          <a:p>
            <a:pPr lvl="3"/>
            <a:r>
              <a:rPr lang="en-US" sz="2400" dirty="0" smtClean="0"/>
              <a:t>‘+’ matches one or more occurrences of the preceding element.</a:t>
            </a:r>
          </a:p>
          <a:p>
            <a:pPr lvl="3"/>
            <a:r>
              <a:rPr lang="en-US" sz="2400" dirty="0" smtClean="0"/>
              <a:t>‘?’ makes the preceding element optional.</a:t>
            </a:r>
          </a:p>
          <a:p>
            <a:pPr lvl="3"/>
            <a:r>
              <a:rPr lang="en-US" sz="2400" dirty="0" smtClean="0"/>
              <a:t>‘^’ asserts position at the start of a line.</a:t>
            </a:r>
          </a:p>
          <a:p>
            <a:pPr lvl="3"/>
            <a:r>
              <a:rPr lang="en-US" sz="2400" dirty="0" smtClean="0"/>
              <a:t>‘$’ asserts position at the end of a line.</a:t>
            </a:r>
          </a:p>
          <a:p>
            <a:pPr lvl="3"/>
            <a:endParaRPr lang="en-US" sz="2400" dirty="0" smtClean="0"/>
          </a:p>
          <a:p>
            <a:r>
              <a:rPr lang="en-US" sz="2400" b="1" u="sng" dirty="0" smtClean="0"/>
              <a:t>Applications in NLP:</a:t>
            </a:r>
          </a:p>
          <a:p>
            <a:pPr lvl="1"/>
            <a:r>
              <a:rPr lang="en-US" sz="2400" dirty="0" smtClean="0"/>
              <a:t>Data validation (e.g., checking email formats).</a:t>
            </a:r>
          </a:p>
          <a:p>
            <a:pPr lvl="1"/>
            <a:r>
              <a:rPr lang="en-US" sz="2400" dirty="0" smtClean="0"/>
              <a:t>Text parsing and extraction (e.g., extracting dates or phone numbers).</a:t>
            </a:r>
            <a:endParaRPr lang="en-US" sz="2400" dirty="0"/>
          </a:p>
        </p:txBody>
      </p:sp>
      <p:pic>
        <p:nvPicPr>
          <p:cNvPr id="7" name="Picture 6" descr="download 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3517" y="3246074"/>
            <a:ext cx="4797947" cy="3210262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184"/>
            <a:ext cx="14630400" cy="8248412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721896" y="201382"/>
            <a:ext cx="12575650" cy="4961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/>
            <a:r>
              <a:rPr lang="en-US" sz="4000" u="sng" dirty="0" smtClean="0">
                <a:solidFill>
                  <a:srgbClr val="002060"/>
                </a:solidFill>
                <a:latin typeface="Arial Rounded MT Bold" pitchFamily="34" charset="0"/>
              </a:rPr>
              <a:t>Regular Expression Examples</a:t>
            </a:r>
            <a:endParaRPr lang="en-US" sz="4000" u="sng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3472" y="1177871"/>
            <a:ext cx="9856922" cy="1080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Here are five practical examples of regular expressions:</a:t>
            </a:r>
          </a:p>
          <a:p>
            <a:r>
              <a:rPr lang="en-US" sz="2400" b="1" u="sng" dirty="0" smtClean="0"/>
              <a:t>Example 1: Matching email addresses </a:t>
            </a:r>
            <a:r>
              <a:rPr lang="en-US" sz="2400" dirty="0" smtClean="0"/>
              <a:t>- \b[A-Za-z0-9._%+-]+@[A-Za-z0-9.-]+\.[A-</a:t>
            </a:r>
            <a:r>
              <a:rPr lang="en-US" sz="2400" dirty="0" err="1" smtClean="0"/>
              <a:t>Z|a</a:t>
            </a:r>
            <a:r>
              <a:rPr lang="en-US" sz="2400" dirty="0" smtClean="0"/>
              <a:t>-z]{2,}\b</a:t>
            </a:r>
          </a:p>
          <a:p>
            <a:r>
              <a:rPr lang="en-US" sz="2400" dirty="0" smtClean="0"/>
              <a:t>Matches valid email formats like example@example.com.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Example 2: Matching phone numbers </a:t>
            </a:r>
            <a:r>
              <a:rPr lang="en-US" sz="2400" dirty="0" smtClean="0"/>
              <a:t>- \d{3}-\d{3}-\d{4}</a:t>
            </a:r>
          </a:p>
          <a:p>
            <a:r>
              <a:rPr lang="en-US" sz="2400" dirty="0" smtClean="0"/>
              <a:t>Matches phone numbers formatted as 123-456-7890.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Example 3: Matching dates </a:t>
            </a:r>
            <a:r>
              <a:rPr lang="en-US" sz="2400" dirty="0" smtClean="0"/>
              <a:t>(MM/DD/YYYY) - (0[1-9]|1[0-2])/(0[1-9]|\d|3)/\d{4}</a:t>
            </a:r>
          </a:p>
          <a:p>
            <a:r>
              <a:rPr lang="en-US" sz="2400" dirty="0" smtClean="0"/>
              <a:t>Matches dates like 12/31/2025.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Example 4: </a:t>
            </a:r>
            <a:r>
              <a:rPr lang="en-US" sz="2400" dirty="0" smtClean="0"/>
              <a:t>Removing HTML tags - &lt;[^&gt;]+&gt; </a:t>
            </a:r>
          </a:p>
          <a:p>
            <a:r>
              <a:rPr lang="en-US" sz="2400" dirty="0" smtClean="0"/>
              <a:t>Matches any HTML tag like &lt;div&gt; or &lt;p&gt;.</a:t>
            </a:r>
          </a:p>
          <a:p>
            <a:endParaRPr lang="en-US" sz="2400" dirty="0" smtClean="0"/>
          </a:p>
          <a:p>
            <a:r>
              <a:rPr lang="en-US" sz="2400" b="1" i="1" dirty="0" smtClean="0"/>
              <a:t>Example 5: </a:t>
            </a:r>
            <a:r>
              <a:rPr lang="en-US" sz="2400" dirty="0" smtClean="0"/>
              <a:t>Finding all words starting with 'un‘ - \bun\w+</a:t>
            </a:r>
          </a:p>
          <a:p>
            <a:r>
              <a:rPr lang="en-US" sz="2400" dirty="0" smtClean="0"/>
              <a:t>Matches words like unhappy, undo, etc.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9" name="Picture 8" descr="1_u4NbHgv-TzEE5G6xXnHCbQ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1524" y="3812583"/>
            <a:ext cx="5407375" cy="3719594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3314"/>
            <a:ext cx="14630400" cy="8248412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2448732" y="201381"/>
            <a:ext cx="10058400" cy="4961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/>
            <a:r>
              <a:rPr lang="en-US" sz="4000" u="sng" dirty="0" smtClean="0">
                <a:latin typeface="Arial Rounded MT Bold" pitchFamily="34" charset="0"/>
              </a:rPr>
              <a:t>Tokenization in NLP</a:t>
            </a:r>
            <a:endParaRPr lang="en-US" sz="4000" u="sng" dirty="0"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8970" y="1875295"/>
            <a:ext cx="85550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What is Tokenization?</a:t>
            </a:r>
          </a:p>
          <a:p>
            <a:r>
              <a:rPr lang="en-US" sz="2400" dirty="0" smtClean="0"/>
              <a:t>Tokenization is the process of breaking down text into smaller units called tokens. These tokens can be words, phrases, symbols, or other meaningful elements.</a:t>
            </a:r>
          </a:p>
          <a:p>
            <a:r>
              <a:rPr lang="en-US" sz="2400" b="1" u="sng" dirty="0" smtClean="0"/>
              <a:t>Importance:</a:t>
            </a:r>
          </a:p>
          <a:p>
            <a:r>
              <a:rPr lang="en-US" sz="2400" dirty="0" smtClean="0"/>
              <a:t>It simplifies text analysis by converting unstructured text into structured data that can be easily processed by algorithms.</a:t>
            </a:r>
          </a:p>
          <a:p>
            <a:pPr>
              <a:lnSpc>
                <a:spcPct val="150000"/>
              </a:lnSpc>
            </a:pPr>
            <a:r>
              <a:rPr lang="en-US" sz="2400" b="1" u="sng" dirty="0" smtClean="0"/>
              <a:t>Types of Tokens:</a:t>
            </a:r>
          </a:p>
          <a:p>
            <a:r>
              <a:rPr lang="en-US" sz="2400" dirty="0" smtClean="0"/>
              <a:t>Words | Sentences | Sub words | Characters</a:t>
            </a:r>
          </a:p>
          <a:p>
            <a:pPr>
              <a:lnSpc>
                <a:spcPct val="150000"/>
              </a:lnSpc>
            </a:pPr>
            <a:r>
              <a:rPr lang="en-US" sz="2400" b="1" u="sng" dirty="0" smtClean="0"/>
              <a:t>Challenges:</a:t>
            </a:r>
          </a:p>
          <a:p>
            <a:r>
              <a:rPr lang="en-US" sz="2400" dirty="0" smtClean="0"/>
              <a:t>Handling punctuation, contractions (e.g., "don't" vs. "do not"), and special characters can complicate tokenization.</a:t>
            </a:r>
          </a:p>
          <a:p>
            <a:endParaRPr lang="en-US" sz="2400" b="1" u="sng" dirty="0" smtClean="0"/>
          </a:p>
          <a:p>
            <a:endParaRPr lang="en-US" sz="2400" dirty="0"/>
          </a:p>
        </p:txBody>
      </p:sp>
      <p:pic>
        <p:nvPicPr>
          <p:cNvPr id="6" name="Picture 5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489" y="2944677"/>
            <a:ext cx="4756536" cy="3587671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48412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3657601" y="449449"/>
            <a:ext cx="6664270" cy="4961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r>
              <a:rPr lang="en-US" sz="4000" u="sng" dirty="0" smtClean="0">
                <a:latin typeface="Arial Rounded MT Bold" pitchFamily="34" charset="0"/>
              </a:rPr>
              <a:t>Types of Tokenizers</a:t>
            </a:r>
            <a:endParaRPr lang="en-US" sz="4000" u="sng" dirty="0"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6461" y="1642209"/>
            <a:ext cx="71137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1. Word </a:t>
            </a:r>
            <a:r>
              <a:rPr lang="en-US" sz="2400" b="1" u="sng" dirty="0" err="1" smtClean="0"/>
              <a:t>Tokenizer</a:t>
            </a:r>
            <a:r>
              <a:rPr lang="en-US" sz="2400" b="1" u="sng" dirty="0" smtClean="0"/>
              <a:t>:</a:t>
            </a:r>
          </a:p>
          <a:p>
            <a:r>
              <a:rPr lang="en-US" sz="2400" dirty="0" smtClean="0"/>
              <a:t>Splits text into individual words based on spaces and punctuation.</a:t>
            </a:r>
          </a:p>
          <a:p>
            <a:r>
              <a:rPr lang="en-US" sz="2400" dirty="0" smtClean="0"/>
              <a:t>Example using Python's NLTK library:</a:t>
            </a:r>
          </a:p>
          <a:p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8276095" y="1487837"/>
            <a:ext cx="5873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200" dirty="0"/>
          </a:p>
        </p:txBody>
      </p:sp>
      <p:sp>
        <p:nvSpPr>
          <p:cNvPr id="11" name="TextBox 10"/>
          <p:cNvSpPr txBox="1"/>
          <p:nvPr/>
        </p:nvSpPr>
        <p:spPr>
          <a:xfrm>
            <a:off x="7795647" y="518643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461" y="4309268"/>
            <a:ext cx="67044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2. Sentence </a:t>
            </a:r>
            <a:r>
              <a:rPr lang="en-US" sz="2400" b="1" u="sng" dirty="0" err="1" smtClean="0"/>
              <a:t>Tokenizer</a:t>
            </a:r>
            <a:r>
              <a:rPr lang="en-US" sz="2400" b="1" u="sng" dirty="0" smtClean="0"/>
              <a:t>:</a:t>
            </a:r>
          </a:p>
          <a:p>
            <a:r>
              <a:rPr lang="en-US" sz="2400" dirty="0" smtClean="0"/>
              <a:t>Splits text into sentences based on punctuation marks like periods, exclamation points, etc.</a:t>
            </a:r>
          </a:p>
          <a:p>
            <a:r>
              <a:rPr lang="en-US" sz="2400" dirty="0" smtClean="0"/>
              <a:t>Example using NLTK: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7795647" y="1487837"/>
            <a:ext cx="5805520" cy="2616585"/>
            <a:chOff x="0" y="-47625"/>
            <a:chExt cx="1813514" cy="376953"/>
          </a:xfrm>
        </p:grpSpPr>
        <p:sp>
          <p:nvSpPr>
            <p:cNvPr id="15" name="TextBox 14"/>
            <p:cNvSpPr txBox="1"/>
            <p:nvPr/>
          </p:nvSpPr>
          <p:spPr>
            <a:xfrm>
              <a:off x="0" y="-47625"/>
              <a:ext cx="1755418" cy="376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58096" y="-47625"/>
              <a:ext cx="1755418" cy="329328"/>
            </a:xfrm>
            <a:custGeom>
              <a:avLst/>
              <a:gdLst/>
              <a:ahLst/>
              <a:cxnLst/>
              <a:rect l="l" t="t" r="r" b="b"/>
              <a:pathLst>
                <a:path w="1755418" h="329328">
                  <a:moveTo>
                    <a:pt x="45301" y="0"/>
                  </a:moveTo>
                  <a:lnTo>
                    <a:pt x="1710117" y="0"/>
                  </a:lnTo>
                  <a:cubicBezTo>
                    <a:pt x="1735136" y="0"/>
                    <a:pt x="1755418" y="20282"/>
                    <a:pt x="1755418" y="45301"/>
                  </a:cubicBezTo>
                  <a:lnTo>
                    <a:pt x="1755418" y="284027"/>
                  </a:lnTo>
                  <a:cubicBezTo>
                    <a:pt x="1755418" y="309046"/>
                    <a:pt x="1735136" y="329328"/>
                    <a:pt x="1710117" y="329328"/>
                  </a:cubicBezTo>
                  <a:lnTo>
                    <a:pt x="45301" y="329328"/>
                  </a:lnTo>
                  <a:cubicBezTo>
                    <a:pt x="20282" y="329328"/>
                    <a:pt x="0" y="309046"/>
                    <a:pt x="0" y="284027"/>
                  </a:cubicBezTo>
                  <a:lnTo>
                    <a:pt x="0" y="45301"/>
                  </a:lnTo>
                  <a:cubicBezTo>
                    <a:pt x="0" y="20282"/>
                    <a:pt x="20282" y="0"/>
                    <a:pt x="45301" y="0"/>
                  </a:cubicBezTo>
                  <a:close/>
                </a:path>
              </a:pathLst>
            </a:custGeom>
            <a:solidFill>
              <a:srgbClr val="FFE4E1"/>
            </a:solidFill>
          </p:spPr>
        </p:sp>
      </p:grpSp>
      <p:sp>
        <p:nvSpPr>
          <p:cNvPr id="16" name="TextBox 15"/>
          <p:cNvSpPr txBox="1"/>
          <p:nvPr/>
        </p:nvSpPr>
        <p:spPr>
          <a:xfrm>
            <a:off x="8276095" y="1642209"/>
            <a:ext cx="513909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from </a:t>
            </a:r>
            <a:r>
              <a:rPr lang="en-US" sz="2200" dirty="0" err="1" smtClean="0"/>
              <a:t>nltk.tokenize</a:t>
            </a:r>
            <a:r>
              <a:rPr lang="en-US" sz="2200" dirty="0" smtClean="0"/>
              <a:t> import </a:t>
            </a:r>
            <a:r>
              <a:rPr lang="en-US" sz="2200" dirty="0" err="1" smtClean="0"/>
              <a:t>word_tokenize</a:t>
            </a:r>
            <a:endParaRPr lang="en-US" sz="2200" dirty="0" smtClean="0"/>
          </a:p>
          <a:p>
            <a:r>
              <a:rPr lang="en-US" sz="2200" dirty="0" smtClean="0"/>
              <a:t>text = "Hello world! This is NLP."</a:t>
            </a:r>
          </a:p>
          <a:p>
            <a:r>
              <a:rPr lang="en-US" sz="2200" dirty="0" smtClean="0"/>
              <a:t>tokens = </a:t>
            </a:r>
            <a:r>
              <a:rPr lang="en-US" sz="2200" dirty="0" err="1" smtClean="0"/>
              <a:t>word_tokenize</a:t>
            </a:r>
            <a:r>
              <a:rPr lang="en-US" sz="2200" dirty="0" smtClean="0"/>
              <a:t>(text)</a:t>
            </a:r>
          </a:p>
          <a:p>
            <a:r>
              <a:rPr lang="en-US" sz="2200" dirty="0" smtClean="0"/>
              <a:t># Output: ['Hello', 'world', '!', 'This', 'is', 'NLP', '.']</a:t>
            </a:r>
          </a:p>
          <a:p>
            <a:endParaRPr lang="en-US" sz="2200" dirty="0" smtClean="0"/>
          </a:p>
          <a:p>
            <a:endParaRPr lang="en-US" sz="22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7795647" y="4309268"/>
            <a:ext cx="5805520" cy="2616585"/>
            <a:chOff x="0" y="-47625"/>
            <a:chExt cx="1813514" cy="376953"/>
          </a:xfrm>
        </p:grpSpPr>
        <p:sp>
          <p:nvSpPr>
            <p:cNvPr id="18" name="TextBox 17"/>
            <p:cNvSpPr txBox="1"/>
            <p:nvPr/>
          </p:nvSpPr>
          <p:spPr>
            <a:xfrm>
              <a:off x="0" y="-47625"/>
              <a:ext cx="1755418" cy="376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9" name="Freeform 18"/>
            <p:cNvSpPr/>
            <p:nvPr/>
          </p:nvSpPr>
          <p:spPr>
            <a:xfrm>
              <a:off x="58096" y="-47625"/>
              <a:ext cx="1755418" cy="329328"/>
            </a:xfrm>
            <a:custGeom>
              <a:avLst/>
              <a:gdLst/>
              <a:ahLst/>
              <a:cxnLst/>
              <a:rect l="l" t="t" r="r" b="b"/>
              <a:pathLst>
                <a:path w="1755418" h="329328">
                  <a:moveTo>
                    <a:pt x="45301" y="0"/>
                  </a:moveTo>
                  <a:lnTo>
                    <a:pt x="1710117" y="0"/>
                  </a:lnTo>
                  <a:cubicBezTo>
                    <a:pt x="1735136" y="0"/>
                    <a:pt x="1755418" y="20282"/>
                    <a:pt x="1755418" y="45301"/>
                  </a:cubicBezTo>
                  <a:lnTo>
                    <a:pt x="1755418" y="284027"/>
                  </a:lnTo>
                  <a:cubicBezTo>
                    <a:pt x="1755418" y="309046"/>
                    <a:pt x="1735136" y="329328"/>
                    <a:pt x="1710117" y="329328"/>
                  </a:cubicBezTo>
                  <a:lnTo>
                    <a:pt x="45301" y="329328"/>
                  </a:lnTo>
                  <a:cubicBezTo>
                    <a:pt x="20282" y="329328"/>
                    <a:pt x="0" y="309046"/>
                    <a:pt x="0" y="284027"/>
                  </a:cubicBezTo>
                  <a:lnTo>
                    <a:pt x="0" y="45301"/>
                  </a:lnTo>
                  <a:cubicBezTo>
                    <a:pt x="0" y="20282"/>
                    <a:pt x="20282" y="0"/>
                    <a:pt x="45301" y="0"/>
                  </a:cubicBezTo>
                  <a:close/>
                </a:path>
              </a:pathLst>
            </a:custGeom>
            <a:solidFill>
              <a:srgbClr val="FFE4E1"/>
            </a:solidFill>
          </p:spPr>
        </p:sp>
      </p:grpSp>
      <p:sp>
        <p:nvSpPr>
          <p:cNvPr id="20" name="TextBox 19"/>
          <p:cNvSpPr txBox="1"/>
          <p:nvPr/>
        </p:nvSpPr>
        <p:spPr>
          <a:xfrm>
            <a:off x="8276095" y="4471610"/>
            <a:ext cx="56195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from </a:t>
            </a:r>
            <a:r>
              <a:rPr lang="en-US" sz="2200" dirty="0" err="1" smtClean="0"/>
              <a:t>nltk.tokenize</a:t>
            </a:r>
            <a:r>
              <a:rPr lang="en-US" sz="2200" dirty="0" smtClean="0"/>
              <a:t> import </a:t>
            </a:r>
            <a:r>
              <a:rPr lang="en-US" sz="2200" dirty="0" err="1" smtClean="0"/>
              <a:t>sent_tokenize</a:t>
            </a:r>
            <a:endParaRPr lang="en-US" sz="2200" dirty="0" smtClean="0"/>
          </a:p>
          <a:p>
            <a:r>
              <a:rPr lang="en-US" sz="2200" dirty="0" smtClean="0"/>
              <a:t>text = "Hello world! This is NLP. Let's learn."</a:t>
            </a:r>
          </a:p>
          <a:p>
            <a:r>
              <a:rPr lang="en-US" sz="2200" dirty="0" smtClean="0"/>
              <a:t>sentences = </a:t>
            </a:r>
            <a:r>
              <a:rPr lang="en-US" sz="2200" dirty="0" err="1" smtClean="0"/>
              <a:t>sent_tokenize</a:t>
            </a:r>
            <a:r>
              <a:rPr lang="en-US" sz="2200" dirty="0" smtClean="0"/>
              <a:t>(text)</a:t>
            </a:r>
          </a:p>
          <a:p>
            <a:r>
              <a:rPr lang="en-US" sz="2200" dirty="0" smtClean="0"/>
              <a:t># Output: ['Hello world!', 'This is NLP.', "Let's learn."]</a:t>
            </a:r>
          </a:p>
          <a:p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14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5440"/>
            <a:ext cx="14630400" cy="8248412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3456124" y="446135"/>
            <a:ext cx="6664270" cy="4961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r>
              <a:rPr lang="en-US" sz="4400" u="sng" dirty="0" smtClean="0">
                <a:latin typeface="Arial Rounded MT Bold" pitchFamily="34" charset="0"/>
              </a:rPr>
              <a:t>Types of Tokenizers</a:t>
            </a:r>
            <a:endParaRPr lang="en-US" sz="4400" u="sng" dirty="0"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2218" y="1472338"/>
            <a:ext cx="63078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3. Regular Expression </a:t>
            </a:r>
            <a:r>
              <a:rPr lang="en-US" sz="2400" b="1" u="sng" dirty="0" err="1" smtClean="0"/>
              <a:t>Tokenizer</a:t>
            </a:r>
            <a:r>
              <a:rPr lang="en-US" sz="2400" b="1" u="sng" dirty="0" smtClean="0"/>
              <a:t>:</a:t>
            </a:r>
          </a:p>
          <a:p>
            <a:r>
              <a:rPr lang="en-US" sz="2400" dirty="0" smtClean="0"/>
              <a:t>Uses </a:t>
            </a:r>
            <a:r>
              <a:rPr lang="en-US" sz="2400" dirty="0" err="1" smtClean="0"/>
              <a:t>regex</a:t>
            </a:r>
            <a:r>
              <a:rPr lang="en-US" sz="2400" dirty="0" smtClean="0"/>
              <a:t> patterns to define how tokens are split from the text.</a:t>
            </a:r>
          </a:p>
          <a:p>
            <a:r>
              <a:rPr lang="en-US" sz="2400" dirty="0" smtClean="0"/>
              <a:t>Example using Python's re module: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795647" y="1487838"/>
            <a:ext cx="5805520" cy="2286000"/>
            <a:chOff x="0" y="-47625"/>
            <a:chExt cx="1813514" cy="376953"/>
          </a:xfrm>
        </p:grpSpPr>
        <p:sp>
          <p:nvSpPr>
            <p:cNvPr id="7" name="TextBox 6"/>
            <p:cNvSpPr txBox="1"/>
            <p:nvPr/>
          </p:nvSpPr>
          <p:spPr>
            <a:xfrm>
              <a:off x="0" y="-47625"/>
              <a:ext cx="1755418" cy="376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8" name="Freeform 7"/>
            <p:cNvSpPr/>
            <p:nvPr/>
          </p:nvSpPr>
          <p:spPr>
            <a:xfrm>
              <a:off x="58096" y="-47625"/>
              <a:ext cx="1755418" cy="329328"/>
            </a:xfrm>
            <a:custGeom>
              <a:avLst/>
              <a:gdLst/>
              <a:ahLst/>
              <a:cxnLst/>
              <a:rect l="l" t="t" r="r" b="b"/>
              <a:pathLst>
                <a:path w="1755418" h="329328">
                  <a:moveTo>
                    <a:pt x="45301" y="0"/>
                  </a:moveTo>
                  <a:lnTo>
                    <a:pt x="1710117" y="0"/>
                  </a:lnTo>
                  <a:cubicBezTo>
                    <a:pt x="1735136" y="0"/>
                    <a:pt x="1755418" y="20282"/>
                    <a:pt x="1755418" y="45301"/>
                  </a:cubicBezTo>
                  <a:lnTo>
                    <a:pt x="1755418" y="284027"/>
                  </a:lnTo>
                  <a:cubicBezTo>
                    <a:pt x="1755418" y="309046"/>
                    <a:pt x="1735136" y="329328"/>
                    <a:pt x="1710117" y="329328"/>
                  </a:cubicBezTo>
                  <a:lnTo>
                    <a:pt x="45301" y="329328"/>
                  </a:lnTo>
                  <a:cubicBezTo>
                    <a:pt x="20282" y="329328"/>
                    <a:pt x="0" y="309046"/>
                    <a:pt x="0" y="284027"/>
                  </a:cubicBezTo>
                  <a:lnTo>
                    <a:pt x="0" y="45301"/>
                  </a:lnTo>
                  <a:cubicBezTo>
                    <a:pt x="0" y="20282"/>
                    <a:pt x="20282" y="0"/>
                    <a:pt x="45301" y="0"/>
                  </a:cubicBezTo>
                  <a:close/>
                </a:path>
              </a:pathLst>
            </a:custGeom>
            <a:solidFill>
              <a:srgbClr val="FFE4E1"/>
            </a:solidFill>
          </p:spPr>
        </p:sp>
      </p:grpSp>
      <p:sp>
        <p:nvSpPr>
          <p:cNvPr id="9" name="TextBox 8"/>
          <p:cNvSpPr txBox="1"/>
          <p:nvPr/>
        </p:nvSpPr>
        <p:spPr>
          <a:xfrm>
            <a:off x="8198604" y="1699916"/>
            <a:ext cx="501990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import re</a:t>
            </a:r>
          </a:p>
          <a:p>
            <a:r>
              <a:rPr lang="en-US" sz="2200" dirty="0" smtClean="0"/>
              <a:t>text = "Hello world! This is NLP."</a:t>
            </a:r>
          </a:p>
          <a:p>
            <a:r>
              <a:rPr lang="en-US" sz="2200" dirty="0" smtClean="0"/>
              <a:t>tokens = </a:t>
            </a:r>
            <a:r>
              <a:rPr lang="en-US" sz="2200" dirty="0" err="1" smtClean="0"/>
              <a:t>re.findall</a:t>
            </a:r>
            <a:r>
              <a:rPr lang="en-US" sz="2200" dirty="0" smtClean="0"/>
              <a:t>(r'\w+', text)</a:t>
            </a:r>
          </a:p>
          <a:p>
            <a:r>
              <a:rPr lang="en-US" sz="2200" dirty="0" smtClean="0"/>
              <a:t># Output: ['Hello', 'world', 'This', 'is', 'NLP']</a:t>
            </a:r>
          </a:p>
          <a:p>
            <a:endParaRPr lang="en-US" sz="2200" dirty="0"/>
          </a:p>
        </p:txBody>
      </p:sp>
      <p:sp>
        <p:nvSpPr>
          <p:cNvPr id="10" name="TextBox 9"/>
          <p:cNvSpPr txBox="1"/>
          <p:nvPr/>
        </p:nvSpPr>
        <p:spPr>
          <a:xfrm>
            <a:off x="473540" y="4475747"/>
            <a:ext cx="131276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4. </a:t>
            </a:r>
            <a:r>
              <a:rPr lang="en-US" sz="2400" b="1" u="sng" dirty="0" err="1" smtClean="0"/>
              <a:t>Subword</a:t>
            </a:r>
            <a:r>
              <a:rPr lang="en-US" sz="2400" b="1" u="sng" dirty="0" smtClean="0"/>
              <a:t> </a:t>
            </a:r>
            <a:r>
              <a:rPr lang="en-US" sz="2400" b="1" u="sng" dirty="0" err="1" smtClean="0"/>
              <a:t>Tokenizer</a:t>
            </a:r>
            <a:r>
              <a:rPr lang="en-US" sz="2400" b="1" u="sng" dirty="0" smtClean="0"/>
              <a:t>:</a:t>
            </a:r>
          </a:p>
          <a:p>
            <a:pPr lvl="1"/>
            <a:r>
              <a:rPr lang="en-US" sz="2400" dirty="0" smtClean="0"/>
              <a:t>Splits words into </a:t>
            </a:r>
            <a:r>
              <a:rPr lang="en-US" sz="2400" dirty="0" err="1" smtClean="0"/>
              <a:t>subwords</a:t>
            </a:r>
            <a:r>
              <a:rPr lang="en-US" sz="2400" dirty="0" smtClean="0"/>
              <a:t> to handle unknown words effectively. Often used in neural network models like BERT and GPT.</a:t>
            </a:r>
          </a:p>
          <a:p>
            <a:pPr lvl="1"/>
            <a:r>
              <a:rPr lang="en-US" sz="2400" dirty="0" smtClean="0"/>
              <a:t>Example with Byte Pair Encoding (BPE):</a:t>
            </a:r>
          </a:p>
          <a:p>
            <a:pPr lvl="2"/>
            <a:r>
              <a:rPr lang="en-US" sz="2400" dirty="0" smtClean="0"/>
              <a:t>The word “unhappiness” could be tokenized as ["un", "</a:t>
            </a:r>
            <a:r>
              <a:rPr lang="en-US" sz="2400" dirty="0" err="1" smtClean="0"/>
              <a:t>happi</a:t>
            </a:r>
            <a:r>
              <a:rPr lang="en-US" sz="2400" dirty="0" smtClean="0"/>
              <a:t>", "</a:t>
            </a:r>
            <a:r>
              <a:rPr lang="en-US" sz="2400" dirty="0" err="1" smtClean="0"/>
              <a:t>ness</a:t>
            </a:r>
            <a:r>
              <a:rPr lang="en-US" sz="2400" dirty="0" smtClean="0"/>
              <a:t>"].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14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5440"/>
            <a:ext cx="14630400" cy="8248412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3456124" y="446135"/>
            <a:ext cx="6664270" cy="4961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r>
              <a:rPr lang="en-US" sz="4400" u="sng" dirty="0" err="1" smtClean="0">
                <a:latin typeface="Arial Rounded MT Bold" pitchFamily="34" charset="0"/>
              </a:rPr>
              <a:t>Tokenizer</a:t>
            </a:r>
            <a:r>
              <a:rPr lang="en-US" sz="4400" u="sng" dirty="0" smtClean="0">
                <a:latin typeface="Arial Rounded MT Bold" pitchFamily="34" charset="0"/>
              </a:rPr>
              <a:t> Examples in Detail</a:t>
            </a:r>
            <a:endParaRPr lang="en-US" sz="4400" u="sng" dirty="0"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4693" y="1472338"/>
            <a:ext cx="7539924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u="sng" dirty="0" smtClean="0"/>
              <a:t>1. Word </a:t>
            </a:r>
            <a:r>
              <a:rPr lang="en-US" sz="2300" b="1" u="sng" dirty="0" err="1" smtClean="0"/>
              <a:t>Tokenizer</a:t>
            </a:r>
            <a:r>
              <a:rPr lang="en-US" sz="2300" b="1" u="sng" dirty="0" smtClean="0"/>
              <a:t> Example:</a:t>
            </a:r>
          </a:p>
          <a:p>
            <a:r>
              <a:rPr lang="en-US" sz="2300" dirty="0" smtClean="0"/>
              <a:t>Input Text:</a:t>
            </a:r>
          </a:p>
          <a:p>
            <a:r>
              <a:rPr lang="en-US" sz="2300" dirty="0" smtClean="0"/>
              <a:t>"The quick brown fox jumps over the lazy dog.“</a:t>
            </a:r>
          </a:p>
          <a:p>
            <a:r>
              <a:rPr lang="en-US" sz="2300" dirty="0" smtClean="0"/>
              <a:t>Output Tokens:</a:t>
            </a:r>
          </a:p>
          <a:p>
            <a:r>
              <a:rPr lang="en-US" sz="2300" dirty="0" smtClean="0"/>
              <a:t>["The", "quick", "brown", "fox", "jumps", "over", "the", "lazy", "dog", "."]</a:t>
            </a:r>
          </a:p>
          <a:p>
            <a:endParaRPr lang="en-US" sz="2300" dirty="0" smtClean="0"/>
          </a:p>
          <a:p>
            <a:r>
              <a:rPr lang="en-US" sz="2300" b="1" u="sng" dirty="0" smtClean="0"/>
              <a:t>2. Sentence </a:t>
            </a:r>
            <a:r>
              <a:rPr lang="en-US" sz="2300" b="1" u="sng" dirty="0" err="1" smtClean="0"/>
              <a:t>Tokenizer</a:t>
            </a:r>
            <a:r>
              <a:rPr lang="en-US" sz="2300" b="1" u="sng" dirty="0" smtClean="0"/>
              <a:t> Example:</a:t>
            </a:r>
          </a:p>
          <a:p>
            <a:r>
              <a:rPr lang="en-US" sz="2300" dirty="0" smtClean="0"/>
              <a:t>Input Text:</a:t>
            </a:r>
          </a:p>
          <a:p>
            <a:r>
              <a:rPr lang="en-US" sz="2300" dirty="0" smtClean="0"/>
              <a:t>"This is sentence one. This is sentence two."</a:t>
            </a:r>
          </a:p>
          <a:p>
            <a:r>
              <a:rPr lang="en-US" sz="2300" dirty="0" smtClean="0"/>
              <a:t>Output Sentences:</a:t>
            </a:r>
          </a:p>
          <a:p>
            <a:r>
              <a:rPr lang="en-US" sz="2300" dirty="0" smtClean="0"/>
              <a:t>["This is sentence one.", "This is sentence two."]</a:t>
            </a:r>
          </a:p>
          <a:p>
            <a:r>
              <a:rPr lang="en-US" sz="2300" b="1" u="sng" dirty="0" smtClean="0"/>
              <a:t>3. Regex </a:t>
            </a:r>
            <a:r>
              <a:rPr lang="en-US" sz="2300" b="1" u="sng" dirty="0" err="1" smtClean="0"/>
              <a:t>Tokenizer</a:t>
            </a:r>
            <a:r>
              <a:rPr lang="en-US" sz="2300" b="1" u="sng" dirty="0" smtClean="0"/>
              <a:t> Example:</a:t>
            </a:r>
          </a:p>
          <a:p>
            <a:r>
              <a:rPr lang="en-US" sz="2300" dirty="0" smtClean="0"/>
              <a:t>Pattern Used: \w+ </a:t>
            </a:r>
          </a:p>
          <a:p>
            <a:r>
              <a:rPr lang="en-US" sz="2300" dirty="0" smtClean="0"/>
              <a:t>Input Text:</a:t>
            </a:r>
          </a:p>
          <a:p>
            <a:r>
              <a:rPr lang="en-US" sz="2300" dirty="0" smtClean="0"/>
              <a:t>"Hello, world!"</a:t>
            </a:r>
          </a:p>
          <a:p>
            <a:r>
              <a:rPr lang="en-US" sz="2300" dirty="0" smtClean="0"/>
              <a:t>Output Tokens:</a:t>
            </a:r>
          </a:p>
          <a:p>
            <a:r>
              <a:rPr lang="en-US" sz="2300" dirty="0" smtClean="0"/>
              <a:t>["Hello", "world"]</a:t>
            </a:r>
          </a:p>
          <a:p>
            <a:endParaRPr lang="en-US" sz="2300" dirty="0" smtClean="0"/>
          </a:p>
          <a:p>
            <a:endParaRPr lang="en-US" sz="2300" dirty="0" smtClean="0"/>
          </a:p>
          <a:p>
            <a:endParaRPr lang="en-US" sz="2300" dirty="0" smtClean="0"/>
          </a:p>
          <a:p>
            <a:endParaRPr lang="en-US" sz="2300" dirty="0"/>
          </a:p>
        </p:txBody>
      </p:sp>
      <p:sp>
        <p:nvSpPr>
          <p:cNvPr id="12" name="TextBox 11"/>
          <p:cNvSpPr txBox="1"/>
          <p:nvPr/>
        </p:nvSpPr>
        <p:spPr>
          <a:xfrm>
            <a:off x="8555064" y="1906292"/>
            <a:ext cx="6323308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300" dirty="0" smtClean="0"/>
          </a:p>
          <a:p>
            <a:r>
              <a:rPr lang="en-US" sz="2300" b="1" u="sng" dirty="0" smtClean="0"/>
              <a:t>4. </a:t>
            </a:r>
            <a:r>
              <a:rPr lang="en-US" sz="2300" b="1" u="sng" dirty="0" err="1" smtClean="0"/>
              <a:t>Subword</a:t>
            </a:r>
            <a:r>
              <a:rPr lang="en-US" sz="2300" b="1" u="sng" dirty="0" smtClean="0"/>
              <a:t> </a:t>
            </a:r>
            <a:r>
              <a:rPr lang="en-US" sz="2300" b="1" u="sng" dirty="0" err="1" smtClean="0"/>
              <a:t>Tokenizer</a:t>
            </a:r>
            <a:r>
              <a:rPr lang="en-US" sz="2300" b="1" u="sng" dirty="0" smtClean="0"/>
              <a:t> Example:</a:t>
            </a:r>
          </a:p>
          <a:p>
            <a:r>
              <a:rPr lang="en-US" sz="2300" dirty="0" smtClean="0"/>
              <a:t>Input Word: "unhappiness"</a:t>
            </a:r>
          </a:p>
          <a:p>
            <a:r>
              <a:rPr lang="en-US" sz="2300" dirty="0" smtClean="0"/>
              <a:t>Output </a:t>
            </a:r>
            <a:r>
              <a:rPr lang="en-US" sz="2300" dirty="0" err="1" smtClean="0"/>
              <a:t>Subwords</a:t>
            </a:r>
            <a:r>
              <a:rPr lang="en-US" sz="2300" dirty="0" smtClean="0"/>
              <a:t>:</a:t>
            </a:r>
          </a:p>
          <a:p>
            <a:r>
              <a:rPr lang="en-US" sz="2300" dirty="0" smtClean="0"/>
              <a:t>["un", "</a:t>
            </a:r>
            <a:r>
              <a:rPr lang="en-US" sz="2300" dirty="0" err="1" smtClean="0"/>
              <a:t>happi</a:t>
            </a:r>
            <a:r>
              <a:rPr lang="en-US" sz="2300" dirty="0" smtClean="0"/>
              <a:t>", "</a:t>
            </a:r>
            <a:r>
              <a:rPr lang="en-US" sz="2300" dirty="0" err="1" smtClean="0"/>
              <a:t>ness</a:t>
            </a:r>
            <a:r>
              <a:rPr lang="en-US" sz="2300" dirty="0" smtClean="0"/>
              <a:t>"]</a:t>
            </a:r>
          </a:p>
          <a:p>
            <a:endParaRPr lang="en-US" sz="2300" dirty="0" smtClean="0"/>
          </a:p>
          <a:p>
            <a:r>
              <a:rPr lang="en-US" sz="2300" b="1" u="sng" dirty="0" smtClean="0"/>
              <a:t>5. Character </a:t>
            </a:r>
            <a:r>
              <a:rPr lang="en-US" sz="2300" b="1" u="sng" dirty="0" err="1" smtClean="0"/>
              <a:t>Tokenizer</a:t>
            </a:r>
            <a:r>
              <a:rPr lang="en-US" sz="2300" b="1" u="sng" dirty="0" smtClean="0"/>
              <a:t> Example:</a:t>
            </a:r>
          </a:p>
          <a:p>
            <a:r>
              <a:rPr lang="en-US" sz="2300" dirty="0" smtClean="0"/>
              <a:t>Input Text:</a:t>
            </a:r>
          </a:p>
          <a:p>
            <a:r>
              <a:rPr lang="en-US" sz="2300" dirty="0" smtClean="0"/>
              <a:t>"Hi!"</a:t>
            </a:r>
          </a:p>
          <a:p>
            <a:r>
              <a:rPr lang="en-US" sz="2300" dirty="0" smtClean="0"/>
              <a:t>Output Characters:</a:t>
            </a:r>
          </a:p>
          <a:p>
            <a:r>
              <a:rPr lang="en-US" sz="2300" dirty="0" smtClean="0"/>
              <a:t>["H", "</a:t>
            </a:r>
            <a:r>
              <a:rPr lang="en-US" sz="2300" dirty="0" err="1" smtClean="0"/>
              <a:t>i</a:t>
            </a:r>
            <a:r>
              <a:rPr lang="en-US" sz="2300" dirty="0" smtClean="0"/>
              <a:t>", "!"]</a:t>
            </a:r>
          </a:p>
          <a:p>
            <a:endParaRPr lang="en-US" sz="2300" dirty="0" smtClean="0"/>
          </a:p>
          <a:p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3314"/>
            <a:ext cx="14630400" cy="8248412"/>
          </a:xfrm>
          <a:prstGeom prst="rect">
            <a:avLst/>
          </a:prstGeom>
          <a:solidFill>
            <a:srgbClr val="FAFAFA">
              <a:alpha val="75000"/>
            </a:srgbClr>
          </a:solidFill>
          <a:ln/>
        </p:spPr>
      </p:sp>
      <p:sp>
        <p:nvSpPr>
          <p:cNvPr id="7" name="TextBox 6"/>
          <p:cNvSpPr txBox="1"/>
          <p:nvPr/>
        </p:nvSpPr>
        <p:spPr>
          <a:xfrm>
            <a:off x="3828081" y="2572719"/>
            <a:ext cx="65247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u="sng" dirty="0" smtClean="0">
                <a:solidFill>
                  <a:srgbClr val="002060"/>
                </a:solidFill>
                <a:latin typeface="MV Boli" pitchFamily="2" charset="0"/>
                <a:cs typeface="MV Boli" pitchFamily="2" charset="0"/>
              </a:rPr>
              <a:t>THANK YOU</a:t>
            </a:r>
          </a:p>
          <a:p>
            <a:pPr algn="ctr"/>
            <a:r>
              <a:rPr lang="en-US" sz="5400" b="1" u="sng" dirty="0" smtClean="0">
                <a:solidFill>
                  <a:srgbClr val="002060"/>
                </a:solidFill>
                <a:latin typeface="MV Boli" pitchFamily="2" charset="0"/>
                <a:cs typeface="MV Boli" pitchFamily="2" charset="0"/>
              </a:rPr>
              <a:t>for your </a:t>
            </a:r>
          </a:p>
          <a:p>
            <a:pPr algn="ctr"/>
            <a:r>
              <a:rPr lang="en-US" sz="5400" b="1" u="sng" dirty="0" smtClean="0">
                <a:solidFill>
                  <a:srgbClr val="002060"/>
                </a:solidFill>
                <a:latin typeface="MV Boli" pitchFamily="2" charset="0"/>
                <a:cs typeface="MV Boli" pitchFamily="2" charset="0"/>
              </a:rPr>
              <a:t>attention!</a:t>
            </a:r>
            <a:endParaRPr lang="en-US" sz="5400" b="1" u="sng" dirty="0">
              <a:solidFill>
                <a:srgbClr val="002060"/>
              </a:solidFill>
              <a:latin typeface="MV Boli" pitchFamily="2" charset="0"/>
              <a:cs typeface="MV Boli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884</Words>
  <Application>Microsoft Office PowerPoint</Application>
  <PresentationFormat>Custom</PresentationFormat>
  <Paragraphs>166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Rishuraj</cp:lastModifiedBy>
  <cp:revision>54</cp:revision>
  <dcterms:created xsi:type="dcterms:W3CDTF">2024-08-11T16:33:17Z</dcterms:created>
  <dcterms:modified xsi:type="dcterms:W3CDTF">2025-03-31T15:01:28Z</dcterms:modified>
</cp:coreProperties>
</file>