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notesSlides/notesSlide1.xml" ContentType="application/vnd.openxmlformats-officedocument.presentationml.notesSlide+xml"/>
  <Default Extension="png" ContentType="image/png"/>
  <Override PartName="/ppt/notesSlides/notesSlide2.xml" ContentType="application/vnd.openxmlformats-officedocument.presentationml.notesSlide+xml"/>
  <Override PartName="/ppt/notesSlides/notesSlide3.xml" ContentType="application/vnd.openxmlformats-officedocument.presentationml.notesSlide+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tableStyles.xml" ContentType="application/vnd.openxmlformats-officedocument.presentationml.tableStyle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4" r:id="rId3"/>
    <p:sldId id="257" r:id="rId4"/>
    <p:sldId id="265" r:id="rId5"/>
    <p:sldId id="266" r:id="rId6"/>
    <p:sldId id="267" r:id="rId7"/>
    <p:sldId id="268" r:id="rId8"/>
    <p:sldId id="269" r:id="rId9"/>
    <p:sldId id="271" r:id="rId10"/>
    <p:sldId id="272" r:id="rId11"/>
    <p:sldId id="270" r:id="rId12"/>
  </p:sld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1" d="100"/>
          <a:sy n="61" d="100"/>
        </p:scale>
        <p:origin x="-564" y="-84"/>
      </p:cViewPr>
      <p:guideLst>
        <p:guide orient="horz" pos="2592"/>
        <p:guide pos="4608"/>
      </p:guideLst>
    </p:cSldViewPr>
  </p:slideViewPr>
  <p:notesTextViewPr>
    <p:cViewPr>
      <p:scale>
        <a:sx n="1" d="1"/>
        <a:sy n="1" d="1"/>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1</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2</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3</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4</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5</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6</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7</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8</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9</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10</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11</a:t>
            </a:fld>
            <a:endParaRPr lang="en-US" dirty="0"/>
          </a:p>
        </p:txBody>
      </p:sp>
    </p:spTree>
    <p:extLst>
      <p:ext uri="{BB962C8B-B14F-4D97-AF65-F5344CB8AC3E}">
        <p14:creationId xmlns=""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jpe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9.jpe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jpe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30996"/>
            <a:ext cx="14630400" cy="8229600"/>
          </a:xfrm>
          <a:prstGeom prst="rect">
            <a:avLst/>
          </a:prstGeom>
          <a:solidFill>
            <a:srgbClr val="FAFAFA">
              <a:alpha val="75000"/>
            </a:srgbClr>
          </a:solidFill>
          <a:ln/>
        </p:spPr>
      </p:sp>
      <p:pic>
        <p:nvPicPr>
          <p:cNvPr id="4" name="Image 1" descr="preencoded.png"/>
          <p:cNvPicPr>
            <a:picLocks noChangeAspect="1"/>
          </p:cNvPicPr>
          <p:nvPr/>
        </p:nvPicPr>
        <p:blipFill>
          <a:blip r:embed="rId4"/>
          <a:stretch>
            <a:fillRect/>
          </a:stretch>
        </p:blipFill>
        <p:spPr>
          <a:xfrm>
            <a:off x="9329980" y="0"/>
            <a:ext cx="5300420" cy="8229600"/>
          </a:xfrm>
          <a:prstGeom prst="rect">
            <a:avLst/>
          </a:prstGeom>
        </p:spPr>
      </p:pic>
      <p:sp>
        <p:nvSpPr>
          <p:cNvPr id="5" name="Text 1"/>
          <p:cNvSpPr/>
          <p:nvPr/>
        </p:nvSpPr>
        <p:spPr>
          <a:xfrm>
            <a:off x="247973" y="1131376"/>
            <a:ext cx="8663552" cy="1956435"/>
          </a:xfrm>
          <a:prstGeom prst="rect">
            <a:avLst/>
          </a:prstGeom>
          <a:noFill/>
          <a:ln/>
        </p:spPr>
        <p:txBody>
          <a:bodyPr wrap="square" rtlCol="0" anchor="t"/>
          <a:lstStyle/>
          <a:p>
            <a:pPr>
              <a:lnSpc>
                <a:spcPts val="7702"/>
              </a:lnSpc>
            </a:pPr>
            <a:r>
              <a:rPr lang="en-US" sz="5400" b="1" u="sng" dirty="0" smtClean="0">
                <a:solidFill>
                  <a:schemeClr val="accent1">
                    <a:lumMod val="50000"/>
                  </a:schemeClr>
                </a:solidFill>
                <a:ea typeface="Prata" pitchFamily="34" charset="-122"/>
                <a:cs typeface="Prata" pitchFamily="34" charset="-120"/>
              </a:rPr>
              <a:t>Phases Of A Compiler Design</a:t>
            </a:r>
            <a:endParaRPr lang="en-US" sz="5400" b="1" u="sng" dirty="0">
              <a:solidFill>
                <a:schemeClr val="accent1">
                  <a:lumMod val="50000"/>
                </a:schemeClr>
              </a:solidFill>
            </a:endParaRPr>
          </a:p>
        </p:txBody>
      </p:sp>
      <p:sp>
        <p:nvSpPr>
          <p:cNvPr id="6" name="Text 2"/>
          <p:cNvSpPr/>
          <p:nvPr/>
        </p:nvSpPr>
        <p:spPr>
          <a:xfrm>
            <a:off x="483824" y="3848338"/>
            <a:ext cx="7556421" cy="2177415"/>
          </a:xfrm>
          <a:prstGeom prst="rect">
            <a:avLst/>
          </a:prstGeom>
          <a:noFill/>
          <a:ln/>
        </p:spPr>
        <p:txBody>
          <a:bodyPr wrap="square" rtlCol="0" anchor="t"/>
          <a:lstStyle/>
          <a:p>
            <a:r>
              <a:rPr lang="en-US" sz="2800" b="1" dirty="0" smtClean="0">
                <a:solidFill>
                  <a:schemeClr val="accent1"/>
                </a:solidFill>
                <a:latin typeface="MV Boli" pitchFamily="2" charset="0"/>
                <a:cs typeface="MV Boli" pitchFamily="2" charset="0"/>
              </a:rPr>
              <a:t>•NAME – </a:t>
            </a:r>
          </a:p>
          <a:p>
            <a:r>
              <a:rPr lang="en-US" sz="2800" b="1" dirty="0" smtClean="0">
                <a:solidFill>
                  <a:schemeClr val="accent1"/>
                </a:solidFill>
                <a:latin typeface="MV Boli" pitchFamily="2" charset="0"/>
                <a:cs typeface="MV Boli" pitchFamily="2" charset="0"/>
              </a:rPr>
              <a:t>•UNIVERSITY ROLL </a:t>
            </a:r>
            <a:r>
              <a:rPr lang="en-US" sz="2800" b="1" dirty="0" smtClean="0">
                <a:solidFill>
                  <a:schemeClr val="accent1"/>
                </a:solidFill>
                <a:latin typeface="MV Boli" pitchFamily="2" charset="0"/>
                <a:cs typeface="MV Boli" pitchFamily="2" charset="0"/>
              </a:rPr>
              <a:t>NO</a:t>
            </a:r>
            <a:r>
              <a:rPr lang="en-US" sz="2800" b="1" smtClean="0">
                <a:solidFill>
                  <a:schemeClr val="accent1"/>
                </a:solidFill>
                <a:latin typeface="MV Boli" pitchFamily="2" charset="0"/>
                <a:cs typeface="MV Boli" pitchFamily="2" charset="0"/>
              </a:rPr>
              <a:t>: </a:t>
            </a:r>
            <a:endParaRPr lang="en-US" sz="2800" b="1" dirty="0" smtClean="0">
              <a:solidFill>
                <a:schemeClr val="accent1"/>
              </a:solidFill>
              <a:latin typeface="MV Boli" pitchFamily="2" charset="0"/>
              <a:cs typeface="MV Boli" pitchFamily="2" charset="0"/>
            </a:endParaRPr>
          </a:p>
          <a:p>
            <a:r>
              <a:rPr lang="en-US" sz="2800" b="1" dirty="0" smtClean="0">
                <a:solidFill>
                  <a:schemeClr val="accent1"/>
                </a:solidFill>
                <a:latin typeface="MV Boli" pitchFamily="2" charset="0"/>
                <a:cs typeface="MV Boli" pitchFamily="2" charset="0"/>
              </a:rPr>
              <a:t>•PAPER NAME : Compiler Design</a:t>
            </a:r>
          </a:p>
          <a:p>
            <a:r>
              <a:rPr lang="en-US" sz="2800" b="1" dirty="0" smtClean="0">
                <a:solidFill>
                  <a:schemeClr val="accent1"/>
                </a:solidFill>
                <a:latin typeface="MV Boli" pitchFamily="2" charset="0"/>
                <a:cs typeface="MV Boli" pitchFamily="2" charset="0"/>
              </a:rPr>
              <a:t>•PAPER CODE : OEC-AIML 701D </a:t>
            </a:r>
          </a:p>
          <a:p>
            <a:r>
              <a:rPr lang="en-US" sz="2800" b="1" dirty="0" smtClean="0">
                <a:solidFill>
                  <a:schemeClr val="accent1"/>
                </a:solidFill>
                <a:latin typeface="MV Boli" pitchFamily="2" charset="0"/>
                <a:cs typeface="MV Boli" pitchFamily="2" charset="0"/>
              </a:rPr>
              <a:t>•SEMESTER/YEAR : 7TH SEM/ 4th YEAR •DEPARTMENT :CSE(AI&amp;ML)</a:t>
            </a:r>
            <a:endParaRPr lang="en-US" sz="2800" b="1" dirty="0">
              <a:solidFill>
                <a:schemeClr val="accent1"/>
              </a:solidFill>
              <a:latin typeface="MV Boli" pitchFamily="2" charset="0"/>
              <a:cs typeface="MV Boli" pitchFamily="2" charset="0"/>
            </a:endParaRPr>
          </a:p>
        </p:txBody>
      </p:sp>
      <p:sp>
        <p:nvSpPr>
          <p:cNvPr id="7" name="Shape 3"/>
          <p:cNvSpPr/>
          <p:nvPr/>
        </p:nvSpPr>
        <p:spPr>
          <a:xfrm>
            <a:off x="793790" y="6297811"/>
            <a:ext cx="362903" cy="362903"/>
          </a:xfrm>
          <a:prstGeom prst="roundRect">
            <a:avLst>
              <a:gd name="adj" fmla="val 25194296"/>
            </a:avLst>
          </a:prstGeom>
          <a:noFill/>
          <a:ln w="762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AFAFA">
              <a:alpha val="75000"/>
            </a:srgbClr>
          </a:solidFill>
          <a:ln/>
        </p:spPr>
      </p:sp>
      <p:sp>
        <p:nvSpPr>
          <p:cNvPr id="5" name="Text 1"/>
          <p:cNvSpPr/>
          <p:nvPr/>
        </p:nvSpPr>
        <p:spPr>
          <a:xfrm>
            <a:off x="2049153" y="0"/>
            <a:ext cx="8663552" cy="1458665"/>
          </a:xfrm>
          <a:prstGeom prst="rect">
            <a:avLst/>
          </a:prstGeom>
          <a:noFill/>
          <a:ln/>
        </p:spPr>
        <p:txBody>
          <a:bodyPr wrap="square" rtlCol="0" anchor="t"/>
          <a:lstStyle/>
          <a:p>
            <a:pPr algn="ctr">
              <a:lnSpc>
                <a:spcPts val="7702"/>
              </a:lnSpc>
            </a:pPr>
            <a:r>
              <a:rPr lang="en-US" sz="4400" b="1" u="sng" dirty="0" smtClean="0">
                <a:solidFill>
                  <a:schemeClr val="accent1">
                    <a:lumMod val="50000"/>
                  </a:schemeClr>
                </a:solidFill>
                <a:ea typeface="Prata" pitchFamily="34" charset="-122"/>
                <a:cs typeface="Prata" pitchFamily="34" charset="-120"/>
              </a:rPr>
              <a:t>Introduction to Phases of Compiler </a:t>
            </a:r>
            <a:endParaRPr lang="en-US" sz="4400" b="1" u="sng" dirty="0">
              <a:solidFill>
                <a:schemeClr val="accent1">
                  <a:lumMod val="50000"/>
                </a:schemeClr>
              </a:solidFill>
            </a:endParaRPr>
          </a:p>
        </p:txBody>
      </p:sp>
      <p:sp>
        <p:nvSpPr>
          <p:cNvPr id="6" name="Text 2"/>
          <p:cNvSpPr/>
          <p:nvPr/>
        </p:nvSpPr>
        <p:spPr>
          <a:xfrm>
            <a:off x="204855" y="1642820"/>
            <a:ext cx="7327322" cy="5842861"/>
          </a:xfrm>
          <a:prstGeom prst="rect">
            <a:avLst/>
          </a:prstGeom>
          <a:noFill/>
          <a:ln/>
        </p:spPr>
        <p:txBody>
          <a:bodyPr wrap="square" rtlCol="0" anchor="t"/>
          <a:lstStyle/>
          <a:p>
            <a:pPr algn="just">
              <a:lnSpc>
                <a:spcPts val="2858"/>
              </a:lnSpc>
              <a:buFont typeface="Arial" pitchFamily="34" charset="0"/>
              <a:buChar char="•"/>
            </a:pPr>
            <a:r>
              <a:rPr lang="en-US" sz="2400" dirty="0" smtClean="0">
                <a:solidFill>
                  <a:srgbClr val="002060"/>
                </a:solidFill>
              </a:rPr>
              <a:t>A compiler is a software program that </a:t>
            </a:r>
            <a:r>
              <a:rPr lang="en-US" sz="2400" u="sng" dirty="0" smtClean="0">
                <a:solidFill>
                  <a:srgbClr val="002060"/>
                </a:solidFill>
              </a:rPr>
              <a:t>converts the high-level source code written in a programming language into low-level machine code</a:t>
            </a:r>
            <a:r>
              <a:rPr lang="en-US" sz="2400" dirty="0" smtClean="0">
                <a:solidFill>
                  <a:srgbClr val="002060"/>
                </a:solidFill>
              </a:rPr>
              <a:t> that can be executed by the computer hardware.</a:t>
            </a:r>
          </a:p>
          <a:p>
            <a:pPr algn="just">
              <a:lnSpc>
                <a:spcPts val="2858"/>
              </a:lnSpc>
              <a:buFont typeface="Arial" pitchFamily="34" charset="0"/>
              <a:buChar char="•"/>
            </a:pPr>
            <a:endParaRPr lang="en-US" sz="2400" dirty="0" smtClean="0">
              <a:solidFill>
                <a:srgbClr val="002060"/>
              </a:solidFill>
            </a:endParaRPr>
          </a:p>
          <a:p>
            <a:pPr algn="just">
              <a:lnSpc>
                <a:spcPts val="2858"/>
              </a:lnSpc>
              <a:buFont typeface="Arial" pitchFamily="34" charset="0"/>
              <a:buChar char="•"/>
            </a:pPr>
            <a:r>
              <a:rPr lang="en-US" sz="2400" dirty="0" smtClean="0">
                <a:solidFill>
                  <a:srgbClr val="002060"/>
                </a:solidFill>
              </a:rPr>
              <a:t>The </a:t>
            </a:r>
            <a:r>
              <a:rPr lang="en-US" sz="2400" u="sng" dirty="0" smtClean="0">
                <a:solidFill>
                  <a:srgbClr val="002060"/>
                </a:solidFill>
              </a:rPr>
              <a:t>process of converting</a:t>
            </a:r>
            <a:r>
              <a:rPr lang="en-US" sz="2400" dirty="0" smtClean="0">
                <a:solidFill>
                  <a:srgbClr val="002060"/>
                </a:solidFill>
              </a:rPr>
              <a:t> the source code into machine code involves several phases or stages, which are collectively known as the phases of a compiler. </a:t>
            </a:r>
          </a:p>
          <a:p>
            <a:pPr algn="just">
              <a:lnSpc>
                <a:spcPts val="2858"/>
              </a:lnSpc>
              <a:buFont typeface="Arial" pitchFamily="34" charset="0"/>
              <a:buChar char="•"/>
            </a:pPr>
            <a:endParaRPr lang="en-US" sz="2400" dirty="0" smtClean="0">
              <a:solidFill>
                <a:srgbClr val="002060"/>
              </a:solidFill>
            </a:endParaRPr>
          </a:p>
          <a:p>
            <a:pPr algn="just">
              <a:lnSpc>
                <a:spcPts val="2858"/>
              </a:lnSpc>
              <a:buFont typeface="Arial" pitchFamily="34" charset="0"/>
              <a:buChar char="•"/>
            </a:pPr>
            <a:r>
              <a:rPr lang="en-US" sz="2400" dirty="0" smtClean="0">
                <a:solidFill>
                  <a:srgbClr val="002060"/>
                </a:solidFill>
              </a:rPr>
              <a:t>Typically, a compiler is made up of </a:t>
            </a:r>
            <a:r>
              <a:rPr lang="en-US" sz="2400" u="sng" dirty="0" smtClean="0">
                <a:solidFill>
                  <a:srgbClr val="002060"/>
                </a:solidFill>
              </a:rPr>
              <a:t>six states </a:t>
            </a:r>
            <a:r>
              <a:rPr lang="en-US" sz="2400" dirty="0" smtClean="0">
                <a:solidFill>
                  <a:srgbClr val="002060"/>
                </a:solidFill>
              </a:rPr>
              <a:t>and the input code in high-level language also known as Source code passes through each state one by one, each state processes the code, resulting in machine-understandable code or object code as an output.  </a:t>
            </a:r>
            <a:endParaRPr lang="en-US" sz="2400" dirty="0">
              <a:solidFill>
                <a:srgbClr val="002060"/>
              </a:solidFill>
            </a:endParaRPr>
          </a:p>
        </p:txBody>
      </p:sp>
      <p:sp>
        <p:nvSpPr>
          <p:cNvPr id="7" name="Shape 3"/>
          <p:cNvSpPr/>
          <p:nvPr/>
        </p:nvSpPr>
        <p:spPr>
          <a:xfrm>
            <a:off x="793790" y="6297811"/>
            <a:ext cx="362903" cy="362903"/>
          </a:xfrm>
          <a:prstGeom prst="roundRect">
            <a:avLst>
              <a:gd name="adj" fmla="val 25194296"/>
            </a:avLst>
          </a:prstGeom>
          <a:noFill/>
          <a:ln w="7620">
            <a:solidFill>
              <a:srgbClr val="FFFFFF"/>
            </a:solidFill>
            <a:prstDash val="solid"/>
          </a:ln>
        </p:spPr>
      </p:sp>
      <p:pic>
        <p:nvPicPr>
          <p:cNvPr id="8" name="Picture 7" descr="phase-of-compiler.png"/>
          <p:cNvPicPr>
            <a:picLocks noChangeAspect="1"/>
          </p:cNvPicPr>
          <p:nvPr/>
        </p:nvPicPr>
        <p:blipFill>
          <a:blip r:embed="rId4"/>
          <a:stretch>
            <a:fillRect/>
          </a:stretch>
        </p:blipFill>
        <p:spPr>
          <a:xfrm>
            <a:off x="8074617" y="1363851"/>
            <a:ext cx="6307811" cy="6586780"/>
          </a:xfrm>
          <a:prstGeom prst="rect">
            <a:avLst/>
          </a:prstGeom>
          <a:ln w="57150">
            <a:solidFill>
              <a:schemeClr val="bg2">
                <a:lumMod val="50000"/>
              </a:schemeClr>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12184"/>
            <a:ext cx="14630400" cy="8248412"/>
          </a:xfrm>
          <a:prstGeom prst="rect">
            <a:avLst/>
          </a:prstGeom>
          <a:solidFill>
            <a:srgbClr val="FAFAFA">
              <a:alpha val="75000"/>
            </a:srgbClr>
          </a:solidFill>
          <a:ln/>
        </p:spPr>
      </p:sp>
      <p:sp>
        <p:nvSpPr>
          <p:cNvPr id="5" name="Text 1"/>
          <p:cNvSpPr/>
          <p:nvPr/>
        </p:nvSpPr>
        <p:spPr>
          <a:xfrm>
            <a:off x="4238684" y="449450"/>
            <a:ext cx="4936688" cy="496133"/>
          </a:xfrm>
          <a:prstGeom prst="rect">
            <a:avLst/>
          </a:prstGeom>
          <a:noFill/>
          <a:ln/>
        </p:spPr>
        <p:txBody>
          <a:bodyPr wrap="none" rtlCol="0" anchor="t"/>
          <a:lstStyle/>
          <a:p>
            <a:pPr algn="ctr">
              <a:lnSpc>
                <a:spcPts val="3907"/>
              </a:lnSpc>
            </a:pPr>
            <a:r>
              <a:rPr lang="en-US" sz="4000" b="1" u="sng" dirty="0" smtClean="0">
                <a:solidFill>
                  <a:schemeClr val="accent1">
                    <a:lumMod val="50000"/>
                  </a:schemeClr>
                </a:solidFill>
              </a:rPr>
              <a:t>1. Lexical Analysis</a:t>
            </a:r>
            <a:endParaRPr lang="en-US" sz="4000" b="1" u="sng" dirty="0">
              <a:solidFill>
                <a:schemeClr val="accent1">
                  <a:lumMod val="50000"/>
                </a:schemeClr>
              </a:solidFill>
            </a:endParaRPr>
          </a:p>
        </p:txBody>
      </p:sp>
      <p:sp>
        <p:nvSpPr>
          <p:cNvPr id="23" name="TextBox 22"/>
          <p:cNvSpPr txBox="1"/>
          <p:nvPr/>
        </p:nvSpPr>
        <p:spPr>
          <a:xfrm>
            <a:off x="356461" y="1286358"/>
            <a:ext cx="8818911" cy="7478970"/>
          </a:xfrm>
          <a:prstGeom prst="rect">
            <a:avLst/>
          </a:prstGeom>
          <a:noFill/>
        </p:spPr>
        <p:txBody>
          <a:bodyPr wrap="square" rtlCol="0">
            <a:spAutoFit/>
          </a:bodyPr>
          <a:lstStyle/>
          <a:p>
            <a:r>
              <a:rPr lang="en-US" sz="2400" b="1" u="sng" dirty="0" smtClean="0"/>
              <a:t>Definition</a:t>
            </a:r>
            <a:r>
              <a:rPr lang="en-US" sz="2400" u="sng" dirty="0" smtClean="0"/>
              <a:t>: </a:t>
            </a:r>
          </a:p>
          <a:p>
            <a:pPr>
              <a:buFont typeface="Arial" pitchFamily="34" charset="0"/>
              <a:buChar char="•"/>
            </a:pPr>
            <a:r>
              <a:rPr lang="en-US" sz="2400" dirty="0" smtClean="0"/>
              <a:t>The first phase of a compiler is lexical analysis, also known as scanning. </a:t>
            </a:r>
          </a:p>
          <a:p>
            <a:pPr>
              <a:buFont typeface="Arial" pitchFamily="34" charset="0"/>
              <a:buChar char="•"/>
            </a:pPr>
            <a:r>
              <a:rPr lang="en-US" sz="2400" dirty="0" smtClean="0"/>
              <a:t>The first phase of a compiler where the source code is converted into tokens. </a:t>
            </a:r>
          </a:p>
          <a:p>
            <a:pPr>
              <a:buFont typeface="Arial" pitchFamily="34" charset="0"/>
              <a:buChar char="•"/>
            </a:pPr>
            <a:r>
              <a:rPr lang="en-US" sz="2400" dirty="0" smtClean="0"/>
              <a:t>The tokens are then passed on to the next phase for further processing.</a:t>
            </a:r>
          </a:p>
          <a:p>
            <a:endParaRPr lang="en-US" sz="2400" dirty="0" smtClean="0"/>
          </a:p>
          <a:p>
            <a:r>
              <a:rPr lang="en-US" sz="2400" b="1" u="sng" dirty="0" smtClean="0"/>
              <a:t>Process</a:t>
            </a:r>
            <a:r>
              <a:rPr lang="en-US" sz="2400" u="sng" dirty="0" smtClean="0"/>
              <a:t>: </a:t>
            </a:r>
          </a:p>
          <a:p>
            <a:r>
              <a:rPr lang="en-US" sz="2400" b="1" dirty="0" smtClean="0"/>
              <a:t>Input</a:t>
            </a:r>
            <a:r>
              <a:rPr lang="en-US" sz="2400" dirty="0" smtClean="0"/>
              <a:t>: Source Code</a:t>
            </a:r>
          </a:p>
          <a:p>
            <a:r>
              <a:rPr lang="en-US" sz="2400" b="1" dirty="0" smtClean="0"/>
              <a:t>Output</a:t>
            </a:r>
            <a:r>
              <a:rPr lang="en-US" sz="2400" dirty="0" smtClean="0"/>
              <a:t>: Tokens (e.g., identifiers, keywords, operators)</a:t>
            </a:r>
          </a:p>
          <a:p>
            <a:endParaRPr lang="en-US" sz="2400" dirty="0" smtClean="0"/>
          </a:p>
          <a:p>
            <a:r>
              <a:rPr lang="en-US" sz="2400" b="1" u="sng" dirty="0" smtClean="0"/>
              <a:t>Uses:</a:t>
            </a:r>
          </a:p>
          <a:p>
            <a:r>
              <a:rPr lang="en-US" sz="2400" dirty="0" smtClean="0">
                <a:ea typeface="Outfit" pitchFamily="34" charset="-122"/>
                <a:cs typeface="Outfit" pitchFamily="34" charset="-120"/>
              </a:rPr>
              <a:t>Token Recognition</a:t>
            </a:r>
            <a:endParaRPr lang="en-US" sz="2400" dirty="0" smtClean="0"/>
          </a:p>
          <a:p>
            <a:r>
              <a:rPr lang="en-US" sz="2400" dirty="0" smtClean="0">
                <a:ea typeface="Prata" pitchFamily="34" charset="-122"/>
                <a:cs typeface="Prata" pitchFamily="34" charset="-120"/>
              </a:rPr>
              <a:t>Pattern Matching</a:t>
            </a:r>
            <a:endParaRPr lang="en-US" sz="2400" dirty="0" smtClean="0"/>
          </a:p>
          <a:p>
            <a:r>
              <a:rPr lang="en-US" sz="2400" dirty="0" smtClean="0">
                <a:ea typeface="Prata" pitchFamily="34" charset="-122"/>
                <a:cs typeface="Prata" pitchFamily="34" charset="-120"/>
              </a:rPr>
              <a:t>Error Handling</a:t>
            </a:r>
            <a:endParaRPr lang="en-US" sz="2400" dirty="0" smtClean="0"/>
          </a:p>
          <a:p>
            <a:r>
              <a:rPr lang="en-US" sz="2400" dirty="0" smtClean="0">
                <a:ea typeface="Prata" pitchFamily="34" charset="-122"/>
                <a:cs typeface="Prata" pitchFamily="34" charset="-120"/>
              </a:rPr>
              <a:t>Input Stream Management</a:t>
            </a:r>
            <a:endParaRPr lang="en-US" sz="2400" dirty="0" smtClean="0"/>
          </a:p>
          <a:p>
            <a:endParaRPr lang="en-US" sz="2400" b="1" u="sng" dirty="0" smtClean="0"/>
          </a:p>
          <a:p>
            <a:endParaRPr lang="en-US" sz="2400" dirty="0" smtClean="0"/>
          </a:p>
          <a:p>
            <a:endParaRPr lang="en-US" sz="2400" b="1" dirty="0"/>
          </a:p>
        </p:txBody>
      </p:sp>
      <p:pic>
        <p:nvPicPr>
          <p:cNvPr id="24" name="Picture 23" descr="download (1).jfif"/>
          <p:cNvPicPr>
            <a:picLocks noChangeAspect="1"/>
          </p:cNvPicPr>
          <p:nvPr/>
        </p:nvPicPr>
        <p:blipFill>
          <a:blip r:embed="rId4"/>
          <a:stretch>
            <a:fillRect/>
          </a:stretch>
        </p:blipFill>
        <p:spPr>
          <a:xfrm>
            <a:off x="8765440" y="1657349"/>
            <a:ext cx="5591317" cy="3271111"/>
          </a:xfrm>
          <a:prstGeom prst="rect">
            <a:avLst/>
          </a:prstGeom>
          <a:ln w="57150">
            <a:solidFill>
              <a:schemeClr val="bg1">
                <a:lumMod val="65000"/>
              </a:schemeClr>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12184"/>
            <a:ext cx="14630400" cy="8248412"/>
          </a:xfrm>
          <a:prstGeom prst="rect">
            <a:avLst/>
          </a:prstGeom>
          <a:solidFill>
            <a:srgbClr val="FAFAFA">
              <a:alpha val="75000"/>
            </a:srgbClr>
          </a:solidFill>
          <a:ln/>
        </p:spPr>
      </p:sp>
      <p:sp>
        <p:nvSpPr>
          <p:cNvPr id="5" name="Text 1"/>
          <p:cNvSpPr/>
          <p:nvPr/>
        </p:nvSpPr>
        <p:spPr>
          <a:xfrm>
            <a:off x="4238684" y="449450"/>
            <a:ext cx="4936688" cy="496133"/>
          </a:xfrm>
          <a:prstGeom prst="rect">
            <a:avLst/>
          </a:prstGeom>
          <a:noFill/>
          <a:ln/>
        </p:spPr>
        <p:txBody>
          <a:bodyPr wrap="none" rtlCol="0" anchor="t"/>
          <a:lstStyle/>
          <a:p>
            <a:pPr algn="ctr">
              <a:lnSpc>
                <a:spcPts val="3907"/>
              </a:lnSpc>
            </a:pPr>
            <a:r>
              <a:rPr lang="en-US" sz="4000" b="1" u="sng" dirty="0" smtClean="0">
                <a:solidFill>
                  <a:schemeClr val="accent1">
                    <a:lumMod val="50000"/>
                  </a:schemeClr>
                </a:solidFill>
              </a:rPr>
              <a:t>2. Syntax Analysis</a:t>
            </a:r>
            <a:endParaRPr lang="en-US" sz="4000" b="1" u="sng" dirty="0">
              <a:solidFill>
                <a:schemeClr val="accent1">
                  <a:lumMod val="50000"/>
                </a:schemeClr>
              </a:solidFill>
            </a:endParaRPr>
          </a:p>
        </p:txBody>
      </p:sp>
      <p:sp>
        <p:nvSpPr>
          <p:cNvPr id="23" name="TextBox 22"/>
          <p:cNvSpPr txBox="1"/>
          <p:nvPr/>
        </p:nvSpPr>
        <p:spPr>
          <a:xfrm>
            <a:off x="356461" y="1286358"/>
            <a:ext cx="9252488" cy="6719788"/>
          </a:xfrm>
          <a:prstGeom prst="rect">
            <a:avLst/>
          </a:prstGeom>
          <a:noFill/>
        </p:spPr>
        <p:txBody>
          <a:bodyPr wrap="square" rtlCol="0">
            <a:spAutoFit/>
          </a:bodyPr>
          <a:lstStyle/>
          <a:p>
            <a:r>
              <a:rPr lang="en-US" sz="2400" b="1" u="sng" dirty="0" smtClean="0"/>
              <a:t>Definition</a:t>
            </a:r>
            <a:r>
              <a:rPr lang="en-US" sz="2400" u="sng" dirty="0" smtClean="0"/>
              <a:t>: </a:t>
            </a:r>
          </a:p>
          <a:p>
            <a:pPr>
              <a:buFont typeface="Arial" pitchFamily="34" charset="0"/>
              <a:buChar char="•"/>
            </a:pPr>
            <a:r>
              <a:rPr lang="en-US" sz="2400" dirty="0" smtClean="0"/>
              <a:t>The second phase of a compiler is syntax analysis, also known as parsing. </a:t>
            </a:r>
          </a:p>
          <a:p>
            <a:pPr>
              <a:buFont typeface="Arial" pitchFamily="34" charset="0"/>
              <a:buChar char="•"/>
            </a:pPr>
            <a:r>
              <a:rPr lang="en-US" sz="2400" dirty="0" smtClean="0"/>
              <a:t>The phase that checks the grammatical structure of the tokens generated by lexical analysis.</a:t>
            </a:r>
          </a:p>
          <a:p>
            <a:pPr>
              <a:buFont typeface="Arial" pitchFamily="34" charset="0"/>
              <a:buChar char="•"/>
            </a:pPr>
            <a:r>
              <a:rPr lang="en-US" sz="2400" dirty="0" smtClean="0"/>
              <a:t>The output of this phase is usually an Abstract Syntax Tree (AST).</a:t>
            </a:r>
          </a:p>
          <a:p>
            <a:endParaRPr lang="en-US" sz="2400" dirty="0" smtClean="0"/>
          </a:p>
          <a:p>
            <a:r>
              <a:rPr lang="en-US" sz="2400" b="1" u="sng" dirty="0" smtClean="0"/>
              <a:t>Process</a:t>
            </a:r>
            <a:r>
              <a:rPr lang="en-US" sz="2400" u="sng" dirty="0" smtClean="0"/>
              <a:t>:</a:t>
            </a:r>
          </a:p>
          <a:p>
            <a:r>
              <a:rPr lang="en-US" sz="2400" b="1" dirty="0" smtClean="0"/>
              <a:t>Input</a:t>
            </a:r>
            <a:r>
              <a:rPr lang="en-US" sz="2400" dirty="0" smtClean="0"/>
              <a:t>: Tokens</a:t>
            </a:r>
          </a:p>
          <a:p>
            <a:r>
              <a:rPr lang="en-US" sz="2400" b="1" dirty="0" smtClean="0"/>
              <a:t>Output</a:t>
            </a:r>
            <a:r>
              <a:rPr lang="en-US" sz="2400" dirty="0" smtClean="0"/>
              <a:t>: Parse Tree (Syntax Tree)</a:t>
            </a:r>
          </a:p>
          <a:p>
            <a:endParaRPr lang="en-US" sz="2400" dirty="0" smtClean="0"/>
          </a:p>
          <a:p>
            <a:r>
              <a:rPr lang="en-US" sz="2400" b="1" u="sng" dirty="0" smtClean="0"/>
              <a:t>Uses:</a:t>
            </a:r>
          </a:p>
          <a:p>
            <a:pPr>
              <a:lnSpc>
                <a:spcPts val="2791"/>
              </a:lnSpc>
            </a:pPr>
            <a:r>
              <a:rPr lang="en-US" sz="2400" dirty="0" smtClean="0">
                <a:ea typeface="Prata" pitchFamily="34" charset="-122"/>
                <a:cs typeface="Prata" pitchFamily="34" charset="-120"/>
              </a:rPr>
              <a:t>Parse Tree Construction</a:t>
            </a:r>
            <a:endParaRPr lang="en-US" sz="2400" dirty="0" smtClean="0"/>
          </a:p>
          <a:p>
            <a:r>
              <a:rPr lang="en-US" sz="2400" dirty="0" smtClean="0">
                <a:ea typeface="Prata" pitchFamily="34" charset="-122"/>
                <a:cs typeface="Prata" pitchFamily="34" charset="-120"/>
              </a:rPr>
              <a:t>Grammar Specification</a:t>
            </a:r>
            <a:endParaRPr lang="en-US" sz="2400" dirty="0" smtClean="0"/>
          </a:p>
          <a:p>
            <a:r>
              <a:rPr lang="en-US" sz="2400" dirty="0" smtClean="0">
                <a:ea typeface="Prata" pitchFamily="34" charset="-122"/>
                <a:cs typeface="Prata" pitchFamily="34" charset="-120"/>
              </a:rPr>
              <a:t>Error Recovery</a:t>
            </a:r>
            <a:endParaRPr lang="en-US" sz="2400" dirty="0" smtClean="0"/>
          </a:p>
          <a:p>
            <a:endParaRPr lang="en-US" sz="2400" b="1" u="sng" dirty="0" smtClean="0"/>
          </a:p>
          <a:p>
            <a:endParaRPr lang="en-US" sz="2400" dirty="0" smtClean="0"/>
          </a:p>
          <a:p>
            <a:endParaRPr lang="en-US" sz="2400" b="1" dirty="0"/>
          </a:p>
        </p:txBody>
      </p:sp>
      <p:pic>
        <p:nvPicPr>
          <p:cNvPr id="7" name="Picture 6" descr="images (2).jfif"/>
          <p:cNvPicPr>
            <a:picLocks noChangeAspect="1"/>
          </p:cNvPicPr>
          <p:nvPr/>
        </p:nvPicPr>
        <p:blipFill>
          <a:blip r:embed="rId4"/>
          <a:stretch>
            <a:fillRect/>
          </a:stretch>
        </p:blipFill>
        <p:spPr>
          <a:xfrm>
            <a:off x="8810246" y="1751308"/>
            <a:ext cx="5355206" cy="2619213"/>
          </a:xfrm>
          <a:prstGeom prst="rect">
            <a:avLst/>
          </a:prstGeom>
          <a:ln w="57150">
            <a:solidFill>
              <a:schemeClr val="bg1">
                <a:lumMod val="65000"/>
              </a:schemeClr>
            </a:solid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3314"/>
            <a:ext cx="14630400" cy="8248412"/>
          </a:xfrm>
          <a:prstGeom prst="rect">
            <a:avLst/>
          </a:prstGeom>
          <a:solidFill>
            <a:srgbClr val="FAFAFA">
              <a:alpha val="75000"/>
            </a:srgbClr>
          </a:solidFill>
          <a:ln/>
        </p:spPr>
      </p:sp>
      <p:sp>
        <p:nvSpPr>
          <p:cNvPr id="5" name="Text 1"/>
          <p:cNvSpPr/>
          <p:nvPr/>
        </p:nvSpPr>
        <p:spPr>
          <a:xfrm>
            <a:off x="4238684" y="201383"/>
            <a:ext cx="4936688" cy="496133"/>
          </a:xfrm>
          <a:prstGeom prst="rect">
            <a:avLst/>
          </a:prstGeom>
          <a:noFill/>
          <a:ln/>
        </p:spPr>
        <p:txBody>
          <a:bodyPr wrap="none" rtlCol="0" anchor="t"/>
          <a:lstStyle/>
          <a:p>
            <a:pPr algn="ctr">
              <a:lnSpc>
                <a:spcPts val="3907"/>
              </a:lnSpc>
            </a:pPr>
            <a:r>
              <a:rPr lang="en-US" sz="4000" b="1" u="sng" dirty="0" smtClean="0">
                <a:solidFill>
                  <a:schemeClr val="accent1">
                    <a:lumMod val="50000"/>
                  </a:schemeClr>
                </a:solidFill>
              </a:rPr>
              <a:t>3. Semantic Analysis:</a:t>
            </a:r>
            <a:endParaRPr lang="en-US" sz="4000" b="1" u="sng" dirty="0">
              <a:solidFill>
                <a:schemeClr val="accent1">
                  <a:lumMod val="50000"/>
                </a:schemeClr>
              </a:solidFill>
            </a:endParaRPr>
          </a:p>
        </p:txBody>
      </p:sp>
      <p:sp>
        <p:nvSpPr>
          <p:cNvPr id="23" name="TextBox 22"/>
          <p:cNvSpPr txBox="1"/>
          <p:nvPr/>
        </p:nvSpPr>
        <p:spPr>
          <a:xfrm>
            <a:off x="278969" y="697518"/>
            <a:ext cx="9717438" cy="8104783"/>
          </a:xfrm>
          <a:prstGeom prst="rect">
            <a:avLst/>
          </a:prstGeom>
          <a:noFill/>
        </p:spPr>
        <p:txBody>
          <a:bodyPr wrap="square" rtlCol="0">
            <a:spAutoFit/>
          </a:bodyPr>
          <a:lstStyle/>
          <a:p>
            <a:r>
              <a:rPr lang="en-US" sz="2400" b="1" u="sng" dirty="0" smtClean="0"/>
              <a:t>Definition</a:t>
            </a:r>
            <a:r>
              <a:rPr lang="en-US" sz="2400" u="sng" dirty="0" smtClean="0"/>
              <a:t>: </a:t>
            </a:r>
          </a:p>
          <a:p>
            <a:pPr>
              <a:buFont typeface="Arial" pitchFamily="34" charset="0"/>
              <a:buChar char="•"/>
            </a:pPr>
            <a:r>
              <a:rPr lang="en-US" sz="2400" dirty="0" smtClean="0"/>
              <a:t>The third phase of a compiler is semantic analysis. </a:t>
            </a:r>
          </a:p>
          <a:p>
            <a:pPr>
              <a:buFont typeface="Arial" pitchFamily="34" charset="0"/>
              <a:buChar char="•"/>
            </a:pPr>
            <a:r>
              <a:rPr lang="en-US" sz="2400" dirty="0" smtClean="0"/>
              <a:t>This phase checks whether the code is semantically correct, i.e., whether it conforms to the language’s type system and other semantic rules. In this stage, the compiler checks the meaning of the source code to ensure that it makes sense. </a:t>
            </a:r>
          </a:p>
          <a:p>
            <a:pPr>
              <a:buFont typeface="Arial" pitchFamily="34" charset="0"/>
              <a:buChar char="•"/>
            </a:pPr>
            <a:r>
              <a:rPr lang="en-US" sz="2400" dirty="0" smtClean="0"/>
              <a:t>The compiler performs type checking, which ensures that variables are used correctly and that operations are performed on compatible data types. </a:t>
            </a:r>
          </a:p>
          <a:p>
            <a:pPr>
              <a:buFont typeface="Arial" pitchFamily="34" charset="0"/>
              <a:buChar char="•"/>
            </a:pPr>
            <a:r>
              <a:rPr lang="en-US" sz="2400" dirty="0" smtClean="0"/>
              <a:t>The compiler also checks for other semantic errors, such as undeclared variables and incorrect function calls.</a:t>
            </a:r>
          </a:p>
          <a:p>
            <a:r>
              <a:rPr lang="en-US" sz="2400" b="1" u="sng" dirty="0" smtClean="0"/>
              <a:t>Process</a:t>
            </a:r>
            <a:r>
              <a:rPr lang="en-US" sz="2400" u="sng" dirty="0" smtClean="0"/>
              <a:t>:</a:t>
            </a:r>
          </a:p>
          <a:p>
            <a:r>
              <a:rPr lang="en-US" sz="2400" b="1" dirty="0" smtClean="0"/>
              <a:t>Input</a:t>
            </a:r>
            <a:r>
              <a:rPr lang="en-US" sz="2400" dirty="0" smtClean="0"/>
              <a:t>: Parse Tree</a:t>
            </a:r>
          </a:p>
          <a:p>
            <a:r>
              <a:rPr lang="en-US" sz="2400" b="1" dirty="0" smtClean="0"/>
              <a:t>Output</a:t>
            </a:r>
            <a:r>
              <a:rPr lang="en-US" sz="2400" dirty="0" smtClean="0"/>
              <a:t>: Annotated Syntax Tree or Intermediate Code</a:t>
            </a:r>
          </a:p>
          <a:p>
            <a:endParaRPr lang="en-US" sz="2400" dirty="0" smtClean="0"/>
          </a:p>
          <a:p>
            <a:r>
              <a:rPr lang="en-US" sz="2400" b="1" u="sng" dirty="0" smtClean="0"/>
              <a:t>Uses:</a:t>
            </a:r>
          </a:p>
          <a:p>
            <a:pPr>
              <a:lnSpc>
                <a:spcPts val="1953"/>
              </a:lnSpc>
            </a:pPr>
            <a:r>
              <a:rPr lang="en-US" sz="2400" dirty="0" smtClean="0">
                <a:ea typeface="Prata" pitchFamily="34" charset="-122"/>
                <a:cs typeface="Prata" pitchFamily="34" charset="-120"/>
              </a:rPr>
              <a:t>Type Checking</a:t>
            </a:r>
            <a:endParaRPr lang="en-US" sz="2400" dirty="0" smtClean="0"/>
          </a:p>
          <a:p>
            <a:r>
              <a:rPr lang="en-US" sz="2400" dirty="0" smtClean="0">
                <a:ea typeface="Prata" pitchFamily="34" charset="-122"/>
                <a:cs typeface="Prata" pitchFamily="34" charset="-120"/>
              </a:rPr>
              <a:t>Symbol Table Management</a:t>
            </a:r>
            <a:endParaRPr lang="en-US" sz="2400" dirty="0" smtClean="0"/>
          </a:p>
          <a:p>
            <a:r>
              <a:rPr lang="en-US" sz="2400" dirty="0" smtClean="0">
                <a:ea typeface="Prata" pitchFamily="34" charset="-122"/>
                <a:cs typeface="Prata" pitchFamily="34" charset="-120"/>
              </a:rPr>
              <a:t>Scope and Visibility</a:t>
            </a:r>
            <a:endParaRPr lang="en-US" sz="2400" dirty="0" smtClean="0"/>
          </a:p>
          <a:p>
            <a:r>
              <a:rPr lang="en-US" sz="2400" dirty="0" smtClean="0">
                <a:ea typeface="Prata" pitchFamily="34" charset="-122"/>
                <a:cs typeface="Prata" pitchFamily="34" charset="-120"/>
              </a:rPr>
              <a:t>Semantic Checks</a:t>
            </a:r>
            <a:endParaRPr lang="en-US" sz="2400" dirty="0" smtClean="0"/>
          </a:p>
          <a:p>
            <a:endParaRPr lang="en-US" sz="2400" b="1" u="sng" dirty="0" smtClean="0"/>
          </a:p>
          <a:p>
            <a:endParaRPr lang="en-US" sz="2400" dirty="0" smtClean="0"/>
          </a:p>
          <a:p>
            <a:endParaRPr lang="en-US" sz="2400" b="1" dirty="0"/>
          </a:p>
        </p:txBody>
      </p:sp>
      <p:pic>
        <p:nvPicPr>
          <p:cNvPr id="8" name="Picture 7" descr="download (2).jfif"/>
          <p:cNvPicPr>
            <a:picLocks noChangeAspect="1"/>
          </p:cNvPicPr>
          <p:nvPr/>
        </p:nvPicPr>
        <p:blipFill>
          <a:blip r:embed="rId4"/>
          <a:stretch>
            <a:fillRect/>
          </a:stretch>
        </p:blipFill>
        <p:spPr>
          <a:xfrm>
            <a:off x="10503975" y="1766807"/>
            <a:ext cx="3850361" cy="2156202"/>
          </a:xfrm>
          <a:prstGeom prst="rect">
            <a:avLst/>
          </a:prstGeom>
          <a:ln w="57150">
            <a:solidFill>
              <a:schemeClr val="bg1">
                <a:lumMod val="65000"/>
              </a:schemeClr>
            </a:solid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3314"/>
            <a:ext cx="14630400" cy="8248412"/>
          </a:xfrm>
          <a:prstGeom prst="rect">
            <a:avLst/>
          </a:prstGeom>
          <a:solidFill>
            <a:srgbClr val="FAFAFA">
              <a:alpha val="75000"/>
            </a:srgbClr>
          </a:solidFill>
          <a:ln/>
        </p:spPr>
      </p:sp>
      <p:sp>
        <p:nvSpPr>
          <p:cNvPr id="5" name="Text 1"/>
          <p:cNvSpPr/>
          <p:nvPr/>
        </p:nvSpPr>
        <p:spPr>
          <a:xfrm>
            <a:off x="3657601" y="449449"/>
            <a:ext cx="6664270" cy="496133"/>
          </a:xfrm>
          <a:prstGeom prst="rect">
            <a:avLst/>
          </a:prstGeom>
          <a:noFill/>
          <a:ln/>
        </p:spPr>
        <p:txBody>
          <a:bodyPr wrap="none" rtlCol="0" anchor="t"/>
          <a:lstStyle/>
          <a:p>
            <a:pPr algn="ctr">
              <a:lnSpc>
                <a:spcPts val="3907"/>
              </a:lnSpc>
            </a:pPr>
            <a:r>
              <a:rPr lang="en-US" sz="4000" b="1" u="sng" dirty="0" smtClean="0">
                <a:solidFill>
                  <a:schemeClr val="accent1">
                    <a:lumMod val="50000"/>
                  </a:schemeClr>
                </a:solidFill>
              </a:rPr>
              <a:t>4. Intermediate Code Generation</a:t>
            </a:r>
            <a:endParaRPr lang="en-US" sz="4000" b="1" u="sng" dirty="0">
              <a:solidFill>
                <a:schemeClr val="accent1">
                  <a:lumMod val="50000"/>
                </a:schemeClr>
              </a:solidFill>
            </a:endParaRPr>
          </a:p>
        </p:txBody>
      </p:sp>
      <p:sp>
        <p:nvSpPr>
          <p:cNvPr id="23" name="TextBox 22"/>
          <p:cNvSpPr txBox="1"/>
          <p:nvPr/>
        </p:nvSpPr>
        <p:spPr>
          <a:xfrm>
            <a:off x="278969" y="1038388"/>
            <a:ext cx="9190495" cy="6996787"/>
          </a:xfrm>
          <a:prstGeom prst="rect">
            <a:avLst/>
          </a:prstGeom>
          <a:noFill/>
        </p:spPr>
        <p:txBody>
          <a:bodyPr wrap="square" rtlCol="0">
            <a:spAutoFit/>
          </a:bodyPr>
          <a:lstStyle/>
          <a:p>
            <a:r>
              <a:rPr lang="en-US" sz="2400" b="1" u="sng" dirty="0" smtClean="0"/>
              <a:t>Definition</a:t>
            </a:r>
            <a:r>
              <a:rPr lang="en-US" sz="2400" u="sng" dirty="0" smtClean="0"/>
              <a:t>: </a:t>
            </a:r>
          </a:p>
          <a:p>
            <a:pPr>
              <a:buFont typeface="Arial" pitchFamily="34" charset="0"/>
              <a:buChar char="•"/>
            </a:pPr>
            <a:r>
              <a:rPr lang="en-US" sz="2400" dirty="0" smtClean="0"/>
              <a:t>The fourth phase of a compiler is intermediate code generation. </a:t>
            </a:r>
          </a:p>
          <a:p>
            <a:pPr>
              <a:buFont typeface="Arial" pitchFamily="34" charset="0"/>
              <a:buChar char="•"/>
            </a:pPr>
            <a:r>
              <a:rPr lang="en-US" sz="2400" dirty="0" smtClean="0"/>
              <a:t>Translates the syntax tree into an intermediate representation that is easier to optimize.</a:t>
            </a:r>
          </a:p>
          <a:p>
            <a:pPr>
              <a:buFont typeface="Arial" pitchFamily="34" charset="0"/>
              <a:buChar char="•"/>
            </a:pPr>
            <a:r>
              <a:rPr lang="en-US" sz="2400" dirty="0" smtClean="0"/>
              <a:t>This phase generates an intermediate representation of the source code that can be easily translated into machine code.</a:t>
            </a:r>
          </a:p>
          <a:p>
            <a:endParaRPr lang="en-US" sz="2400" dirty="0" smtClean="0"/>
          </a:p>
          <a:p>
            <a:r>
              <a:rPr lang="en-US" sz="2400" b="1" u="sng" dirty="0" smtClean="0"/>
              <a:t>Process</a:t>
            </a:r>
            <a:r>
              <a:rPr lang="en-US" sz="2400" u="sng" dirty="0" smtClean="0"/>
              <a:t>:</a:t>
            </a:r>
          </a:p>
          <a:p>
            <a:r>
              <a:rPr lang="en-US" sz="2400" b="1" dirty="0" smtClean="0"/>
              <a:t>Input</a:t>
            </a:r>
            <a:r>
              <a:rPr lang="en-US" sz="2400" dirty="0" smtClean="0"/>
              <a:t>: Annotated Syntax Tree</a:t>
            </a:r>
          </a:p>
          <a:p>
            <a:r>
              <a:rPr lang="en-US" sz="2400" b="1" dirty="0" smtClean="0"/>
              <a:t>Output</a:t>
            </a:r>
            <a:r>
              <a:rPr lang="en-US" sz="2400" dirty="0" smtClean="0"/>
              <a:t>: Intermediate Code (e.g., Three-Address Code, Quadruples)</a:t>
            </a:r>
          </a:p>
          <a:p>
            <a:endParaRPr lang="en-US" sz="2400" dirty="0" smtClean="0"/>
          </a:p>
          <a:p>
            <a:r>
              <a:rPr lang="en-US" sz="2400" b="1" u="sng" dirty="0" smtClean="0"/>
              <a:t>Uses:</a:t>
            </a:r>
          </a:p>
          <a:p>
            <a:pPr>
              <a:lnSpc>
                <a:spcPts val="1953"/>
              </a:lnSpc>
            </a:pPr>
            <a:r>
              <a:rPr lang="en-US" sz="2400" dirty="0" smtClean="0">
                <a:ea typeface="Prata" pitchFamily="34" charset="-122"/>
                <a:cs typeface="Prata" pitchFamily="34" charset="-120"/>
              </a:rPr>
              <a:t>Abstract Syntax Tree</a:t>
            </a:r>
            <a:endParaRPr lang="en-US" sz="2400" dirty="0" smtClean="0"/>
          </a:p>
          <a:p>
            <a:r>
              <a:rPr lang="en-US" sz="2400" dirty="0" smtClean="0">
                <a:ea typeface="Prata" pitchFamily="34" charset="-122"/>
                <a:cs typeface="Prata" pitchFamily="34" charset="-120"/>
              </a:rPr>
              <a:t>Optimization Opportunities</a:t>
            </a:r>
            <a:endParaRPr lang="en-US" sz="2400" dirty="0" smtClean="0"/>
          </a:p>
          <a:p>
            <a:r>
              <a:rPr lang="en-US" sz="2400" dirty="0" smtClean="0">
                <a:ea typeface="Prata" pitchFamily="34" charset="-122"/>
                <a:cs typeface="Prata" pitchFamily="34" charset="-120"/>
              </a:rPr>
              <a:t>Target-Independent</a:t>
            </a:r>
            <a:endParaRPr lang="en-US" sz="2400" dirty="0" smtClean="0"/>
          </a:p>
          <a:p>
            <a:r>
              <a:rPr lang="en-US" sz="2400" dirty="0" smtClean="0">
                <a:ea typeface="Prata" pitchFamily="34" charset="-122"/>
                <a:cs typeface="Prata" pitchFamily="34" charset="-120"/>
              </a:rPr>
              <a:t>Code Flow Analysis</a:t>
            </a:r>
            <a:endParaRPr lang="en-US" sz="2400" dirty="0" smtClean="0"/>
          </a:p>
          <a:p>
            <a:endParaRPr lang="en-US" sz="2400" b="1" u="sng" dirty="0" smtClean="0"/>
          </a:p>
          <a:p>
            <a:endParaRPr lang="en-US" sz="2400" dirty="0" smtClean="0"/>
          </a:p>
          <a:p>
            <a:endParaRPr lang="en-US" sz="2400" b="1" dirty="0"/>
          </a:p>
        </p:txBody>
      </p:sp>
      <p:pic>
        <p:nvPicPr>
          <p:cNvPr id="7" name="Picture 6" descr="download (1).png"/>
          <p:cNvPicPr>
            <a:picLocks noChangeAspect="1"/>
          </p:cNvPicPr>
          <p:nvPr/>
        </p:nvPicPr>
        <p:blipFill>
          <a:blip r:embed="rId4"/>
          <a:stretch>
            <a:fillRect/>
          </a:stretch>
        </p:blipFill>
        <p:spPr>
          <a:xfrm>
            <a:off x="9982566" y="2092271"/>
            <a:ext cx="4154793" cy="2326684"/>
          </a:xfrm>
          <a:prstGeom prst="rect">
            <a:avLst/>
          </a:prstGeom>
          <a:ln w="57150">
            <a:solidFill>
              <a:schemeClr val="bg1">
                <a:lumMod val="65000"/>
              </a:schemeClr>
            </a:solid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3314"/>
            <a:ext cx="14630400" cy="8248412"/>
          </a:xfrm>
          <a:prstGeom prst="rect">
            <a:avLst/>
          </a:prstGeom>
          <a:solidFill>
            <a:srgbClr val="FAFAFA">
              <a:alpha val="75000"/>
            </a:srgbClr>
          </a:solidFill>
          <a:ln/>
        </p:spPr>
      </p:sp>
      <p:sp>
        <p:nvSpPr>
          <p:cNvPr id="5" name="Text 1"/>
          <p:cNvSpPr/>
          <p:nvPr/>
        </p:nvSpPr>
        <p:spPr>
          <a:xfrm>
            <a:off x="3657601" y="449449"/>
            <a:ext cx="6664270" cy="496133"/>
          </a:xfrm>
          <a:prstGeom prst="rect">
            <a:avLst/>
          </a:prstGeom>
          <a:noFill/>
          <a:ln/>
        </p:spPr>
        <p:txBody>
          <a:bodyPr wrap="none" rtlCol="0" anchor="t"/>
          <a:lstStyle/>
          <a:p>
            <a:pPr algn="ctr">
              <a:lnSpc>
                <a:spcPts val="3907"/>
              </a:lnSpc>
            </a:pPr>
            <a:r>
              <a:rPr lang="en-US" sz="4000" b="1" u="sng" dirty="0" smtClean="0">
                <a:solidFill>
                  <a:schemeClr val="accent1">
                    <a:lumMod val="50000"/>
                  </a:schemeClr>
                </a:solidFill>
              </a:rPr>
              <a:t>5. Code Optimization</a:t>
            </a:r>
            <a:endParaRPr lang="en-US" sz="4000" b="1" u="sng" dirty="0">
              <a:solidFill>
                <a:schemeClr val="accent1">
                  <a:lumMod val="50000"/>
                </a:schemeClr>
              </a:solidFill>
            </a:endParaRPr>
          </a:p>
        </p:txBody>
      </p:sp>
      <p:sp>
        <p:nvSpPr>
          <p:cNvPr id="23" name="TextBox 22"/>
          <p:cNvSpPr txBox="1"/>
          <p:nvPr/>
        </p:nvSpPr>
        <p:spPr>
          <a:xfrm>
            <a:off x="278969" y="1038390"/>
            <a:ext cx="8865031" cy="7366119"/>
          </a:xfrm>
          <a:prstGeom prst="rect">
            <a:avLst/>
          </a:prstGeom>
          <a:noFill/>
        </p:spPr>
        <p:txBody>
          <a:bodyPr wrap="square" rtlCol="0">
            <a:spAutoFit/>
          </a:bodyPr>
          <a:lstStyle/>
          <a:p>
            <a:r>
              <a:rPr lang="en-US" sz="2400" b="1" u="sng" dirty="0" smtClean="0"/>
              <a:t>Definition</a:t>
            </a:r>
            <a:r>
              <a:rPr lang="en-US" sz="2400" u="sng" dirty="0" smtClean="0"/>
              <a:t>: </a:t>
            </a:r>
          </a:p>
          <a:p>
            <a:pPr>
              <a:buFont typeface="Arial" pitchFamily="34" charset="0"/>
              <a:buChar char="•"/>
            </a:pPr>
            <a:r>
              <a:rPr lang="en-US" sz="2400" dirty="0" smtClean="0"/>
              <a:t>The fifth phase of a compiler is optimization. </a:t>
            </a:r>
          </a:p>
          <a:p>
            <a:pPr>
              <a:buFont typeface="Arial" pitchFamily="34" charset="0"/>
              <a:buChar char="•"/>
            </a:pPr>
            <a:r>
              <a:rPr lang="en-US" sz="2400" dirty="0" smtClean="0"/>
              <a:t>This phase applies various optimization techniques to the intermediate code to improve the performance of the generated machine code.</a:t>
            </a:r>
          </a:p>
          <a:p>
            <a:pPr>
              <a:buFont typeface="Arial" pitchFamily="34" charset="0"/>
              <a:buChar char="•"/>
            </a:pPr>
            <a:r>
              <a:rPr lang="en-US" sz="2400" dirty="0" smtClean="0"/>
              <a:t>Enhances the intermediate code to make it more efficient without altering its functionality.</a:t>
            </a:r>
          </a:p>
          <a:p>
            <a:endParaRPr lang="en-US" sz="2400" dirty="0" smtClean="0"/>
          </a:p>
          <a:p>
            <a:r>
              <a:rPr lang="en-US" sz="2400" b="1" u="sng" dirty="0" smtClean="0"/>
              <a:t>Types of Optimization</a:t>
            </a:r>
            <a:r>
              <a:rPr lang="en-US" sz="2400" u="sng" dirty="0" smtClean="0"/>
              <a:t>:</a:t>
            </a:r>
          </a:p>
          <a:p>
            <a:r>
              <a:rPr lang="en-US" sz="2400" b="1" dirty="0" smtClean="0"/>
              <a:t>Local Optimization</a:t>
            </a:r>
            <a:r>
              <a:rPr lang="en-US" sz="2400" dirty="0" smtClean="0"/>
              <a:t>: Within a basic block</a:t>
            </a:r>
          </a:p>
          <a:p>
            <a:r>
              <a:rPr lang="en-US" sz="2400" b="1" dirty="0" smtClean="0"/>
              <a:t>Global Optimization</a:t>
            </a:r>
            <a:r>
              <a:rPr lang="en-US" sz="2400" dirty="0" smtClean="0"/>
              <a:t>: Across multiple blocks</a:t>
            </a:r>
          </a:p>
          <a:p>
            <a:r>
              <a:rPr lang="en-US" sz="2400" b="1" dirty="0" smtClean="0"/>
              <a:t>Loop Optimization</a:t>
            </a:r>
            <a:endParaRPr lang="en-US" sz="2400" dirty="0" smtClean="0"/>
          </a:p>
          <a:p>
            <a:endParaRPr lang="en-US" sz="2400" dirty="0" smtClean="0"/>
          </a:p>
          <a:p>
            <a:r>
              <a:rPr lang="en-US" sz="2400" b="1" u="sng" dirty="0" smtClean="0"/>
              <a:t>Uses:</a:t>
            </a:r>
          </a:p>
          <a:p>
            <a:pPr>
              <a:lnSpc>
                <a:spcPts val="1970"/>
              </a:lnSpc>
            </a:pPr>
            <a:r>
              <a:rPr lang="en-US" sz="2400" dirty="0" smtClean="0">
                <a:ea typeface="Prata" pitchFamily="34" charset="-122"/>
                <a:cs typeface="Prata" pitchFamily="34" charset="-120"/>
              </a:rPr>
              <a:t>Peephole Optimization</a:t>
            </a:r>
            <a:endParaRPr lang="en-US" sz="2400" dirty="0" smtClean="0"/>
          </a:p>
          <a:p>
            <a:r>
              <a:rPr lang="en-US" sz="2400" dirty="0" smtClean="0">
                <a:ea typeface="Prata" pitchFamily="34" charset="-122"/>
                <a:cs typeface="Prata" pitchFamily="34" charset="-120"/>
              </a:rPr>
              <a:t>Control Flow Optimization</a:t>
            </a:r>
            <a:endParaRPr lang="en-US" sz="2400" dirty="0" smtClean="0"/>
          </a:p>
          <a:p>
            <a:r>
              <a:rPr lang="en-US" sz="2400" dirty="0" smtClean="0">
                <a:ea typeface="Prata" pitchFamily="34" charset="-122"/>
                <a:cs typeface="Prata" pitchFamily="34" charset="-120"/>
              </a:rPr>
              <a:t>Data Flow Optimization</a:t>
            </a:r>
            <a:endParaRPr lang="en-US" sz="2400" dirty="0" smtClean="0"/>
          </a:p>
          <a:p>
            <a:endParaRPr lang="en-US" sz="2400" b="1" u="sng" dirty="0" smtClean="0"/>
          </a:p>
          <a:p>
            <a:endParaRPr lang="en-US" sz="2400" dirty="0" smtClean="0"/>
          </a:p>
          <a:p>
            <a:endParaRPr lang="en-US" sz="2400" b="1" dirty="0"/>
          </a:p>
        </p:txBody>
      </p:sp>
      <p:pic>
        <p:nvPicPr>
          <p:cNvPr id="8" name="Picture 7" descr="download (2).png"/>
          <p:cNvPicPr>
            <a:picLocks noChangeAspect="1"/>
          </p:cNvPicPr>
          <p:nvPr/>
        </p:nvPicPr>
        <p:blipFill>
          <a:blip r:embed="rId4"/>
          <a:stretch>
            <a:fillRect/>
          </a:stretch>
        </p:blipFill>
        <p:spPr>
          <a:xfrm>
            <a:off x="9632197" y="2510726"/>
            <a:ext cx="4455763" cy="2495227"/>
          </a:xfrm>
          <a:prstGeom prst="rect">
            <a:avLst/>
          </a:prstGeom>
          <a:ln w="57150">
            <a:solidFill>
              <a:schemeClr val="bg1">
                <a:lumMod val="65000"/>
              </a:schemeClr>
            </a:solid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3314"/>
            <a:ext cx="14630400" cy="8248412"/>
          </a:xfrm>
          <a:prstGeom prst="rect">
            <a:avLst/>
          </a:prstGeom>
          <a:solidFill>
            <a:srgbClr val="FAFAFA">
              <a:alpha val="75000"/>
            </a:srgbClr>
          </a:solidFill>
          <a:ln/>
        </p:spPr>
      </p:sp>
      <p:sp>
        <p:nvSpPr>
          <p:cNvPr id="5" name="Text 1"/>
          <p:cNvSpPr/>
          <p:nvPr/>
        </p:nvSpPr>
        <p:spPr>
          <a:xfrm>
            <a:off x="3657601" y="449449"/>
            <a:ext cx="6664270" cy="496133"/>
          </a:xfrm>
          <a:prstGeom prst="rect">
            <a:avLst/>
          </a:prstGeom>
          <a:noFill/>
          <a:ln/>
        </p:spPr>
        <p:txBody>
          <a:bodyPr wrap="none" rtlCol="0" anchor="t"/>
          <a:lstStyle/>
          <a:p>
            <a:pPr algn="ctr">
              <a:lnSpc>
                <a:spcPts val="3907"/>
              </a:lnSpc>
            </a:pPr>
            <a:r>
              <a:rPr lang="en-US" sz="4000" b="1" u="sng" dirty="0" smtClean="0">
                <a:solidFill>
                  <a:schemeClr val="accent1">
                    <a:lumMod val="50000"/>
                  </a:schemeClr>
                </a:solidFill>
              </a:rPr>
              <a:t>6. Code Generation</a:t>
            </a:r>
            <a:endParaRPr lang="en-US" sz="4000" b="1" u="sng" dirty="0">
              <a:solidFill>
                <a:schemeClr val="accent1">
                  <a:lumMod val="50000"/>
                </a:schemeClr>
              </a:solidFill>
            </a:endParaRPr>
          </a:p>
        </p:txBody>
      </p:sp>
      <p:sp>
        <p:nvSpPr>
          <p:cNvPr id="23" name="TextBox 22"/>
          <p:cNvSpPr txBox="1"/>
          <p:nvPr/>
        </p:nvSpPr>
        <p:spPr>
          <a:xfrm>
            <a:off x="278969" y="1425844"/>
            <a:ext cx="9190495" cy="5519460"/>
          </a:xfrm>
          <a:prstGeom prst="rect">
            <a:avLst/>
          </a:prstGeom>
          <a:noFill/>
        </p:spPr>
        <p:txBody>
          <a:bodyPr wrap="square" rtlCol="0">
            <a:spAutoFit/>
          </a:bodyPr>
          <a:lstStyle/>
          <a:p>
            <a:r>
              <a:rPr lang="en-US" sz="2400" b="1" u="sng" dirty="0" smtClean="0"/>
              <a:t>Definition</a:t>
            </a:r>
            <a:r>
              <a:rPr lang="en-US" sz="2400" u="sng" dirty="0" smtClean="0"/>
              <a:t>: </a:t>
            </a:r>
          </a:p>
          <a:p>
            <a:pPr>
              <a:buFont typeface="Arial" pitchFamily="34" charset="0"/>
              <a:buChar char="•"/>
            </a:pPr>
            <a:r>
              <a:rPr lang="en-US" sz="2400" dirty="0" smtClean="0"/>
              <a:t>The final phase of a compiler is code generation. </a:t>
            </a:r>
          </a:p>
          <a:p>
            <a:pPr>
              <a:buFont typeface="Arial" pitchFamily="34" charset="0"/>
              <a:buChar char="•"/>
            </a:pPr>
            <a:r>
              <a:rPr lang="en-US" sz="2400" dirty="0" smtClean="0"/>
              <a:t>Converts the optimized intermediate code into target machine code.</a:t>
            </a:r>
          </a:p>
          <a:p>
            <a:r>
              <a:rPr lang="en-US" sz="2400" b="1" u="sng" dirty="0" smtClean="0"/>
              <a:t>Process</a:t>
            </a:r>
            <a:r>
              <a:rPr lang="en-US" sz="2400" u="sng" dirty="0" smtClean="0"/>
              <a:t>:</a:t>
            </a:r>
          </a:p>
          <a:p>
            <a:r>
              <a:rPr lang="en-US" sz="2400" b="1" dirty="0" smtClean="0"/>
              <a:t>Input</a:t>
            </a:r>
            <a:r>
              <a:rPr lang="en-US" sz="2400" dirty="0" smtClean="0"/>
              <a:t>: Optimized Intermediate Code</a:t>
            </a:r>
          </a:p>
          <a:p>
            <a:r>
              <a:rPr lang="en-US" sz="2400" b="1" dirty="0" smtClean="0"/>
              <a:t>Output</a:t>
            </a:r>
            <a:r>
              <a:rPr lang="en-US" sz="2400" dirty="0" smtClean="0"/>
              <a:t>: Machine Code (Assembly Code)</a:t>
            </a:r>
          </a:p>
          <a:p>
            <a:endParaRPr lang="en-US" sz="2400" dirty="0" smtClean="0"/>
          </a:p>
          <a:p>
            <a:r>
              <a:rPr lang="en-US" sz="2400" b="1" u="sng" dirty="0" smtClean="0"/>
              <a:t>Uses:</a:t>
            </a:r>
          </a:p>
          <a:p>
            <a:pPr>
              <a:lnSpc>
                <a:spcPts val="2000"/>
              </a:lnSpc>
            </a:pPr>
            <a:r>
              <a:rPr lang="en-US" sz="2400" dirty="0" smtClean="0">
                <a:ea typeface="Raleway" pitchFamily="34" charset="-122"/>
                <a:cs typeface="Raleway" pitchFamily="34" charset="-120"/>
              </a:rPr>
              <a:t>Target Machine Representation</a:t>
            </a:r>
            <a:endParaRPr lang="en-US" sz="2400" dirty="0" smtClean="0"/>
          </a:p>
          <a:p>
            <a:r>
              <a:rPr lang="en-US" sz="2400" dirty="0" smtClean="0">
                <a:ea typeface="Raleway" pitchFamily="34" charset="-122"/>
                <a:cs typeface="Raleway" pitchFamily="34" charset="-120"/>
              </a:rPr>
              <a:t>Register Allocation</a:t>
            </a:r>
            <a:endParaRPr lang="en-US" sz="2400" dirty="0" smtClean="0"/>
          </a:p>
          <a:p>
            <a:r>
              <a:rPr lang="en-US" sz="2400" dirty="0" smtClean="0">
                <a:ea typeface="Raleway" pitchFamily="34" charset="-122"/>
                <a:cs typeface="Raleway" pitchFamily="34" charset="-120"/>
              </a:rPr>
              <a:t>Instruction Selection</a:t>
            </a:r>
            <a:endParaRPr lang="en-US" sz="2400" dirty="0" smtClean="0"/>
          </a:p>
          <a:p>
            <a:r>
              <a:rPr lang="en-US" sz="2400" dirty="0" smtClean="0">
                <a:ea typeface="Raleway" pitchFamily="34" charset="-122"/>
                <a:cs typeface="Raleway" pitchFamily="34" charset="-120"/>
              </a:rPr>
              <a:t>Prologue and Epilogue</a:t>
            </a:r>
            <a:endParaRPr lang="en-US" sz="2400" dirty="0" smtClean="0"/>
          </a:p>
          <a:p>
            <a:endParaRPr lang="en-US" sz="2400" b="1" u="sng" dirty="0" smtClean="0"/>
          </a:p>
          <a:p>
            <a:endParaRPr lang="en-US" sz="2400" dirty="0" smtClean="0"/>
          </a:p>
          <a:p>
            <a:endParaRPr lang="en-US" sz="2400" b="1" dirty="0"/>
          </a:p>
        </p:txBody>
      </p:sp>
      <p:pic>
        <p:nvPicPr>
          <p:cNvPr id="7" name="Picture 6" descr="download (3).jfif"/>
          <p:cNvPicPr>
            <a:picLocks noChangeAspect="1"/>
          </p:cNvPicPr>
          <p:nvPr/>
        </p:nvPicPr>
        <p:blipFill>
          <a:blip r:embed="rId4"/>
          <a:stretch>
            <a:fillRect/>
          </a:stretch>
        </p:blipFill>
        <p:spPr>
          <a:xfrm>
            <a:off x="9558578" y="2107770"/>
            <a:ext cx="4482885" cy="2510416"/>
          </a:xfrm>
          <a:prstGeom prst="rect">
            <a:avLst/>
          </a:prstGeom>
          <a:ln w="57150">
            <a:solidFill>
              <a:schemeClr val="bg1">
                <a:lumMod val="65000"/>
              </a:schemeClr>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3314"/>
            <a:ext cx="14630400" cy="8248412"/>
          </a:xfrm>
          <a:prstGeom prst="rect">
            <a:avLst/>
          </a:prstGeom>
          <a:solidFill>
            <a:srgbClr val="FAFAFA">
              <a:alpha val="75000"/>
            </a:srgbClr>
          </a:solidFill>
          <a:ln/>
        </p:spPr>
      </p:sp>
      <p:sp>
        <p:nvSpPr>
          <p:cNvPr id="5" name="Text 1"/>
          <p:cNvSpPr/>
          <p:nvPr/>
        </p:nvSpPr>
        <p:spPr>
          <a:xfrm>
            <a:off x="3657601" y="449449"/>
            <a:ext cx="6664270" cy="496133"/>
          </a:xfrm>
          <a:prstGeom prst="rect">
            <a:avLst/>
          </a:prstGeom>
          <a:noFill/>
          <a:ln/>
        </p:spPr>
        <p:txBody>
          <a:bodyPr wrap="none" rtlCol="0" anchor="t"/>
          <a:lstStyle/>
          <a:p>
            <a:pPr algn="ctr">
              <a:lnSpc>
                <a:spcPts val="3907"/>
              </a:lnSpc>
            </a:pPr>
            <a:r>
              <a:rPr lang="en-US" sz="4000" b="1" u="sng" dirty="0" smtClean="0">
                <a:solidFill>
                  <a:schemeClr val="accent1">
                    <a:lumMod val="50000"/>
                  </a:schemeClr>
                </a:solidFill>
              </a:rPr>
              <a:t>7. Code Linking and Assembly</a:t>
            </a:r>
            <a:endParaRPr lang="en-US" sz="4000" b="1" u="sng" dirty="0">
              <a:solidFill>
                <a:schemeClr val="accent1">
                  <a:lumMod val="50000"/>
                </a:schemeClr>
              </a:solidFill>
            </a:endParaRPr>
          </a:p>
        </p:txBody>
      </p:sp>
      <p:sp>
        <p:nvSpPr>
          <p:cNvPr id="23" name="TextBox 22"/>
          <p:cNvSpPr txBox="1"/>
          <p:nvPr/>
        </p:nvSpPr>
        <p:spPr>
          <a:xfrm>
            <a:off x="278969" y="1751308"/>
            <a:ext cx="8260597" cy="4524315"/>
          </a:xfrm>
          <a:prstGeom prst="rect">
            <a:avLst/>
          </a:prstGeom>
          <a:noFill/>
        </p:spPr>
        <p:txBody>
          <a:bodyPr wrap="square" rtlCol="0">
            <a:spAutoFit/>
          </a:bodyPr>
          <a:lstStyle/>
          <a:p>
            <a:r>
              <a:rPr lang="en-US" sz="2400" b="1" u="sng" dirty="0" smtClean="0"/>
              <a:t>Definition</a:t>
            </a:r>
            <a:r>
              <a:rPr lang="en-US" sz="2400" u="sng" dirty="0" smtClean="0"/>
              <a:t>: </a:t>
            </a:r>
          </a:p>
          <a:p>
            <a:r>
              <a:rPr lang="en-US" sz="2400" dirty="0" smtClean="0"/>
              <a:t>The final phase where the machine code is linked and assembled into an executable program. </a:t>
            </a:r>
          </a:p>
          <a:p>
            <a:r>
              <a:rPr lang="en-US" sz="2400" b="1" dirty="0" smtClean="0"/>
              <a:t>Linking</a:t>
            </a:r>
            <a:r>
              <a:rPr lang="en-US" sz="2400" dirty="0" smtClean="0"/>
              <a:t>: Resolves external references and combines object code into a single executable.</a:t>
            </a:r>
          </a:p>
          <a:p>
            <a:r>
              <a:rPr lang="en-US" sz="2400" b="1" dirty="0" smtClean="0"/>
              <a:t>Assembly</a:t>
            </a:r>
            <a:r>
              <a:rPr lang="en-US" sz="2400" dirty="0" smtClean="0"/>
              <a:t>: Converts assembly language to machine code.</a:t>
            </a:r>
          </a:p>
          <a:p>
            <a:r>
              <a:rPr lang="en-US" sz="2400" b="1" dirty="0" smtClean="0"/>
              <a:t>Output</a:t>
            </a:r>
            <a:r>
              <a:rPr lang="en-US" sz="2400" dirty="0" smtClean="0"/>
              <a:t>: Executable File (e.g., .exe, .out)</a:t>
            </a:r>
          </a:p>
          <a:p>
            <a:endParaRPr lang="en-US" sz="2400" dirty="0" smtClean="0"/>
          </a:p>
          <a:p>
            <a:r>
              <a:rPr lang="en-US" sz="2400" b="1" dirty="0" smtClean="0"/>
              <a:t>Key Concepts</a:t>
            </a:r>
            <a:r>
              <a:rPr lang="en-US" sz="2400" dirty="0" smtClean="0"/>
              <a:t>: </a:t>
            </a:r>
          </a:p>
          <a:p>
            <a:r>
              <a:rPr lang="en-US" sz="2400" dirty="0" smtClean="0"/>
              <a:t>Static vs. Dynamic Linking, Loader, Object File Format</a:t>
            </a:r>
            <a:endParaRPr lang="en-US" sz="2400" b="1" u="sng" dirty="0" smtClean="0"/>
          </a:p>
          <a:p>
            <a:endParaRPr lang="en-US" sz="2400" dirty="0" smtClean="0"/>
          </a:p>
          <a:p>
            <a:endParaRPr lang="en-US" sz="2400" b="1" dirty="0"/>
          </a:p>
        </p:txBody>
      </p:sp>
      <p:pic>
        <p:nvPicPr>
          <p:cNvPr id="8" name="Picture 7" descr="images.jfif"/>
          <p:cNvPicPr>
            <a:picLocks noChangeAspect="1"/>
          </p:cNvPicPr>
          <p:nvPr/>
        </p:nvPicPr>
        <p:blipFill>
          <a:blip r:embed="rId4"/>
          <a:stretch>
            <a:fillRect/>
          </a:stretch>
        </p:blipFill>
        <p:spPr>
          <a:xfrm>
            <a:off x="9238650" y="2402237"/>
            <a:ext cx="4929707" cy="2760636"/>
          </a:xfrm>
          <a:prstGeom prst="rect">
            <a:avLst/>
          </a:prstGeom>
          <a:ln w="57150">
            <a:solidFill>
              <a:schemeClr val="bg1">
                <a:lumMod val="65000"/>
              </a:schemeClr>
            </a:solid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314"/>
            <a:ext cx="14630400" cy="8229600"/>
          </a:xfrm>
          <a:prstGeom prst="rect">
            <a:avLst/>
          </a:prstGeom>
        </p:spPr>
      </p:pic>
      <p:sp>
        <p:nvSpPr>
          <p:cNvPr id="3" name="Shape 0"/>
          <p:cNvSpPr/>
          <p:nvPr/>
        </p:nvSpPr>
        <p:spPr>
          <a:xfrm>
            <a:off x="0" y="-25440"/>
            <a:ext cx="14630400" cy="8248412"/>
          </a:xfrm>
          <a:prstGeom prst="rect">
            <a:avLst/>
          </a:prstGeom>
          <a:solidFill>
            <a:srgbClr val="FAFAFA">
              <a:alpha val="75000"/>
            </a:srgbClr>
          </a:solidFill>
          <a:ln/>
        </p:spPr>
      </p:sp>
      <p:sp>
        <p:nvSpPr>
          <p:cNvPr id="5" name="Text 1"/>
          <p:cNvSpPr/>
          <p:nvPr/>
        </p:nvSpPr>
        <p:spPr>
          <a:xfrm>
            <a:off x="3006673" y="446135"/>
            <a:ext cx="6664270" cy="496133"/>
          </a:xfrm>
          <a:prstGeom prst="rect">
            <a:avLst/>
          </a:prstGeom>
          <a:noFill/>
          <a:ln/>
        </p:spPr>
        <p:txBody>
          <a:bodyPr wrap="none" rtlCol="0" anchor="t"/>
          <a:lstStyle/>
          <a:p>
            <a:pPr algn="ctr">
              <a:lnSpc>
                <a:spcPts val="3907"/>
              </a:lnSpc>
            </a:pPr>
            <a:r>
              <a:rPr lang="en-US" sz="4400" b="1" u="sng" dirty="0" smtClean="0">
                <a:solidFill>
                  <a:schemeClr val="accent1">
                    <a:lumMod val="50000"/>
                  </a:schemeClr>
                </a:solidFill>
              </a:rPr>
              <a:t>CONCLUSION</a:t>
            </a:r>
            <a:endParaRPr lang="en-US" sz="4400" b="1" u="sng" dirty="0">
              <a:solidFill>
                <a:schemeClr val="accent1">
                  <a:lumMod val="50000"/>
                </a:schemeClr>
              </a:solidFill>
            </a:endParaRPr>
          </a:p>
        </p:txBody>
      </p:sp>
      <p:sp>
        <p:nvSpPr>
          <p:cNvPr id="23" name="TextBox 22"/>
          <p:cNvSpPr txBox="1"/>
          <p:nvPr/>
        </p:nvSpPr>
        <p:spPr>
          <a:xfrm>
            <a:off x="418454" y="1747994"/>
            <a:ext cx="7795647" cy="4154984"/>
          </a:xfrm>
          <a:prstGeom prst="rect">
            <a:avLst/>
          </a:prstGeom>
          <a:noFill/>
        </p:spPr>
        <p:txBody>
          <a:bodyPr wrap="square" rtlCol="0">
            <a:spAutoFit/>
          </a:bodyPr>
          <a:lstStyle/>
          <a:p>
            <a:pPr>
              <a:buFont typeface="Wingdings" pitchFamily="2" charset="2"/>
              <a:buChar char="§"/>
            </a:pPr>
            <a:r>
              <a:rPr lang="en-US" sz="2400" dirty="0" smtClean="0"/>
              <a:t>The phases of compiler design, from lexical analysis to code linking and assembly, form a structured process that transforms high-level code into executable machine code. </a:t>
            </a:r>
          </a:p>
          <a:p>
            <a:pPr>
              <a:buFont typeface="Wingdings" pitchFamily="2" charset="2"/>
              <a:buChar char="§"/>
            </a:pPr>
            <a:endParaRPr lang="en-US" sz="2400" dirty="0" smtClean="0"/>
          </a:p>
          <a:p>
            <a:pPr>
              <a:buFont typeface="Wingdings" pitchFamily="2" charset="2"/>
              <a:buChar char="§"/>
            </a:pPr>
            <a:r>
              <a:rPr lang="en-US" sz="2400" dirty="0" smtClean="0"/>
              <a:t>Each phase plays a critical role in ensuring the program is syntactically correct, semantically accurate, optimized for performance, and ultimately, ready for execution. </a:t>
            </a:r>
          </a:p>
          <a:p>
            <a:pPr>
              <a:buFont typeface="Wingdings" pitchFamily="2" charset="2"/>
              <a:buChar char="§"/>
            </a:pPr>
            <a:endParaRPr lang="en-US" sz="2400" dirty="0" smtClean="0"/>
          </a:p>
          <a:p>
            <a:pPr>
              <a:buFont typeface="Wingdings" pitchFamily="2" charset="2"/>
              <a:buChar char="§"/>
            </a:pPr>
            <a:r>
              <a:rPr lang="en-US" sz="2400" dirty="0" smtClean="0"/>
              <a:t>Understanding these phases is fundamental to appreciating how compilers contribute to the efficiency and reliability of software development.</a:t>
            </a:r>
            <a:endParaRPr lang="en-US" sz="2400" b="1" dirty="0"/>
          </a:p>
        </p:txBody>
      </p:sp>
      <p:pic>
        <p:nvPicPr>
          <p:cNvPr id="7" name="Image 1" descr="preencoded.png"/>
          <p:cNvPicPr>
            <a:picLocks noChangeAspect="1"/>
          </p:cNvPicPr>
          <p:nvPr/>
        </p:nvPicPr>
        <p:blipFill>
          <a:blip r:embed="rId4"/>
          <a:stretch>
            <a:fillRect/>
          </a:stretch>
        </p:blipFill>
        <p:spPr>
          <a:xfrm>
            <a:off x="9144000" y="-6628"/>
            <a:ext cx="5486400" cy="8229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3314"/>
            <a:ext cx="14630400" cy="8248412"/>
          </a:xfrm>
          <a:prstGeom prst="rect">
            <a:avLst/>
          </a:prstGeom>
          <a:solidFill>
            <a:srgbClr val="FAFAFA">
              <a:alpha val="75000"/>
            </a:srgbClr>
          </a:solidFill>
          <a:ln/>
        </p:spPr>
      </p:sp>
      <p:sp>
        <p:nvSpPr>
          <p:cNvPr id="5" name="Text 1"/>
          <p:cNvSpPr/>
          <p:nvPr/>
        </p:nvSpPr>
        <p:spPr>
          <a:xfrm>
            <a:off x="3812583" y="3626603"/>
            <a:ext cx="6664270" cy="496133"/>
          </a:xfrm>
          <a:prstGeom prst="rect">
            <a:avLst/>
          </a:prstGeom>
          <a:noFill/>
          <a:ln/>
        </p:spPr>
        <p:txBody>
          <a:bodyPr wrap="none" rtlCol="0" anchor="t"/>
          <a:lstStyle/>
          <a:p>
            <a:pPr algn="ctr">
              <a:lnSpc>
                <a:spcPts val="3907"/>
              </a:lnSpc>
            </a:pPr>
            <a:r>
              <a:rPr lang="en-US" sz="5400" b="1" u="sng" dirty="0" smtClean="0">
                <a:solidFill>
                  <a:schemeClr val="accent1">
                    <a:lumMod val="50000"/>
                  </a:schemeClr>
                </a:solidFill>
                <a:latin typeface="MV Boli" pitchFamily="2" charset="0"/>
                <a:cs typeface="MV Boli" pitchFamily="2" charset="0"/>
              </a:rPr>
              <a:t>THANK YOU</a:t>
            </a:r>
            <a:endParaRPr lang="en-US" sz="5400" b="1" u="sng" dirty="0">
              <a:solidFill>
                <a:schemeClr val="accent1">
                  <a:lumMod val="50000"/>
                </a:schemeClr>
              </a:solidFill>
              <a:latin typeface="MV Boli" pitchFamily="2" charset="0"/>
              <a:cs typeface="MV Boli" pitchFamily="2" charset="0"/>
            </a:endParaRPr>
          </a:p>
        </p:txBody>
      </p:sp>
      <p:pic>
        <p:nvPicPr>
          <p:cNvPr id="8" name="Image 1" descr="preencoded.png"/>
          <p:cNvPicPr>
            <a:picLocks noChangeAspect="1"/>
          </p:cNvPicPr>
          <p:nvPr/>
        </p:nvPicPr>
        <p:blipFill>
          <a:blip r:embed="rId4"/>
          <a:stretch>
            <a:fillRect/>
          </a:stretch>
        </p:blipFill>
        <p:spPr>
          <a:xfrm>
            <a:off x="0" y="0"/>
            <a:ext cx="4835471" cy="8229599"/>
          </a:xfrm>
          <a:prstGeom prst="rect">
            <a:avLst/>
          </a:prstGeom>
        </p:spPr>
      </p:pic>
      <p:pic>
        <p:nvPicPr>
          <p:cNvPr id="9" name="Image 1" descr="preencoded.png"/>
          <p:cNvPicPr>
            <a:picLocks noChangeAspect="1"/>
          </p:cNvPicPr>
          <p:nvPr/>
        </p:nvPicPr>
        <p:blipFill>
          <a:blip r:embed="rId5"/>
          <a:stretch>
            <a:fillRect/>
          </a:stretch>
        </p:blipFill>
        <p:spPr>
          <a:xfrm>
            <a:off x="9577952" y="15498"/>
            <a:ext cx="5052447" cy="8229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114</TotalTime>
  <Words>802</Words>
  <Application>Microsoft Office PowerPoint</Application>
  <PresentationFormat>Custom</PresentationFormat>
  <Paragraphs>132</Paragraphs>
  <Slides>11</Slides>
  <Notes>11</Notes>
  <HiddenSlides>0</HiddenSlides>
  <MMClips>0</MMClip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Rishuraj</cp:lastModifiedBy>
  <cp:revision>25</cp:revision>
  <dcterms:created xsi:type="dcterms:W3CDTF">2024-08-11T16:33:17Z</dcterms:created>
  <dcterms:modified xsi:type="dcterms:W3CDTF">2025-03-24T10:28:48Z</dcterms:modified>
</cp:coreProperties>
</file>