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6" r:id="rId4"/>
    <p:sldId id="258" r:id="rId5"/>
    <p:sldId id="265" r:id="rId6"/>
    <p:sldId id="259" r:id="rId7"/>
    <p:sldId id="257" r:id="rId8"/>
    <p:sldId id="260" r:id="rId9"/>
    <p:sldId id="262" r:id="rId10"/>
    <p:sldId id="263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-564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11445" y="371959"/>
            <a:ext cx="8632555" cy="3265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428"/>
              </a:lnSpc>
              <a:buNone/>
            </a:pPr>
            <a:r>
              <a:rPr lang="en-US" sz="5143" u="sng" dirty="0">
                <a:solidFill>
                  <a:srgbClr val="FFFFFF"/>
                </a:solidFill>
                <a:latin typeface="Bell MT" pitchFamily="18" charset="0"/>
                <a:ea typeface="Barlow" pitchFamily="34" charset="-122"/>
                <a:cs typeface="Barlow" pitchFamily="34" charset="-120"/>
              </a:rPr>
              <a:t>Edge Detection using Sobel and Prewitt Operators: Applications in Image Processing</a:t>
            </a:r>
            <a:endParaRPr lang="en-US" sz="5143" u="sng" dirty="0">
              <a:latin typeface="Bell MT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745331" y="4749045"/>
            <a:ext cx="7653337" cy="2845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•NAME – </a:t>
            </a:r>
            <a:endParaRPr lang="en-US" sz="2400" b="1" dirty="0" smtClean="0">
              <a:solidFill>
                <a:schemeClr val="bg1"/>
              </a:solidFill>
              <a:latin typeface="MV Boli" pitchFamily="2" charset="0"/>
              <a:cs typeface="MV Boli" pitchFamily="2" charset="0"/>
            </a:endParaRPr>
          </a:p>
          <a:p>
            <a:r>
              <a:rPr lang="en-US" sz="2400" b="1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•</a:t>
            </a:r>
            <a:r>
              <a:rPr lang="en-US" sz="2400" b="1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UNIVERSITY ROLL NO</a:t>
            </a:r>
            <a:r>
              <a:rPr lang="en-US" sz="2400" b="1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: </a:t>
            </a:r>
            <a:endParaRPr lang="en-US" sz="2400" b="1" dirty="0" smtClean="0">
              <a:solidFill>
                <a:schemeClr val="bg1"/>
              </a:solidFill>
              <a:latin typeface="MV Boli" pitchFamily="2" charset="0"/>
              <a:cs typeface="MV Boli" pitchFamily="2" charset="0"/>
            </a:endParaRPr>
          </a:p>
          <a:p>
            <a:r>
              <a:rPr lang="en-US" sz="2400" b="1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•PAPER NAME : Computer Vision</a:t>
            </a:r>
          </a:p>
          <a:p>
            <a:r>
              <a:rPr lang="en-US" sz="2400" b="1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•PAPER CODE : PEC-AIML 701B </a:t>
            </a:r>
          </a:p>
          <a:p>
            <a:r>
              <a:rPr lang="en-US" sz="2400" b="1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•SEMESTER/YEAR : 7TH SEM/ 4th YEAR •DEPARTMENT :CSE(AI&amp;ML)</a:t>
            </a:r>
            <a:endParaRPr lang="en-US" sz="2400" b="1" dirty="0">
              <a:solidFill>
                <a:schemeClr val="bg1"/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745331" y="6708338"/>
            <a:ext cx="340638" cy="340638"/>
          </a:xfrm>
          <a:prstGeom prst="roundRect">
            <a:avLst>
              <a:gd name="adj" fmla="val 26841062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12" name="Picture 11" descr="download.jf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969" y="656025"/>
            <a:ext cx="4906045" cy="2981103"/>
          </a:xfrm>
          <a:prstGeom prst="rect">
            <a:avLst/>
          </a:prstGeom>
          <a:ln w="57150">
            <a:solidFill>
              <a:schemeClr val="bg1">
                <a:lumMod val="65000"/>
              </a:schemeClr>
            </a:solidFill>
          </a:ln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4237" y="4233140"/>
            <a:ext cx="4884777" cy="3103740"/>
          </a:xfrm>
          <a:prstGeom prst="rect">
            <a:avLst/>
          </a:prstGeom>
          <a:ln w="57150"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2510725" y="0"/>
            <a:ext cx="9221491" cy="10352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5264"/>
              </a:lnSpc>
            </a:pPr>
            <a:r>
              <a:rPr lang="en-US" sz="4400" u="sng" dirty="0" smtClean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Fundamentals of Edge Detection</a:t>
            </a:r>
            <a:endParaRPr lang="en-US" sz="4400" u="sng" dirty="0"/>
          </a:p>
        </p:txBody>
      </p:sp>
      <p:sp>
        <p:nvSpPr>
          <p:cNvPr id="7" name="Text 2"/>
          <p:cNvSpPr/>
          <p:nvPr/>
        </p:nvSpPr>
        <p:spPr>
          <a:xfrm>
            <a:off x="340962" y="4820951"/>
            <a:ext cx="13917479" cy="30808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u="sng" dirty="0" smtClean="0">
                <a:solidFill>
                  <a:schemeClr val="bg1"/>
                </a:solidFill>
              </a:rPr>
              <a:t>What is Edge Detection?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A technique used to identify points in a digital image where the image brightness changes sharply.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Crucial for identifying object boundaries, texture, and structure in images.</a:t>
            </a:r>
          </a:p>
          <a:p>
            <a:pPr>
              <a:lnSpc>
                <a:spcPts val="2683"/>
              </a:lnSpc>
            </a:pPr>
            <a:r>
              <a:rPr lang="en-US" sz="2400" b="1" u="sng" dirty="0" smtClean="0">
                <a:solidFill>
                  <a:schemeClr val="bg1"/>
                </a:solidFill>
              </a:rPr>
              <a:t>Why is it Important?</a:t>
            </a:r>
          </a:p>
          <a:p>
            <a:pPr>
              <a:lnSpc>
                <a:spcPts val="2683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Essential for various higher-level image processing tasks such as object recognition, 3D reconstruction, and scene understanding.</a:t>
            </a:r>
          </a:p>
          <a:p>
            <a:pPr>
              <a:lnSpc>
                <a:spcPts val="2683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Edge detection is a fundamental technique in computer vision and image processing, enabling the identification of object boundaries and enhancing image analysis. </a:t>
            </a:r>
          </a:p>
          <a:p>
            <a:pPr>
              <a:lnSpc>
                <a:spcPts val="2683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0" indent="0">
              <a:lnSpc>
                <a:spcPts val="2683"/>
              </a:lnSpc>
              <a:buFont typeface="Arial" pitchFamily="34" charset="0"/>
              <a:buChar char="•"/>
            </a:pPr>
            <a:endParaRPr lang="en-US" sz="2400" dirty="0" smtClean="0">
              <a:solidFill>
                <a:schemeClr val="bg1"/>
              </a:solidFill>
              <a:ea typeface="Barlow" pitchFamily="34" charset="-122"/>
              <a:cs typeface="Barlow" pitchFamily="34" charset="-12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745331" y="6708338"/>
            <a:ext cx="340638" cy="340638"/>
          </a:xfrm>
          <a:prstGeom prst="roundRect">
            <a:avLst>
              <a:gd name="adj" fmla="val 26841062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Box 8"/>
          <p:cNvSpPr txBox="1"/>
          <p:nvPr/>
        </p:nvSpPr>
        <p:spPr>
          <a:xfrm>
            <a:off x="340962" y="1035299"/>
            <a:ext cx="139174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</a:t>
            </a:r>
            <a:r>
              <a:rPr lang="en-US" sz="2400" u="sng" dirty="0" smtClean="0">
                <a:solidFill>
                  <a:schemeClr val="bg1"/>
                </a:solidFill>
              </a:rPr>
              <a:t>early stages of vision processing identify features in images </a:t>
            </a:r>
            <a:r>
              <a:rPr lang="en-US" sz="2400" dirty="0" smtClean="0">
                <a:solidFill>
                  <a:schemeClr val="bg1"/>
                </a:solidFill>
              </a:rPr>
              <a:t>that are relevant to estimating the structure and properties of objects in a scene. </a:t>
            </a:r>
          </a:p>
          <a:p>
            <a:pPr>
              <a:buFont typeface="Arial" pitchFamily="34" charset="0"/>
              <a:buChar char="•"/>
            </a:pPr>
            <a:r>
              <a:rPr lang="en-US" sz="2400" u="sng" dirty="0" smtClean="0">
                <a:solidFill>
                  <a:schemeClr val="bg1"/>
                </a:solidFill>
              </a:rPr>
              <a:t>Edges are one such feature</a:t>
            </a:r>
            <a:r>
              <a:rPr lang="en-US" sz="2400" dirty="0" smtClean="0">
                <a:solidFill>
                  <a:schemeClr val="bg1"/>
                </a:solidFill>
              </a:rPr>
              <a:t>. Edges are significant </a:t>
            </a:r>
            <a:r>
              <a:rPr lang="en-US" sz="2400" u="sng" dirty="0" smtClean="0">
                <a:solidFill>
                  <a:schemeClr val="bg1"/>
                </a:solidFill>
              </a:rPr>
              <a:t>local changes in the image </a:t>
            </a:r>
            <a:r>
              <a:rPr lang="en-US" sz="2400" dirty="0" smtClean="0">
                <a:solidFill>
                  <a:schemeClr val="bg1"/>
                </a:solidFill>
              </a:rPr>
              <a:t>and are important features for analyzing images.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Edges typically </a:t>
            </a:r>
            <a:r>
              <a:rPr lang="en-US" sz="2400" u="sng" dirty="0" smtClean="0">
                <a:solidFill>
                  <a:schemeClr val="bg1"/>
                </a:solidFill>
              </a:rPr>
              <a:t>occur on the boundary between two different regions in an image</a:t>
            </a:r>
            <a:r>
              <a:rPr lang="en-US" sz="2400" dirty="0" smtClean="0">
                <a:solidFill>
                  <a:schemeClr val="bg1"/>
                </a:solidFill>
              </a:rPr>
              <a:t>. 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There are three types of edges: Horizontal edges, Vertical edges, Diagonal edges</a:t>
            </a:r>
          </a:p>
          <a:p>
            <a:pPr fontAlgn="base"/>
            <a:endParaRPr lang="en-US" sz="2400" dirty="0" smtClean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Edge detection is frequently the first step in recovering information from images. Due to its importance, edge detection continues to be an active research area.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2849959" y="73274"/>
            <a:ext cx="7459504" cy="1337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5264"/>
              </a:lnSpc>
            </a:pPr>
            <a:r>
              <a:rPr lang="en-US" sz="4400" b="1" u="sng" dirty="0" smtClean="0">
                <a:solidFill>
                  <a:schemeClr val="bg1"/>
                </a:solidFill>
                <a:latin typeface="+mj-lt"/>
              </a:rPr>
              <a:t>Mathematical</a:t>
            </a:r>
            <a:r>
              <a:rPr lang="en-US" sz="4400" u="sng" dirty="0" smtClean="0">
                <a:solidFill>
                  <a:schemeClr val="bg1"/>
                </a:solidFill>
              </a:rPr>
              <a:t> Foundation</a:t>
            </a:r>
            <a:endParaRPr lang="en-US" sz="4211" u="sng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325464" y="987302"/>
            <a:ext cx="13870983" cy="172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032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Edge Detection Operators</a:t>
            </a:r>
            <a:r>
              <a:rPr lang="en-US" sz="2400" dirty="0" smtClean="0">
                <a:solidFill>
                  <a:schemeClr val="bg1"/>
                </a:solidFill>
              </a:rPr>
              <a:t> are of two types:</a:t>
            </a:r>
          </a:p>
          <a:p>
            <a:pPr>
              <a:lnSpc>
                <a:spcPts val="3032"/>
              </a:lnSpc>
            </a:pPr>
            <a:endParaRPr lang="en-US" sz="2400" dirty="0" smtClean="0">
              <a:solidFill>
                <a:schemeClr val="bg1"/>
              </a:solidFill>
            </a:endParaRPr>
          </a:p>
          <a:p>
            <a:pPr>
              <a:lnSpc>
                <a:spcPts val="3032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Gradient –</a:t>
            </a:r>
            <a:r>
              <a:rPr lang="en-US" sz="2400" dirty="0" smtClean="0">
                <a:solidFill>
                  <a:schemeClr val="bg1"/>
                </a:solidFill>
              </a:rPr>
              <a:t> based operator which </a:t>
            </a:r>
            <a:r>
              <a:rPr lang="en-US" sz="2400" u="sng" dirty="0" smtClean="0">
                <a:solidFill>
                  <a:schemeClr val="bg1"/>
                </a:solidFill>
              </a:rPr>
              <a:t>computes first-order derivations </a:t>
            </a:r>
            <a:r>
              <a:rPr lang="en-US" sz="2400" dirty="0" smtClean="0">
                <a:solidFill>
                  <a:schemeClr val="bg1"/>
                </a:solidFill>
              </a:rPr>
              <a:t>in a digital image like, Sobel operator, Prewitt operator.</a:t>
            </a:r>
          </a:p>
          <a:p>
            <a:pPr>
              <a:lnSpc>
                <a:spcPts val="3032"/>
              </a:lnSpc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2" name="Picture 21" descr="ed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593" y="2569556"/>
            <a:ext cx="5672380" cy="5211465"/>
          </a:xfrm>
          <a:prstGeom prst="rect">
            <a:avLst/>
          </a:prstGeom>
          <a:ln w="57150"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26410" y="0"/>
            <a:ext cx="9752171" cy="685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000" u="sng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Sobel Operator: Theory and Methodology</a:t>
            </a:r>
            <a:endParaRPr lang="en-US" sz="4000" u="sng" dirty="0"/>
          </a:p>
        </p:txBody>
      </p:sp>
      <p:sp>
        <p:nvSpPr>
          <p:cNvPr id="6" name="Text 3"/>
          <p:cNvSpPr/>
          <p:nvPr/>
        </p:nvSpPr>
        <p:spPr>
          <a:xfrm>
            <a:off x="263471" y="1043810"/>
            <a:ext cx="13994970" cy="69223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u="sng" dirty="0" smtClean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Sobel Operator:</a:t>
            </a:r>
          </a:p>
          <a:p>
            <a:endParaRPr lang="en-US" sz="2400" u="sng" dirty="0" smtClean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It is named after Irwin Sobel.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It is a </a:t>
            </a:r>
            <a:r>
              <a:rPr lang="en-US" sz="2400" u="sng" dirty="0" smtClean="0">
                <a:solidFill>
                  <a:schemeClr val="bg1"/>
                </a:solidFill>
              </a:rPr>
              <a:t>discrete differentiation operator.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It computes </a:t>
            </a:r>
            <a:r>
              <a:rPr lang="en-US" sz="2400" u="sng" dirty="0" smtClean="0">
                <a:solidFill>
                  <a:schemeClr val="bg1"/>
                </a:solidFill>
              </a:rPr>
              <a:t>the gradient approximation of image intensity </a:t>
            </a:r>
            <a:r>
              <a:rPr lang="en-US" sz="2400" dirty="0" smtClean="0">
                <a:solidFill>
                  <a:schemeClr val="bg1"/>
                </a:solidFill>
              </a:rPr>
              <a:t>function for image edge detection.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At the pixels of an image, the Sobel operator </a:t>
            </a:r>
            <a:r>
              <a:rPr lang="en-US" sz="2400" u="sng" dirty="0" smtClean="0">
                <a:solidFill>
                  <a:schemeClr val="bg1"/>
                </a:solidFill>
              </a:rPr>
              <a:t>produces either the normal to a vector or the corresponding gradient vector</a:t>
            </a:r>
            <a:r>
              <a:rPr lang="en-US" sz="2400" dirty="0" smtClean="0">
                <a:solidFill>
                  <a:schemeClr val="bg1"/>
                </a:solidFill>
              </a:rPr>
              <a:t>. 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 5.   It is used to detect two kinds of edges in an image: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	Vertical direction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	Horizontal direction</a:t>
            </a:r>
          </a:p>
          <a:p>
            <a:pPr marL="457200" indent="-457200">
              <a:buAutoNum type="arabicPeriod" startAt="6"/>
            </a:pPr>
            <a:r>
              <a:rPr lang="en-US" sz="2400" dirty="0" smtClean="0">
                <a:solidFill>
                  <a:schemeClr val="bg1"/>
                </a:solidFill>
              </a:rPr>
              <a:t>It </a:t>
            </a:r>
            <a:r>
              <a:rPr lang="en-US" sz="2400" u="sng" dirty="0" smtClean="0">
                <a:solidFill>
                  <a:schemeClr val="bg1"/>
                </a:solidFill>
              </a:rPr>
              <a:t>uses two 3 x 3 kernels or masks </a:t>
            </a:r>
            <a:r>
              <a:rPr lang="en-US" sz="2400" dirty="0" smtClean="0">
                <a:solidFill>
                  <a:schemeClr val="bg1"/>
                </a:solidFill>
              </a:rPr>
              <a:t>which are convolved with the input image to calculate the vertical and horizontal derivative approximations respectively –</a:t>
            </a:r>
          </a:p>
          <a:p>
            <a:pPr marL="457200" indent="-457200">
              <a:buAutoNum type="arabicPeriod" startAt="6"/>
            </a:pPr>
            <a:r>
              <a:rPr lang="en-US" sz="2400" dirty="0" smtClean="0">
                <a:solidFill>
                  <a:schemeClr val="bg1"/>
                </a:solidFill>
              </a:rPr>
              <a:t>The Sobel operator is the magnitude of the gradient computed by .</a:t>
            </a:r>
          </a:p>
          <a:p>
            <a:pPr marL="457200" indent="-457200"/>
            <a:r>
              <a:rPr lang="en-US" sz="2400" dirty="0" smtClean="0">
                <a:solidFill>
                  <a:schemeClr val="bg1"/>
                </a:solidFill>
              </a:rPr>
              <a:t>		M = √Sx^2 + Sy^2</a:t>
            </a:r>
          </a:p>
          <a:p>
            <a:pPr marL="457200" indent="-457200"/>
            <a:r>
              <a:rPr lang="en-US" sz="2400" dirty="0" smtClean="0">
                <a:solidFill>
                  <a:schemeClr val="bg1"/>
                </a:solidFill>
              </a:rPr>
              <a:t>		where the partial derivatives are computed by </a:t>
            </a:r>
          </a:p>
          <a:p>
            <a:pPr marL="457200" indent="-457200"/>
            <a:r>
              <a:rPr lang="en-US" sz="2400" dirty="0" smtClean="0">
                <a:solidFill>
                  <a:schemeClr val="bg1"/>
                </a:solidFill>
              </a:rPr>
              <a:t>		Sx = (a2 + ca3 + a4) - (ao + ca7 + a6) </a:t>
            </a:r>
          </a:p>
          <a:p>
            <a:pPr marL="457200" indent="-457200"/>
            <a:r>
              <a:rPr lang="en-US" sz="2400" dirty="0" smtClean="0">
                <a:solidFill>
                  <a:schemeClr val="bg1"/>
                </a:solidFill>
              </a:rPr>
              <a:t>		Sy = (ao + ca1 + a2) - (a6 + ca5 + a4)  with the constant c = 2. Like the other gradient operators, Sx and Sy can be implemented using convolution masks:</a:t>
            </a:r>
          </a:p>
          <a:p>
            <a:pPr marL="457200" indent="-457200"/>
            <a:endParaRPr lang="en-US" sz="2400" dirty="0" smtClean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4929" y="5244515"/>
            <a:ext cx="3336735" cy="1551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3128927" y="73274"/>
            <a:ext cx="7459504" cy="1104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5264"/>
              </a:lnSpc>
            </a:pPr>
            <a:r>
              <a:rPr lang="en-US" sz="4400" u="sng" dirty="0" smtClean="0">
                <a:solidFill>
                  <a:schemeClr val="bg1"/>
                </a:solidFill>
              </a:rPr>
              <a:t>Sobel Operator Method</a:t>
            </a:r>
            <a:endParaRPr lang="en-US" sz="4211" u="sng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325464" y="1540777"/>
            <a:ext cx="7532177" cy="5625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u="sng" dirty="0" smtClean="0">
                <a:solidFill>
                  <a:schemeClr val="bg1"/>
                </a:solidFill>
              </a:rPr>
              <a:t>How it Works: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Combines smoothing (via convolution with a Gaussian filter) with differentiation.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Emphasizes regions of high spatial frequency.</a:t>
            </a: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b="1" u="sng" dirty="0" smtClean="0">
                <a:solidFill>
                  <a:schemeClr val="bg1"/>
                </a:solidFill>
              </a:rPr>
              <a:t>Steps in Sobel Edge Detection: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Step 1: Convert image to grayscale.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Step 2: Apply Sobel filter in horizontal (</a:t>
            </a:r>
            <a:r>
              <a:rPr lang="en-US" sz="2400" dirty="0" err="1" smtClean="0">
                <a:solidFill>
                  <a:schemeClr val="bg1"/>
                </a:solidFill>
              </a:rPr>
              <a:t>Gx</a:t>
            </a:r>
            <a:r>
              <a:rPr lang="en-US" sz="2400" dirty="0" smtClean="0">
                <a:solidFill>
                  <a:schemeClr val="bg1"/>
                </a:solidFill>
              </a:rPr>
              <a:t>) and vertical (</a:t>
            </a:r>
            <a:r>
              <a:rPr lang="en-US" sz="2400" dirty="0" err="1" smtClean="0">
                <a:solidFill>
                  <a:schemeClr val="bg1"/>
                </a:solidFill>
              </a:rPr>
              <a:t>Gy</a:t>
            </a:r>
            <a:r>
              <a:rPr lang="en-US" sz="2400" dirty="0" smtClean="0">
                <a:solidFill>
                  <a:schemeClr val="bg1"/>
                </a:solidFill>
              </a:rPr>
              <a:t>) directions.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Step 3: Compute gradient magnitude and orientation.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Step 4: Apply thresholding to highlight edges.</a:t>
            </a: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b="1" u="sng" dirty="0" smtClean="0">
                <a:solidFill>
                  <a:schemeClr val="bg1"/>
                </a:solidFill>
              </a:rPr>
              <a:t>Applications: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Used in tasks requiring more pronounced edges, such as road detection in self-driving cars.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/>
            </a:r>
            <a:br>
              <a:rPr lang="en-US" sz="2400" dirty="0" smtClean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7927" y="1534351"/>
            <a:ext cx="559951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i="1" u="sng" dirty="0" smtClean="0">
                <a:solidFill>
                  <a:schemeClr val="bg1"/>
                </a:solidFill>
              </a:rPr>
              <a:t>Advantages:</a:t>
            </a:r>
            <a:r>
              <a:rPr lang="en-US" sz="2400" u="sng" dirty="0" smtClean="0">
                <a:solidFill>
                  <a:schemeClr val="bg1"/>
                </a:solidFill>
              </a:rPr>
              <a:t> </a:t>
            </a:r>
            <a:r>
              <a:rPr lang="en-US" sz="2400" dirty="0" smtClean="0">
                <a:solidFill>
                  <a:schemeClr val="bg1"/>
                </a:solidFill>
              </a:rPr>
              <a:t> 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Simple and time efficient computation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Very easy at searching for smooth edges</a:t>
            </a:r>
          </a:p>
          <a:p>
            <a:pPr fontAlgn="base"/>
            <a:endParaRPr lang="en-US" sz="2400" dirty="0" smtClean="0">
              <a:solidFill>
                <a:schemeClr val="bg1"/>
              </a:solidFill>
            </a:endParaRPr>
          </a:p>
          <a:p>
            <a:pPr fontAlgn="base"/>
            <a:r>
              <a:rPr lang="en-US" sz="2400" b="1" i="1" u="sng" dirty="0" smtClean="0">
                <a:solidFill>
                  <a:schemeClr val="bg1"/>
                </a:solidFill>
              </a:rPr>
              <a:t>Limitations:</a:t>
            </a:r>
            <a:r>
              <a:rPr lang="en-US" sz="2400" u="sng" dirty="0" smtClean="0">
                <a:solidFill>
                  <a:schemeClr val="bg1"/>
                </a:solidFill>
              </a:rPr>
              <a:t> </a:t>
            </a:r>
            <a:endParaRPr lang="en-US" sz="2400" dirty="0" smtClean="0">
              <a:solidFill>
                <a:schemeClr val="bg1"/>
              </a:solidFill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Diagonal direction points are not preserved always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Highly sensitive to noise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Not very accurate in edge detection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Detect with thick and rough edges does not give appropriate results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/>
            </a:r>
            <a:br>
              <a:rPr lang="en-US" sz="2400" dirty="0" smtClean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059119" y="1540777"/>
            <a:ext cx="0" cy="5975901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0996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913043" y="263471"/>
            <a:ext cx="10163056" cy="685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400" u="sng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Prewitt Operator: Theory and Methodology</a:t>
            </a:r>
            <a:endParaRPr lang="en-US" sz="4400" u="sng" dirty="0"/>
          </a:p>
        </p:txBody>
      </p:sp>
      <p:sp>
        <p:nvSpPr>
          <p:cNvPr id="12" name="TextBox 11"/>
          <p:cNvSpPr txBox="1"/>
          <p:nvPr/>
        </p:nvSpPr>
        <p:spPr>
          <a:xfrm>
            <a:off x="247974" y="1239864"/>
            <a:ext cx="9856921" cy="733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Prewitt operator was developed by Judith M. S. Prewitt.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The Prewitt operator is another first-order edge detection algorithm, similar to the Sobel operator, that computes the gradient of the image intensity function.</a:t>
            </a:r>
          </a:p>
          <a:p>
            <a:pPr>
              <a:lnSpc>
                <a:spcPts val="311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Methodology:</a:t>
            </a:r>
            <a:endParaRPr lang="en-US" sz="2400" dirty="0" smtClean="0">
              <a:solidFill>
                <a:schemeClr val="bg1"/>
              </a:solidFill>
            </a:endParaRPr>
          </a:p>
          <a:p>
            <a:pPr>
              <a:lnSpc>
                <a:spcPts val="311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ea typeface="Barlow" pitchFamily="34" charset="-122"/>
                <a:cs typeface="Barlow" pitchFamily="34" charset="-120"/>
              </a:rPr>
              <a:t>Prewitt uses two 3x3 kernels, one for horizontal and one for vertical gradient calculation. The resulting gradient magnitude and direction are used to identify edges.</a:t>
            </a:r>
          </a:p>
          <a:p>
            <a:pPr>
              <a:lnSpc>
                <a:spcPts val="311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The Prewitt operator uses the same equations as the Sobel operator, except that the constant c = 1</a:t>
            </a:r>
          </a:p>
          <a:p>
            <a:pPr>
              <a:lnSpc>
                <a:spcPts val="3110"/>
              </a:lnSpc>
            </a:pP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b="1" u="sng" dirty="0" smtClean="0">
                <a:solidFill>
                  <a:schemeClr val="bg1"/>
                </a:solidFill>
              </a:rPr>
              <a:t>How it Differs from Sobel:</a:t>
            </a:r>
            <a:endParaRPr lang="en-US" sz="2400" u="sng" dirty="0" smtClean="0">
              <a:solidFill>
                <a:schemeClr val="bg1"/>
              </a:solidFill>
            </a:endParaRP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Uses simpler 3x3 convolution kernels.</a:t>
            </a: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Less computationally intensive, but also less accurate in detecting diagonal edges.</a:t>
            </a: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Prewitt filters typically offer faster computation.</a:t>
            </a:r>
          </a:p>
          <a:p>
            <a:pPr>
              <a:lnSpc>
                <a:spcPts val="3110"/>
              </a:lnSpc>
            </a:pP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4" name="Picture 13" descr="images.jf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699" y="2886244"/>
            <a:ext cx="4031741" cy="2265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46494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3562880" y="73274"/>
            <a:ext cx="7459504" cy="1337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5264"/>
              </a:lnSpc>
            </a:pPr>
            <a:r>
              <a:rPr lang="en-US" sz="4400" u="sng" dirty="0" smtClean="0">
                <a:solidFill>
                  <a:schemeClr val="bg1"/>
                </a:solidFill>
              </a:rPr>
              <a:t>Prewitt Operator Method</a:t>
            </a:r>
            <a:endParaRPr lang="en-US" sz="4211" u="sng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325464" y="1177871"/>
            <a:ext cx="13576516" cy="6385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u="sng" dirty="0" smtClean="0">
                <a:solidFill>
                  <a:schemeClr val="bg1"/>
                </a:solidFill>
              </a:rPr>
              <a:t>Steps in Prewitt Edge Detection:</a:t>
            </a:r>
            <a:endParaRPr lang="en-US" sz="2400" u="sng" dirty="0" smtClean="0">
              <a:solidFill>
                <a:schemeClr val="bg1"/>
              </a:solidFill>
            </a:endParaRP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Step 1: Convert image to grayscale.</a:t>
            </a: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Step 2: Apply Prewitt filter in horizontal (Px) and vertical (Py) directions.</a:t>
            </a: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Step 3: Compute gradient magnitude using a similar approach to Sobel.</a:t>
            </a: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Step 4: Apply non-maximum suppression to thin out edges.</a:t>
            </a:r>
          </a:p>
          <a:p>
            <a:pPr lvl="1"/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b="1" u="sng" dirty="0" smtClean="0">
                <a:solidFill>
                  <a:schemeClr val="bg1"/>
                </a:solidFill>
              </a:rPr>
              <a:t>Applications:</a:t>
            </a:r>
            <a:endParaRPr lang="en-US" sz="2400" u="sng" dirty="0" smtClean="0">
              <a:solidFill>
                <a:schemeClr val="bg1"/>
              </a:solidFill>
            </a:endParaRP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Preferred in real-time applications where speed is critical, such as video surveillance.</a:t>
            </a:r>
          </a:p>
          <a:p>
            <a:pPr lvl="1"/>
            <a:endParaRPr lang="en-US" sz="2400" dirty="0" smtClean="0">
              <a:solidFill>
                <a:schemeClr val="bg1"/>
              </a:solidFill>
            </a:endParaRPr>
          </a:p>
          <a:p>
            <a:pPr fontAlgn="base"/>
            <a:r>
              <a:rPr lang="en-US" sz="2400" b="1" i="1" u="sng" dirty="0" smtClean="0">
                <a:solidFill>
                  <a:schemeClr val="bg1"/>
                </a:solidFill>
              </a:rPr>
              <a:t>Advantages:</a:t>
            </a:r>
            <a:r>
              <a:rPr lang="en-US" sz="2400" u="sng" dirty="0" smtClean="0">
                <a:solidFill>
                  <a:schemeClr val="bg1"/>
                </a:solidFill>
              </a:rPr>
              <a:t> 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Good performance on detecting vertical and horizontal edges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Best operator to detect the orientation of an image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/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b="1" i="1" u="sng" dirty="0" smtClean="0">
                <a:solidFill>
                  <a:schemeClr val="bg1"/>
                </a:solidFill>
              </a:rPr>
              <a:t>Limitations:</a:t>
            </a:r>
            <a:r>
              <a:rPr lang="en-US" sz="2400" u="sng" dirty="0" smtClean="0">
                <a:solidFill>
                  <a:schemeClr val="bg1"/>
                </a:solidFill>
              </a:rPr>
              <a:t> 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The magnitude of coefficient is fixed and cannot be changed</a:t>
            </a:r>
          </a:p>
          <a:p>
            <a:pPr fontAlgn="base"/>
            <a:r>
              <a:rPr lang="en-US" sz="2400" dirty="0" smtClean="0">
                <a:solidFill>
                  <a:schemeClr val="bg1"/>
                </a:solidFill>
              </a:rPr>
              <a:t>Diagonal direction points are not preserved always</a:t>
            </a:r>
          </a:p>
          <a:p>
            <a:pPr lvl="1"/>
            <a:endParaRPr lang="en-US" sz="2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469200" y="288131"/>
            <a:ext cx="7616666" cy="1212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773"/>
              </a:lnSpc>
              <a:buNone/>
            </a:pPr>
            <a:r>
              <a:rPr lang="en-US" sz="3818" u="sng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Comparison of Sobel and Prewitt Operators</a:t>
            </a:r>
            <a:endParaRPr lang="en-US" sz="3818" u="sng" dirty="0"/>
          </a:p>
        </p:txBody>
      </p:sp>
      <p:sp>
        <p:nvSpPr>
          <p:cNvPr id="7" name="Shape 2"/>
          <p:cNvSpPr/>
          <p:nvPr/>
        </p:nvSpPr>
        <p:spPr>
          <a:xfrm>
            <a:off x="1075611" y="2313980"/>
            <a:ext cx="30480" cy="5141119"/>
          </a:xfrm>
          <a:prstGeom prst="roundRect">
            <a:avLst>
              <a:gd name="adj" fmla="val 300669"/>
            </a:avLst>
          </a:prstGeom>
          <a:solidFill>
            <a:srgbClr val="922022"/>
          </a:solidFill>
          <a:ln/>
        </p:spPr>
      </p:sp>
      <p:sp>
        <p:nvSpPr>
          <p:cNvPr id="8" name="Shape 3"/>
          <p:cNvSpPr/>
          <p:nvPr/>
        </p:nvSpPr>
        <p:spPr>
          <a:xfrm>
            <a:off x="1305818" y="2789515"/>
            <a:ext cx="763667" cy="30480"/>
          </a:xfrm>
          <a:prstGeom prst="roundRect">
            <a:avLst>
              <a:gd name="adj" fmla="val 300669"/>
            </a:avLst>
          </a:prstGeom>
          <a:solidFill>
            <a:srgbClr val="922022"/>
          </a:solidFill>
          <a:ln/>
        </p:spPr>
      </p:sp>
      <p:sp>
        <p:nvSpPr>
          <p:cNvPr id="9" name="Shape 4"/>
          <p:cNvSpPr/>
          <p:nvPr/>
        </p:nvSpPr>
        <p:spPr>
          <a:xfrm>
            <a:off x="845403" y="2559368"/>
            <a:ext cx="490895" cy="490895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39594" y="2659261"/>
            <a:ext cx="102394" cy="2909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1"/>
              </a:lnSpc>
              <a:buNone/>
            </a:pPr>
            <a:r>
              <a:rPr lang="en-US" sz="229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291" dirty="0"/>
          </a:p>
        </p:txBody>
      </p:sp>
      <p:sp>
        <p:nvSpPr>
          <p:cNvPr id="11" name="Text 6"/>
          <p:cNvSpPr/>
          <p:nvPr/>
        </p:nvSpPr>
        <p:spPr>
          <a:xfrm>
            <a:off x="2290882" y="2532102"/>
            <a:ext cx="2794159" cy="3030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86"/>
              </a:lnSpc>
              <a:buNone/>
            </a:pPr>
            <a:r>
              <a:rPr lang="en-US" sz="2400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Computational Complexity</a:t>
            </a:r>
            <a:endParaRPr lang="en-US" sz="2400" b="1" u="sng" dirty="0"/>
          </a:p>
        </p:txBody>
      </p:sp>
      <p:sp>
        <p:nvSpPr>
          <p:cNvPr id="12" name="Text 7"/>
          <p:cNvSpPr/>
          <p:nvPr/>
        </p:nvSpPr>
        <p:spPr>
          <a:xfrm>
            <a:off x="2290882" y="2965966"/>
            <a:ext cx="6089452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49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Sobel is slightly more computationally intensive due to its use of squares in the gradient calculation.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1305818" y="4575929"/>
            <a:ext cx="763667" cy="30480"/>
          </a:xfrm>
          <a:prstGeom prst="roundRect">
            <a:avLst>
              <a:gd name="adj" fmla="val 300669"/>
            </a:avLst>
          </a:prstGeom>
          <a:solidFill>
            <a:srgbClr val="922022"/>
          </a:solidFill>
          <a:ln/>
        </p:spPr>
      </p:sp>
      <p:sp>
        <p:nvSpPr>
          <p:cNvPr id="14" name="Shape 9"/>
          <p:cNvSpPr/>
          <p:nvPr/>
        </p:nvSpPr>
        <p:spPr>
          <a:xfrm>
            <a:off x="845403" y="4345781"/>
            <a:ext cx="490895" cy="490895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11734" y="4445675"/>
            <a:ext cx="158234" cy="2909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1"/>
              </a:lnSpc>
              <a:buNone/>
            </a:pPr>
            <a:r>
              <a:rPr lang="en-US" sz="229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291" dirty="0"/>
          </a:p>
        </p:txBody>
      </p:sp>
      <p:sp>
        <p:nvSpPr>
          <p:cNvPr id="16" name="Text 11"/>
          <p:cNvSpPr/>
          <p:nvPr/>
        </p:nvSpPr>
        <p:spPr>
          <a:xfrm>
            <a:off x="2290882" y="4318516"/>
            <a:ext cx="2424351" cy="3030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86"/>
              </a:lnSpc>
              <a:buNone/>
            </a:pPr>
            <a:r>
              <a:rPr lang="en-US" sz="2400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Noise Sensitivity</a:t>
            </a:r>
            <a:endParaRPr lang="en-US" sz="2400" b="1" u="sng" dirty="0"/>
          </a:p>
        </p:txBody>
      </p:sp>
      <p:sp>
        <p:nvSpPr>
          <p:cNvPr id="17" name="Text 12"/>
          <p:cNvSpPr/>
          <p:nvPr/>
        </p:nvSpPr>
        <p:spPr>
          <a:xfrm>
            <a:off x="2290882" y="4752380"/>
            <a:ext cx="6089452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49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Sobel is generally more robust to noise due to its use of squares, which amplifies the gradient response.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1305818" y="6362343"/>
            <a:ext cx="763667" cy="30480"/>
          </a:xfrm>
          <a:prstGeom prst="roundRect">
            <a:avLst>
              <a:gd name="adj" fmla="val 300669"/>
            </a:avLst>
          </a:prstGeom>
          <a:solidFill>
            <a:srgbClr val="922022"/>
          </a:solidFill>
          <a:ln/>
        </p:spPr>
      </p:sp>
      <p:sp>
        <p:nvSpPr>
          <p:cNvPr id="19" name="Shape 14"/>
          <p:cNvSpPr/>
          <p:nvPr/>
        </p:nvSpPr>
        <p:spPr>
          <a:xfrm>
            <a:off x="845403" y="6132195"/>
            <a:ext cx="490895" cy="490895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14591" y="6232088"/>
            <a:ext cx="152519" cy="2909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1"/>
              </a:lnSpc>
              <a:buNone/>
            </a:pPr>
            <a:r>
              <a:rPr lang="en-US" sz="229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291" dirty="0"/>
          </a:p>
        </p:txBody>
      </p:sp>
      <p:sp>
        <p:nvSpPr>
          <p:cNvPr id="21" name="Text 16"/>
          <p:cNvSpPr/>
          <p:nvPr/>
        </p:nvSpPr>
        <p:spPr>
          <a:xfrm>
            <a:off x="2290882" y="6104930"/>
            <a:ext cx="2664262" cy="3030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86"/>
              </a:lnSpc>
              <a:buNone/>
            </a:pPr>
            <a:r>
              <a:rPr lang="en-US" sz="2400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 Detection Accuracy</a:t>
            </a:r>
            <a:endParaRPr lang="en-US" sz="2400" b="1" u="sng" dirty="0"/>
          </a:p>
        </p:txBody>
      </p:sp>
      <p:sp>
        <p:nvSpPr>
          <p:cNvPr id="22" name="Text 17"/>
          <p:cNvSpPr/>
          <p:nvPr/>
        </p:nvSpPr>
        <p:spPr>
          <a:xfrm>
            <a:off x="2290882" y="6538793"/>
            <a:ext cx="6089452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49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Both operators perform well, but Sobel may be slightly more effective in certain scenarios, such as detecting weak edges.</a:t>
            </a:r>
            <a:endParaRPr lang="en-US" sz="2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733653" y="1332857"/>
            <a:ext cx="8229601" cy="5563892"/>
          </a:xfrm>
          <a:prstGeom prst="rect">
            <a:avLst/>
          </a:prstGeom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216" y="791977"/>
            <a:ext cx="4784726" cy="304400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9458216" y="4458195"/>
            <a:ext cx="45832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Use Cases:</a:t>
            </a:r>
          </a:p>
          <a:p>
            <a:r>
              <a:rPr lang="en-US" sz="2400" b="1" dirty="0" smtClean="0"/>
              <a:t>Sobel:</a:t>
            </a:r>
            <a:r>
              <a:rPr lang="en-US" sz="2400" dirty="0" smtClean="0"/>
              <a:t> Better for high-quality edge detection in still images.</a:t>
            </a:r>
          </a:p>
          <a:p>
            <a:endParaRPr lang="en-US" sz="2400" dirty="0" smtClean="0"/>
          </a:p>
          <a:p>
            <a:r>
              <a:rPr lang="en-US" sz="2400" b="1" dirty="0" smtClean="0"/>
              <a:t>Prewitt:</a:t>
            </a:r>
            <a:r>
              <a:rPr lang="en-US" sz="2400" dirty="0" smtClean="0"/>
              <a:t> Suitable for real-time edge detection in videos or scenarios with constrained resources.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7571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289" y="287536"/>
            <a:ext cx="3141702" cy="230064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04878" y="3189744"/>
            <a:ext cx="11475601" cy="63900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032"/>
              </a:lnSpc>
              <a:buNone/>
            </a:pPr>
            <a:r>
              <a:rPr lang="en-US" sz="4026" u="sng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Applications of Edge Detection in Image Processing</a:t>
            </a:r>
            <a:endParaRPr lang="en-US" sz="4026" u="sng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01" y="4493300"/>
            <a:ext cx="575072" cy="57507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05101" y="5298400"/>
            <a:ext cx="2556153" cy="3194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6"/>
              </a:lnSpc>
              <a:buNone/>
            </a:pPr>
            <a:r>
              <a:rPr lang="en-US" sz="2013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Object Detection</a:t>
            </a:r>
            <a:endParaRPr lang="en-US" sz="2013" b="1" u="sng" dirty="0"/>
          </a:p>
        </p:txBody>
      </p:sp>
      <p:sp>
        <p:nvSpPr>
          <p:cNvPr id="9" name="Text 3"/>
          <p:cNvSpPr/>
          <p:nvPr/>
        </p:nvSpPr>
        <p:spPr>
          <a:xfrm>
            <a:off x="805101" y="5755838"/>
            <a:ext cx="2996208" cy="1840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 detection helps identify object boundaries, enabling more accurate object recognition and segmentation.</a:t>
            </a:r>
            <a:endParaRPr lang="en-US" sz="2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6352" y="4493300"/>
            <a:ext cx="575072" cy="57507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146352" y="5298400"/>
            <a:ext cx="2556153" cy="3194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6"/>
              </a:lnSpc>
              <a:buNone/>
            </a:pPr>
            <a:r>
              <a:rPr lang="en-US" sz="2013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Image Segmentation</a:t>
            </a:r>
            <a:endParaRPr lang="en-US" sz="2013" b="1" u="sng" dirty="0"/>
          </a:p>
        </p:txBody>
      </p:sp>
      <p:sp>
        <p:nvSpPr>
          <p:cNvPr id="12" name="Text 5"/>
          <p:cNvSpPr/>
          <p:nvPr/>
        </p:nvSpPr>
        <p:spPr>
          <a:xfrm>
            <a:off x="4146352" y="5755838"/>
            <a:ext cx="2996327" cy="1840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Edges can be used to partition an image into meaningful regions, facilitating higher-level image analysis.</a:t>
            </a:r>
            <a:endParaRPr lang="en-US" sz="2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7722" y="4493300"/>
            <a:ext cx="575072" cy="57507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487722" y="5298400"/>
            <a:ext cx="2556153" cy="3194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6"/>
              </a:lnSpc>
              <a:buNone/>
            </a:pPr>
            <a:r>
              <a:rPr lang="en-US" sz="2013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 Extraction</a:t>
            </a:r>
            <a:endParaRPr lang="en-US" sz="2013" b="1" u="sng" dirty="0"/>
          </a:p>
        </p:txBody>
      </p:sp>
      <p:sp>
        <p:nvSpPr>
          <p:cNvPr id="15" name="Text 7"/>
          <p:cNvSpPr/>
          <p:nvPr/>
        </p:nvSpPr>
        <p:spPr>
          <a:xfrm>
            <a:off x="7487722" y="5755838"/>
            <a:ext cx="2996208" cy="14720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Edges are critical for identifying and extracting visual features, such as lines, shapes, and textures.</a:t>
            </a:r>
            <a:endParaRPr lang="en-US" sz="20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8973" y="4493300"/>
            <a:ext cx="575072" cy="57507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828973" y="5298400"/>
            <a:ext cx="2556153" cy="3194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16"/>
              </a:lnSpc>
              <a:buNone/>
            </a:pPr>
            <a:r>
              <a:rPr lang="en-US" sz="2013" b="1" u="sng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Image Enhancement</a:t>
            </a:r>
            <a:endParaRPr lang="en-US" sz="2013" b="1" u="sng" dirty="0"/>
          </a:p>
        </p:txBody>
      </p:sp>
      <p:sp>
        <p:nvSpPr>
          <p:cNvPr id="18" name="Text 9"/>
          <p:cNvSpPr/>
          <p:nvPr/>
        </p:nvSpPr>
        <p:spPr>
          <a:xfrm>
            <a:off x="10828973" y="5755838"/>
            <a:ext cx="2996327" cy="14720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 detection can be used to sharpen images, improve contrast, and highlight important details.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75000"/>
            </a:srgbClr>
          </a:solidFill>
          <a:ln/>
        </p:spPr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462" y="5958657"/>
            <a:ext cx="3623905" cy="203846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428037" y="247973"/>
            <a:ext cx="6537365" cy="56626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459"/>
              </a:lnSpc>
              <a:buNone/>
            </a:pPr>
            <a:r>
              <a:rPr lang="en-US" sz="3567" b="1" u="sng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Conclusion and Future Directions</a:t>
            </a:r>
            <a:endParaRPr lang="en-US" sz="3567" b="1" u="sng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378" y="1477923"/>
            <a:ext cx="3993952" cy="8153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311072" y="2882685"/>
            <a:ext cx="2264926" cy="2830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29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9" name="Text 3"/>
          <p:cNvSpPr/>
          <p:nvPr/>
        </p:nvSpPr>
        <p:spPr>
          <a:xfrm>
            <a:off x="1311072" y="3516451"/>
            <a:ext cx="3586282" cy="16305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6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 detection is a fundamental technique in computer vision, with Sobel and Prewitt being two widely used operators for their effectiveness and efficiency.</a:t>
            </a:r>
            <a:endParaRPr lang="en-US" sz="2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4330" y="1477923"/>
            <a:ext cx="3993952" cy="8153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522000" y="2882685"/>
            <a:ext cx="2264926" cy="2830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29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Future Advancements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5522000" y="3516451"/>
            <a:ext cx="3586282" cy="1304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6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Ongoing research aims to develop more robust and adaptive edge detection algorithms, incorporating deep learning and other advanced techniques.</a:t>
            </a:r>
            <a:endParaRPr lang="en-US" sz="20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8282" y="1477923"/>
            <a:ext cx="3993952" cy="8153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515951" y="2882685"/>
            <a:ext cx="2328267" cy="2830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29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Expanding Applications</a:t>
            </a:r>
            <a:endParaRPr lang="en-US" sz="2400" dirty="0"/>
          </a:p>
        </p:txBody>
      </p:sp>
      <p:sp>
        <p:nvSpPr>
          <p:cNvPr id="15" name="Text 7"/>
          <p:cNvSpPr/>
          <p:nvPr/>
        </p:nvSpPr>
        <p:spPr>
          <a:xfrm>
            <a:off x="9515951" y="3516451"/>
            <a:ext cx="3843588" cy="16305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68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Edge detection will continue to play a crucial role in a wide range of image processing and computer vision applications, from autonomous driving to medical imaging.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2836008" y="6586780"/>
            <a:ext cx="537198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>
                <a:solidFill>
                  <a:schemeClr val="bg1"/>
                </a:solidFill>
                <a:latin typeface="MV Boli" pitchFamily="2" charset="0"/>
                <a:cs typeface="MV Boli" pitchFamily="2" charset="0"/>
              </a:rPr>
              <a:t>THANK YOU</a:t>
            </a:r>
            <a:endParaRPr lang="en-US" sz="6600" dirty="0">
              <a:solidFill>
                <a:schemeClr val="bg1"/>
              </a:solidFill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848</Words>
  <Application>Microsoft Office PowerPoint</Application>
  <PresentationFormat>Custom</PresentationFormat>
  <Paragraphs>132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Rishuraj</cp:lastModifiedBy>
  <cp:revision>53</cp:revision>
  <dcterms:created xsi:type="dcterms:W3CDTF">2024-08-13T01:40:43Z</dcterms:created>
  <dcterms:modified xsi:type="dcterms:W3CDTF">2025-03-25T04:16:51Z</dcterms:modified>
</cp:coreProperties>
</file>