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notesSlides/notesSlide1.xml" ContentType="application/vnd.openxmlformats-officedocument.presentationml.notesSlide+xml"/>
  <Default Extension="png" ContentType="image/png"/>
  <Override PartName="/ppt/notesSlides/notesSlide2.xml" ContentType="application/vnd.openxmlformats-officedocument.presentationml.notesSlide+xml"/>
  <Override PartName="/ppt/notesSlides/notesSlide3.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tableStyles.xml" ContentType="application/vnd.openxmlformats-officedocument.presentationml.tableStyle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65" r:id="rId4"/>
    <p:sldId id="258" r:id="rId5"/>
    <p:sldId id="259" r:id="rId6"/>
    <p:sldId id="260" r:id="rId7"/>
    <p:sldId id="261" r:id="rId8"/>
    <p:sldId id="262" r:id="rId9"/>
    <p:sldId id="263" r:id="rId10"/>
    <p:sldId id="266" r:id="rId11"/>
  </p:sldIdLst>
  <p:sldSz cx="14630400" cy="8229600"/>
  <p:notesSz cx="8229600" cy="14630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1" d="100"/>
          <a:sy n="61" d="100"/>
        </p:scale>
        <p:origin x="-564" y="-84"/>
      </p:cViewPr>
      <p:guideLst>
        <p:guide orient="horz" pos="2592"/>
        <p:guide pos="4608"/>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1</a:t>
            </a:fld>
            <a:endParaRPr lang="en-US"/>
          </a:p>
        </p:txBody>
      </p:sp>
    </p:spTree>
    <p:extLst>
      <p:ext uri="{BB962C8B-B14F-4D97-AF65-F5344CB8AC3E}">
        <p14:creationId xmlns=""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2</a:t>
            </a:fld>
            <a:endParaRPr lang="en-US"/>
          </a:p>
        </p:txBody>
      </p:sp>
    </p:spTree>
    <p:extLst>
      <p:ext uri="{BB962C8B-B14F-4D97-AF65-F5344CB8AC3E}">
        <p14:creationId xmlns=""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3</a:t>
            </a:fld>
            <a:endParaRPr lang="en-US"/>
          </a:p>
        </p:txBody>
      </p:sp>
    </p:spTree>
    <p:extLst>
      <p:ext uri="{BB962C8B-B14F-4D97-AF65-F5344CB8AC3E}">
        <p14:creationId xmlns=""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4</a:t>
            </a:fld>
            <a:endParaRPr lang="en-US"/>
          </a:p>
        </p:txBody>
      </p:sp>
    </p:spTree>
    <p:extLst>
      <p:ext uri="{BB962C8B-B14F-4D97-AF65-F5344CB8AC3E}">
        <p14:creationId xmlns=""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5</a:t>
            </a:fld>
            <a:endParaRPr lang="en-US"/>
          </a:p>
        </p:txBody>
      </p:sp>
    </p:spTree>
    <p:extLst>
      <p:ext uri="{BB962C8B-B14F-4D97-AF65-F5344CB8AC3E}">
        <p14:creationId xmlns=""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6</a:t>
            </a:fld>
            <a:endParaRPr lang="en-US"/>
          </a:p>
        </p:txBody>
      </p:sp>
    </p:spTree>
    <p:extLst>
      <p:ext uri="{BB962C8B-B14F-4D97-AF65-F5344CB8AC3E}">
        <p14:creationId xmlns=""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7</a:t>
            </a:fld>
            <a:endParaRPr lang="en-US"/>
          </a:p>
        </p:txBody>
      </p:sp>
    </p:spTree>
    <p:extLst>
      <p:ext uri="{BB962C8B-B14F-4D97-AF65-F5344CB8AC3E}">
        <p14:creationId xmlns=""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8</a:t>
            </a:fld>
            <a:endParaRPr lang="en-US"/>
          </a:p>
        </p:txBody>
      </p:sp>
    </p:spTree>
    <p:extLst>
      <p:ext uri="{BB962C8B-B14F-4D97-AF65-F5344CB8AC3E}">
        <p14:creationId xmlns=""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9</a:t>
            </a:fld>
            <a:endParaRPr lang="en-US"/>
          </a:p>
        </p:txBody>
      </p:sp>
    </p:spTree>
    <p:extLst>
      <p:ext uri="{BB962C8B-B14F-4D97-AF65-F5344CB8AC3E}">
        <p14:creationId xmlns=""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10</a:t>
            </a:fld>
            <a:endParaRPr lang="en-US"/>
          </a:p>
        </p:txBody>
      </p:sp>
    </p:spTree>
    <p:extLst>
      <p:ext uri="{BB962C8B-B14F-4D97-AF65-F5344CB8AC3E}">
        <p14:creationId xmlns=""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1.png"/><Relationship Id="rId7"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pic>
        <p:nvPicPr>
          <p:cNvPr id="4" name="Image 1" descr="preencoded.png"/>
          <p:cNvPicPr>
            <a:picLocks noChangeAspect="1"/>
          </p:cNvPicPr>
          <p:nvPr/>
        </p:nvPicPr>
        <p:blipFill>
          <a:blip r:embed="rId4"/>
          <a:stretch>
            <a:fillRect/>
          </a:stretch>
        </p:blipFill>
        <p:spPr>
          <a:xfrm>
            <a:off x="0" y="0"/>
            <a:ext cx="5486400" cy="8229600"/>
          </a:xfrm>
          <a:prstGeom prst="rect">
            <a:avLst/>
          </a:prstGeom>
        </p:spPr>
      </p:pic>
      <p:sp>
        <p:nvSpPr>
          <p:cNvPr id="5" name="Text 1"/>
          <p:cNvSpPr/>
          <p:nvPr/>
        </p:nvSpPr>
        <p:spPr>
          <a:xfrm>
            <a:off x="6350198" y="402956"/>
            <a:ext cx="7675768" cy="2743200"/>
          </a:xfrm>
          <a:prstGeom prst="rect">
            <a:avLst/>
          </a:prstGeom>
          <a:noFill/>
          <a:ln/>
        </p:spPr>
        <p:txBody>
          <a:bodyPr wrap="square" rtlCol="0" anchor="t"/>
          <a:lstStyle/>
          <a:p>
            <a:pPr marL="0" indent="0">
              <a:lnSpc>
                <a:spcPts val="8382"/>
              </a:lnSpc>
              <a:buNone/>
            </a:pPr>
            <a:r>
              <a:rPr lang="en-US" sz="5400" u="sng" dirty="0" smtClean="0">
                <a:solidFill>
                  <a:schemeClr val="bg1"/>
                </a:solidFill>
                <a:latin typeface="Bell MT" pitchFamily="18" charset="0"/>
              </a:rPr>
              <a:t>Rules &amp; Regulations for Controlling E-Commerce</a:t>
            </a:r>
            <a:endParaRPr lang="en-US" sz="5400" u="sng" dirty="0">
              <a:solidFill>
                <a:schemeClr val="bg1"/>
              </a:solidFill>
              <a:latin typeface="Bell MT" pitchFamily="18" charset="0"/>
            </a:endParaRPr>
          </a:p>
        </p:txBody>
      </p:sp>
      <p:sp>
        <p:nvSpPr>
          <p:cNvPr id="6" name="Text 2"/>
          <p:cNvSpPr/>
          <p:nvPr/>
        </p:nvSpPr>
        <p:spPr>
          <a:xfrm>
            <a:off x="6396694" y="3735091"/>
            <a:ext cx="7629272" cy="2836189"/>
          </a:xfrm>
          <a:prstGeom prst="rect">
            <a:avLst/>
          </a:prstGeom>
          <a:noFill/>
          <a:ln/>
        </p:spPr>
        <p:txBody>
          <a:bodyPr wrap="square" rtlCol="0" anchor="t"/>
          <a:lstStyle/>
          <a:p>
            <a:r>
              <a:rPr lang="en-US" sz="2800" b="1" dirty="0" smtClean="0">
                <a:solidFill>
                  <a:schemeClr val="bg1"/>
                </a:solidFill>
                <a:latin typeface="MV Boli" pitchFamily="2" charset="0"/>
                <a:cs typeface="MV Boli" pitchFamily="2" charset="0"/>
              </a:rPr>
              <a:t>•NAME – </a:t>
            </a:r>
          </a:p>
          <a:p>
            <a:r>
              <a:rPr lang="en-US" sz="2800" b="1" dirty="0" smtClean="0">
                <a:solidFill>
                  <a:schemeClr val="bg1"/>
                </a:solidFill>
                <a:latin typeface="MV Boli" pitchFamily="2" charset="0"/>
                <a:cs typeface="MV Boli" pitchFamily="2" charset="0"/>
              </a:rPr>
              <a:t>•UNIVERSITY ROLL </a:t>
            </a:r>
            <a:r>
              <a:rPr lang="en-US" sz="2800" b="1" smtClean="0">
                <a:solidFill>
                  <a:schemeClr val="bg1"/>
                </a:solidFill>
                <a:latin typeface="MV Boli" pitchFamily="2" charset="0"/>
                <a:cs typeface="MV Boli" pitchFamily="2" charset="0"/>
              </a:rPr>
              <a:t>NO</a:t>
            </a:r>
            <a:r>
              <a:rPr lang="en-US" sz="2800" b="1" smtClean="0">
                <a:solidFill>
                  <a:schemeClr val="bg1"/>
                </a:solidFill>
                <a:latin typeface="MV Boli" pitchFamily="2" charset="0"/>
                <a:cs typeface="MV Boli" pitchFamily="2" charset="0"/>
              </a:rPr>
              <a:t>:</a:t>
            </a:r>
            <a:endParaRPr lang="en-US" sz="2800" b="1" dirty="0" smtClean="0">
              <a:solidFill>
                <a:schemeClr val="bg1"/>
              </a:solidFill>
              <a:latin typeface="MV Boli" pitchFamily="2" charset="0"/>
              <a:cs typeface="MV Boli" pitchFamily="2" charset="0"/>
            </a:endParaRPr>
          </a:p>
          <a:p>
            <a:r>
              <a:rPr lang="en-US" sz="2800" b="1" dirty="0" smtClean="0">
                <a:solidFill>
                  <a:schemeClr val="bg1"/>
                </a:solidFill>
                <a:latin typeface="MV Boli" pitchFamily="2" charset="0"/>
                <a:cs typeface="MV Boli" pitchFamily="2" charset="0"/>
              </a:rPr>
              <a:t>•PAPER NAME : E-Commerce &amp; ERP</a:t>
            </a:r>
          </a:p>
          <a:p>
            <a:r>
              <a:rPr lang="en-US" sz="2800" b="1" dirty="0" smtClean="0">
                <a:solidFill>
                  <a:schemeClr val="bg1"/>
                </a:solidFill>
                <a:latin typeface="MV Boli" pitchFamily="2" charset="0"/>
                <a:cs typeface="MV Boli" pitchFamily="2" charset="0"/>
              </a:rPr>
              <a:t>•PAPER CODE : PEC-AIML 702A </a:t>
            </a:r>
          </a:p>
          <a:p>
            <a:r>
              <a:rPr lang="en-US" sz="2800" b="1" dirty="0" smtClean="0">
                <a:solidFill>
                  <a:schemeClr val="bg1"/>
                </a:solidFill>
                <a:latin typeface="MV Boli" pitchFamily="2" charset="0"/>
                <a:cs typeface="MV Boli" pitchFamily="2" charset="0"/>
              </a:rPr>
              <a:t>•SEMESTER/YEAR : 7TH SEM/ 4th YEAR •DEPARTMENT :CSE(AI&amp;ML)</a:t>
            </a:r>
            <a:endParaRPr lang="en-US" sz="2800" b="1" dirty="0">
              <a:solidFill>
                <a:schemeClr val="bg1"/>
              </a:solidFill>
              <a:latin typeface="MV Boli" pitchFamily="2" charset="0"/>
              <a:cs typeface="MV Boli" pitchFamily="2" charset="0"/>
            </a:endParaRPr>
          </a:p>
        </p:txBody>
      </p:sp>
      <p:sp>
        <p:nvSpPr>
          <p:cNvPr id="7" name="Shape 3"/>
          <p:cNvSpPr/>
          <p:nvPr/>
        </p:nvSpPr>
        <p:spPr>
          <a:xfrm>
            <a:off x="6350198" y="6824901"/>
            <a:ext cx="394930" cy="394930"/>
          </a:xfrm>
          <a:prstGeom prst="roundRect">
            <a:avLst>
              <a:gd name="adj" fmla="val 23151155"/>
            </a:avLst>
          </a:prstGeom>
          <a:noFill/>
          <a:ln w="7620">
            <a:solidFill>
              <a:srgbClr val="FFFFFF"/>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9151A">
              <a:alpha val="75000"/>
            </a:srgbClr>
          </a:solidFill>
          <a:ln/>
        </p:spPr>
      </p:sp>
      <p:sp>
        <p:nvSpPr>
          <p:cNvPr id="4" name="Text 1"/>
          <p:cNvSpPr/>
          <p:nvPr/>
        </p:nvSpPr>
        <p:spPr>
          <a:xfrm>
            <a:off x="836908" y="0"/>
            <a:ext cx="13111567" cy="1382690"/>
          </a:xfrm>
          <a:prstGeom prst="rect">
            <a:avLst/>
          </a:prstGeom>
          <a:noFill/>
          <a:ln/>
        </p:spPr>
        <p:txBody>
          <a:bodyPr wrap="none" rtlCol="0" anchor="t"/>
          <a:lstStyle/>
          <a:p>
            <a:pPr algn="ctr">
              <a:lnSpc>
                <a:spcPts val="8382"/>
              </a:lnSpc>
            </a:pPr>
            <a:r>
              <a:rPr lang="en-US" sz="5400" u="sng" dirty="0" smtClean="0">
                <a:solidFill>
                  <a:srgbClr val="F5F0F0"/>
                </a:solidFill>
                <a:latin typeface="Asar" pitchFamily="34" charset="0"/>
                <a:ea typeface="Asar" pitchFamily="34" charset="-122"/>
                <a:cs typeface="Asar" pitchFamily="34" charset="-120"/>
              </a:rPr>
              <a:t>Introduction to E-Commerce Regulations</a:t>
            </a:r>
            <a:endParaRPr lang="en-US" sz="5400" u="sng" dirty="0"/>
          </a:p>
        </p:txBody>
      </p:sp>
      <p:sp>
        <p:nvSpPr>
          <p:cNvPr id="6" name="Text 3"/>
          <p:cNvSpPr/>
          <p:nvPr/>
        </p:nvSpPr>
        <p:spPr>
          <a:xfrm>
            <a:off x="387458" y="1382690"/>
            <a:ext cx="14010467" cy="6226978"/>
          </a:xfrm>
          <a:prstGeom prst="rect">
            <a:avLst/>
          </a:prstGeom>
          <a:noFill/>
          <a:ln/>
        </p:spPr>
        <p:txBody>
          <a:bodyPr wrap="square" rtlCol="0" anchor="t"/>
          <a:lstStyle/>
          <a:p>
            <a:r>
              <a:rPr lang="en-US" sz="2400" b="1" u="sng" dirty="0" smtClean="0">
                <a:solidFill>
                  <a:schemeClr val="bg1"/>
                </a:solidFill>
              </a:rPr>
              <a:t>Definition of E-Commerce:</a:t>
            </a:r>
          </a:p>
          <a:p>
            <a:endParaRPr lang="en-US" sz="2400" b="1" u="sng" dirty="0" smtClean="0">
              <a:solidFill>
                <a:schemeClr val="bg1"/>
              </a:solidFill>
            </a:endParaRPr>
          </a:p>
          <a:p>
            <a:pPr>
              <a:buFont typeface="Wingdings" pitchFamily="2" charset="2"/>
              <a:buChar char="ü"/>
            </a:pPr>
            <a:r>
              <a:rPr lang="en-US" sz="2400" dirty="0" smtClean="0">
                <a:solidFill>
                  <a:schemeClr val="bg1"/>
                </a:solidFill>
              </a:rPr>
              <a:t>E-Commerce, or electronic commerce, refers to the buying and selling of goods and services, or the transmission of funds or data, over an electronic network, primarily the internet. </a:t>
            </a:r>
          </a:p>
          <a:p>
            <a:pPr>
              <a:buFont typeface="Wingdings" pitchFamily="2" charset="2"/>
              <a:buChar char="ü"/>
            </a:pPr>
            <a:endParaRPr lang="en-US" sz="2400" dirty="0" smtClean="0">
              <a:solidFill>
                <a:schemeClr val="bg1"/>
              </a:solidFill>
            </a:endParaRPr>
          </a:p>
          <a:p>
            <a:pPr>
              <a:buFont typeface="Wingdings" pitchFamily="2" charset="2"/>
              <a:buChar char="ü"/>
            </a:pPr>
            <a:r>
              <a:rPr lang="en-US" sz="2400" dirty="0" smtClean="0">
                <a:solidFill>
                  <a:schemeClr val="bg1"/>
                </a:solidFill>
              </a:rPr>
              <a:t>These transactions occur in various forms, including business-to-business (B2B), business-to-consumer (B2C), consumer-to-consumer (C2C), and consumer-to-business (C2B). </a:t>
            </a:r>
          </a:p>
          <a:p>
            <a:pPr>
              <a:buFont typeface="Wingdings" pitchFamily="2" charset="2"/>
              <a:buChar char="ü"/>
            </a:pPr>
            <a:endParaRPr lang="en-US" sz="2400" dirty="0" smtClean="0">
              <a:solidFill>
                <a:schemeClr val="bg1"/>
              </a:solidFill>
            </a:endParaRPr>
          </a:p>
          <a:p>
            <a:pPr>
              <a:buFont typeface="Wingdings" pitchFamily="2" charset="2"/>
              <a:buChar char="ü"/>
            </a:pPr>
            <a:r>
              <a:rPr lang="en-US" sz="2400" dirty="0" smtClean="0">
                <a:solidFill>
                  <a:schemeClr val="bg1"/>
                </a:solidFill>
              </a:rPr>
              <a:t>E-commerce has transformed traditional retail and business practices, enabling businesses to reach a global market with ease and consumers to access a broader range of products and services from the comfort of their homes.</a:t>
            </a:r>
          </a:p>
          <a:p>
            <a:pPr>
              <a:lnSpc>
                <a:spcPts val="3110"/>
              </a:lnSpc>
            </a:pPr>
            <a:endParaRPr lang="en-US" sz="2400" dirty="0" smtClean="0">
              <a:solidFill>
                <a:schemeClr val="bg1"/>
              </a:solidFill>
              <a:ea typeface="Asar" pitchFamily="34" charset="-122"/>
              <a:cs typeface="Asar" pitchFamily="34" charset="-120"/>
            </a:endParaRPr>
          </a:p>
          <a:p>
            <a:pPr>
              <a:lnSpc>
                <a:spcPts val="3110"/>
              </a:lnSpc>
            </a:pPr>
            <a:r>
              <a:rPr lang="en-US" sz="2400" dirty="0" smtClean="0">
                <a:solidFill>
                  <a:schemeClr val="bg1"/>
                </a:solidFill>
                <a:ea typeface="Asar" pitchFamily="34" charset="-122"/>
                <a:cs typeface="Asar" pitchFamily="34" charset="-120"/>
              </a:rPr>
              <a:t>The rise of e-commerce has brought about a complex web of rules and regulations that businesses must navigate. This presentation will provide an overview of the key regulatory frameworks, consumer protection laws, and compliance requirements governing the rapidly evolving world of online commerce.</a:t>
            </a:r>
            <a:endParaRPr lang="en-US" sz="2400" dirty="0">
              <a:solidFill>
                <a:schemeClr val="bg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9151A">
              <a:alpha val="75000"/>
            </a:srgbClr>
          </a:solidFill>
          <a:ln/>
        </p:spPr>
      </p:sp>
      <p:sp>
        <p:nvSpPr>
          <p:cNvPr id="4" name="Text 1"/>
          <p:cNvSpPr/>
          <p:nvPr/>
        </p:nvSpPr>
        <p:spPr>
          <a:xfrm>
            <a:off x="1731703" y="1046916"/>
            <a:ext cx="10694194" cy="771287"/>
          </a:xfrm>
          <a:prstGeom prst="rect">
            <a:avLst/>
          </a:prstGeom>
          <a:noFill/>
          <a:ln/>
        </p:spPr>
        <p:txBody>
          <a:bodyPr wrap="none" rtlCol="0" anchor="t"/>
          <a:lstStyle/>
          <a:p>
            <a:pPr marL="0" indent="0">
              <a:lnSpc>
                <a:spcPts val="6074"/>
              </a:lnSpc>
              <a:buNone/>
            </a:pPr>
            <a:r>
              <a:rPr lang="en-US" sz="4859" u="sng" dirty="0">
                <a:solidFill>
                  <a:srgbClr val="F5F0F0"/>
                </a:solidFill>
                <a:latin typeface="Asar" pitchFamily="34" charset="0"/>
                <a:ea typeface="Asar" pitchFamily="34" charset="-122"/>
                <a:cs typeface="Asar" pitchFamily="34" charset="-120"/>
              </a:rPr>
              <a:t>Regulatory Frameworks for E-Commerce</a:t>
            </a:r>
            <a:endParaRPr lang="en-US" sz="4859" u="sng" dirty="0"/>
          </a:p>
        </p:txBody>
      </p:sp>
      <p:sp>
        <p:nvSpPr>
          <p:cNvPr id="5" name="Text 2"/>
          <p:cNvSpPr/>
          <p:nvPr/>
        </p:nvSpPr>
        <p:spPr>
          <a:xfrm>
            <a:off x="863798" y="3592116"/>
            <a:ext cx="3085386" cy="385524"/>
          </a:xfrm>
          <a:prstGeom prst="rect">
            <a:avLst/>
          </a:prstGeom>
          <a:noFill/>
          <a:ln/>
        </p:spPr>
        <p:txBody>
          <a:bodyPr wrap="none" rtlCol="0" anchor="t"/>
          <a:lstStyle/>
          <a:p>
            <a:pPr marL="0" indent="0">
              <a:lnSpc>
                <a:spcPts val="3037"/>
              </a:lnSpc>
              <a:buNone/>
            </a:pPr>
            <a:r>
              <a:rPr lang="en-US" sz="2429" dirty="0">
                <a:solidFill>
                  <a:srgbClr val="F5F0F0"/>
                </a:solidFill>
                <a:latin typeface="Asar" pitchFamily="34" charset="0"/>
                <a:ea typeface="Asar" pitchFamily="34" charset="-122"/>
                <a:cs typeface="Asar" pitchFamily="34" charset="-120"/>
              </a:rPr>
              <a:t>Global Guidance</a:t>
            </a:r>
            <a:endParaRPr lang="en-US" sz="2429" dirty="0"/>
          </a:p>
        </p:txBody>
      </p:sp>
      <p:sp>
        <p:nvSpPr>
          <p:cNvPr id="6" name="Text 3"/>
          <p:cNvSpPr/>
          <p:nvPr/>
        </p:nvSpPr>
        <p:spPr>
          <a:xfrm>
            <a:off x="863798" y="4224457"/>
            <a:ext cx="3898940" cy="1579245"/>
          </a:xfrm>
          <a:prstGeom prst="rect">
            <a:avLst/>
          </a:prstGeom>
          <a:noFill/>
          <a:ln/>
        </p:spPr>
        <p:txBody>
          <a:bodyPr wrap="square" rtlCol="0" anchor="t"/>
          <a:lstStyle/>
          <a:p>
            <a:pPr marL="0" indent="0">
              <a:lnSpc>
                <a:spcPts val="3110"/>
              </a:lnSpc>
              <a:buNone/>
            </a:pPr>
            <a:r>
              <a:rPr lang="en-US" sz="1944" dirty="0">
                <a:solidFill>
                  <a:srgbClr val="E2E6E9"/>
                </a:solidFill>
                <a:latin typeface="Asar" pitchFamily="34" charset="0"/>
                <a:ea typeface="Asar" pitchFamily="34" charset="-122"/>
                <a:cs typeface="Asar" pitchFamily="34" charset="-120"/>
              </a:rPr>
              <a:t>International bodies like the OECD and UN have developed guidelines to promote harmonized e-commerce regulations across borders.</a:t>
            </a:r>
            <a:endParaRPr lang="en-US" sz="1944" dirty="0"/>
          </a:p>
        </p:txBody>
      </p:sp>
      <p:sp>
        <p:nvSpPr>
          <p:cNvPr id="7" name="Text 4"/>
          <p:cNvSpPr/>
          <p:nvPr/>
        </p:nvSpPr>
        <p:spPr>
          <a:xfrm>
            <a:off x="5372576" y="3592116"/>
            <a:ext cx="3085386" cy="385524"/>
          </a:xfrm>
          <a:prstGeom prst="rect">
            <a:avLst/>
          </a:prstGeom>
          <a:noFill/>
          <a:ln/>
        </p:spPr>
        <p:txBody>
          <a:bodyPr wrap="none" rtlCol="0" anchor="t"/>
          <a:lstStyle/>
          <a:p>
            <a:pPr marL="0" indent="0">
              <a:lnSpc>
                <a:spcPts val="3037"/>
              </a:lnSpc>
              <a:buNone/>
            </a:pPr>
            <a:r>
              <a:rPr lang="en-US" sz="2429" dirty="0">
                <a:solidFill>
                  <a:srgbClr val="F5F0F0"/>
                </a:solidFill>
                <a:latin typeface="Asar" pitchFamily="34" charset="0"/>
                <a:ea typeface="Asar" pitchFamily="34" charset="-122"/>
                <a:cs typeface="Asar" pitchFamily="34" charset="-120"/>
              </a:rPr>
              <a:t>Regional Approaches</a:t>
            </a:r>
            <a:endParaRPr lang="en-US" sz="2429" dirty="0"/>
          </a:p>
        </p:txBody>
      </p:sp>
      <p:sp>
        <p:nvSpPr>
          <p:cNvPr id="8" name="Text 5"/>
          <p:cNvSpPr/>
          <p:nvPr/>
        </p:nvSpPr>
        <p:spPr>
          <a:xfrm>
            <a:off x="5372576" y="4224457"/>
            <a:ext cx="3898940" cy="1579245"/>
          </a:xfrm>
          <a:prstGeom prst="rect">
            <a:avLst/>
          </a:prstGeom>
          <a:noFill/>
          <a:ln/>
        </p:spPr>
        <p:txBody>
          <a:bodyPr wrap="square" rtlCol="0" anchor="t"/>
          <a:lstStyle/>
          <a:p>
            <a:pPr marL="0" indent="0">
              <a:lnSpc>
                <a:spcPts val="3110"/>
              </a:lnSpc>
              <a:buNone/>
            </a:pPr>
            <a:r>
              <a:rPr lang="en-US" sz="1944" dirty="0">
                <a:solidFill>
                  <a:srgbClr val="E2E6E9"/>
                </a:solidFill>
                <a:latin typeface="Asar" pitchFamily="34" charset="0"/>
                <a:ea typeface="Asar" pitchFamily="34" charset="-122"/>
                <a:cs typeface="Asar" pitchFamily="34" charset="-120"/>
              </a:rPr>
              <a:t>The EU, ASEAN, and other regional blocs have enacted their own e-commerce directives and laws to address unique market needs.</a:t>
            </a:r>
            <a:endParaRPr lang="en-US" sz="1944" dirty="0"/>
          </a:p>
        </p:txBody>
      </p:sp>
      <p:sp>
        <p:nvSpPr>
          <p:cNvPr id="9" name="Text 6"/>
          <p:cNvSpPr/>
          <p:nvPr/>
        </p:nvSpPr>
        <p:spPr>
          <a:xfrm>
            <a:off x="9881354" y="3592116"/>
            <a:ext cx="3085386" cy="385524"/>
          </a:xfrm>
          <a:prstGeom prst="rect">
            <a:avLst/>
          </a:prstGeom>
          <a:noFill/>
          <a:ln/>
        </p:spPr>
        <p:txBody>
          <a:bodyPr wrap="none" rtlCol="0" anchor="t"/>
          <a:lstStyle/>
          <a:p>
            <a:pPr marL="0" indent="0">
              <a:lnSpc>
                <a:spcPts val="3037"/>
              </a:lnSpc>
              <a:buNone/>
            </a:pPr>
            <a:r>
              <a:rPr lang="en-US" sz="2429" dirty="0">
                <a:solidFill>
                  <a:srgbClr val="F5F0F0"/>
                </a:solidFill>
                <a:latin typeface="Asar" pitchFamily="34" charset="0"/>
                <a:ea typeface="Asar" pitchFamily="34" charset="-122"/>
                <a:cs typeface="Asar" pitchFamily="34" charset="-120"/>
              </a:rPr>
              <a:t>National Legislation</a:t>
            </a:r>
            <a:endParaRPr lang="en-US" sz="2429" dirty="0"/>
          </a:p>
        </p:txBody>
      </p:sp>
      <p:sp>
        <p:nvSpPr>
          <p:cNvPr id="10" name="Text 7"/>
          <p:cNvSpPr/>
          <p:nvPr/>
        </p:nvSpPr>
        <p:spPr>
          <a:xfrm>
            <a:off x="9881354" y="4224457"/>
            <a:ext cx="3898940" cy="1579245"/>
          </a:xfrm>
          <a:prstGeom prst="rect">
            <a:avLst/>
          </a:prstGeom>
          <a:noFill/>
          <a:ln/>
        </p:spPr>
        <p:txBody>
          <a:bodyPr wrap="square" rtlCol="0" anchor="t"/>
          <a:lstStyle/>
          <a:p>
            <a:pPr marL="0" indent="0">
              <a:lnSpc>
                <a:spcPts val="3110"/>
              </a:lnSpc>
              <a:buNone/>
            </a:pPr>
            <a:r>
              <a:rPr lang="en-US" sz="1944" dirty="0">
                <a:solidFill>
                  <a:srgbClr val="E2E6E9"/>
                </a:solidFill>
                <a:latin typeface="Asar" pitchFamily="34" charset="0"/>
                <a:ea typeface="Asar" pitchFamily="34" charset="-122"/>
                <a:cs typeface="Asar" pitchFamily="34" charset="-120"/>
              </a:rPr>
              <a:t>Most countries have passed e-commerce laws covering areas like online transactions, consumer rights, and digital taxation.</a:t>
            </a:r>
            <a:endParaRPr lang="en-US" sz="1944"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30672"/>
          </a:xfrm>
          <a:prstGeom prst="rect">
            <a:avLst/>
          </a:prstGeom>
          <a:solidFill>
            <a:srgbClr val="09151A">
              <a:alpha val="75000"/>
            </a:srgbClr>
          </a:solidFill>
          <a:ln/>
        </p:spPr>
      </p:sp>
      <p:pic>
        <p:nvPicPr>
          <p:cNvPr id="4" name="Image 1" descr="preencoded.png"/>
          <p:cNvPicPr>
            <a:picLocks noChangeAspect="1"/>
          </p:cNvPicPr>
          <p:nvPr/>
        </p:nvPicPr>
        <p:blipFill>
          <a:blip r:embed="rId4"/>
          <a:stretch>
            <a:fillRect/>
          </a:stretch>
        </p:blipFill>
        <p:spPr>
          <a:xfrm>
            <a:off x="0" y="0"/>
            <a:ext cx="5486400" cy="8230672"/>
          </a:xfrm>
          <a:prstGeom prst="rect">
            <a:avLst/>
          </a:prstGeom>
        </p:spPr>
      </p:pic>
      <p:sp>
        <p:nvSpPr>
          <p:cNvPr id="5" name="Text 1"/>
          <p:cNvSpPr/>
          <p:nvPr/>
        </p:nvSpPr>
        <p:spPr>
          <a:xfrm>
            <a:off x="6303407" y="641866"/>
            <a:ext cx="6570583" cy="729377"/>
          </a:xfrm>
          <a:prstGeom prst="rect">
            <a:avLst/>
          </a:prstGeom>
          <a:noFill/>
          <a:ln/>
        </p:spPr>
        <p:txBody>
          <a:bodyPr wrap="none" rtlCol="0" anchor="t"/>
          <a:lstStyle/>
          <a:p>
            <a:pPr marL="0" indent="0">
              <a:lnSpc>
                <a:spcPts val="5744"/>
              </a:lnSpc>
              <a:buNone/>
            </a:pPr>
            <a:r>
              <a:rPr lang="en-US" sz="4595" u="sng" dirty="0">
                <a:solidFill>
                  <a:srgbClr val="F5F0F0"/>
                </a:solidFill>
                <a:latin typeface="Asar" pitchFamily="34" charset="0"/>
                <a:ea typeface="Asar" pitchFamily="34" charset="-122"/>
                <a:cs typeface="Asar" pitchFamily="34" charset="-120"/>
              </a:rPr>
              <a:t>Consumer Protection Laws</a:t>
            </a:r>
            <a:endParaRPr lang="en-US" sz="4595" u="sng" dirty="0"/>
          </a:p>
        </p:txBody>
      </p:sp>
      <p:sp>
        <p:nvSpPr>
          <p:cNvPr id="6" name="Shape 2"/>
          <p:cNvSpPr/>
          <p:nvPr/>
        </p:nvSpPr>
        <p:spPr>
          <a:xfrm>
            <a:off x="6303407" y="1983819"/>
            <a:ext cx="525185" cy="525185"/>
          </a:xfrm>
          <a:prstGeom prst="roundRect">
            <a:avLst>
              <a:gd name="adj" fmla="val 18668"/>
            </a:avLst>
          </a:prstGeom>
          <a:solidFill>
            <a:srgbClr val="003180"/>
          </a:solidFill>
          <a:ln w="7620">
            <a:solidFill>
              <a:srgbClr val="194A99"/>
            </a:solidFill>
            <a:prstDash val="solid"/>
          </a:ln>
        </p:spPr>
      </p:sp>
      <p:sp>
        <p:nvSpPr>
          <p:cNvPr id="7" name="Text 3"/>
          <p:cNvSpPr/>
          <p:nvPr/>
        </p:nvSpPr>
        <p:spPr>
          <a:xfrm>
            <a:off x="6485453" y="2071330"/>
            <a:ext cx="161092" cy="350163"/>
          </a:xfrm>
          <a:prstGeom prst="rect">
            <a:avLst/>
          </a:prstGeom>
          <a:noFill/>
          <a:ln/>
        </p:spPr>
        <p:txBody>
          <a:bodyPr wrap="none" rtlCol="0" anchor="t"/>
          <a:lstStyle/>
          <a:p>
            <a:pPr marL="0" indent="0" algn="ctr">
              <a:lnSpc>
                <a:spcPts val="2757"/>
              </a:lnSpc>
              <a:buNone/>
            </a:pPr>
            <a:r>
              <a:rPr lang="en-US" sz="2757" dirty="0">
                <a:solidFill>
                  <a:srgbClr val="E2E6E9"/>
                </a:solidFill>
                <a:latin typeface="Asar" pitchFamily="34" charset="0"/>
                <a:ea typeface="Asar" pitchFamily="34" charset="-122"/>
                <a:cs typeface="Asar" pitchFamily="34" charset="-120"/>
              </a:rPr>
              <a:t>1</a:t>
            </a:r>
            <a:endParaRPr lang="en-US" sz="2757" dirty="0"/>
          </a:p>
        </p:txBody>
      </p:sp>
      <p:sp>
        <p:nvSpPr>
          <p:cNvPr id="8" name="Text 4"/>
          <p:cNvSpPr/>
          <p:nvPr/>
        </p:nvSpPr>
        <p:spPr>
          <a:xfrm>
            <a:off x="7061954" y="1983819"/>
            <a:ext cx="2879765" cy="729377"/>
          </a:xfrm>
          <a:prstGeom prst="rect">
            <a:avLst/>
          </a:prstGeom>
          <a:noFill/>
          <a:ln/>
        </p:spPr>
        <p:txBody>
          <a:bodyPr wrap="square" rtlCol="0" anchor="t"/>
          <a:lstStyle/>
          <a:p>
            <a:pPr marL="0" indent="0">
              <a:lnSpc>
                <a:spcPts val="2872"/>
              </a:lnSpc>
              <a:buNone/>
            </a:pPr>
            <a:r>
              <a:rPr lang="en-US" sz="2298" dirty="0">
                <a:solidFill>
                  <a:srgbClr val="E2E6E9"/>
                </a:solidFill>
                <a:latin typeface="Asar" pitchFamily="34" charset="0"/>
                <a:ea typeface="Asar" pitchFamily="34" charset="-122"/>
                <a:cs typeface="Asar" pitchFamily="34" charset="-120"/>
              </a:rPr>
              <a:t>Transparency Requirements</a:t>
            </a:r>
            <a:endParaRPr lang="en-US" sz="2298" dirty="0"/>
          </a:p>
        </p:txBody>
      </p:sp>
      <p:sp>
        <p:nvSpPr>
          <p:cNvPr id="9" name="Text 5"/>
          <p:cNvSpPr/>
          <p:nvPr/>
        </p:nvSpPr>
        <p:spPr>
          <a:xfrm>
            <a:off x="7061954" y="2853214"/>
            <a:ext cx="2879765" cy="1867495"/>
          </a:xfrm>
          <a:prstGeom prst="rect">
            <a:avLst/>
          </a:prstGeom>
          <a:noFill/>
          <a:ln/>
        </p:spPr>
        <p:txBody>
          <a:bodyPr wrap="square" rtlCol="0" anchor="t"/>
          <a:lstStyle/>
          <a:p>
            <a:pPr marL="0" indent="0">
              <a:lnSpc>
                <a:spcPts val="2941"/>
              </a:lnSpc>
              <a:buNone/>
            </a:pPr>
            <a:r>
              <a:rPr lang="en-US" sz="1838" dirty="0">
                <a:solidFill>
                  <a:srgbClr val="E2E6E9"/>
                </a:solidFill>
                <a:latin typeface="Asar" pitchFamily="34" charset="0"/>
                <a:ea typeface="Asar" pitchFamily="34" charset="-122"/>
                <a:cs typeface="Asar" pitchFamily="34" charset="-120"/>
              </a:rPr>
              <a:t>Mandatory disclosure of product details, pricing, and merchant information to empower informed consumer decisions.</a:t>
            </a:r>
            <a:endParaRPr lang="en-US" sz="1838" dirty="0"/>
          </a:p>
        </p:txBody>
      </p:sp>
      <p:sp>
        <p:nvSpPr>
          <p:cNvPr id="10" name="Shape 6"/>
          <p:cNvSpPr/>
          <p:nvPr/>
        </p:nvSpPr>
        <p:spPr>
          <a:xfrm>
            <a:off x="10175081" y="1983819"/>
            <a:ext cx="525185" cy="525185"/>
          </a:xfrm>
          <a:prstGeom prst="roundRect">
            <a:avLst>
              <a:gd name="adj" fmla="val 18668"/>
            </a:avLst>
          </a:prstGeom>
          <a:solidFill>
            <a:srgbClr val="003180"/>
          </a:solidFill>
          <a:ln w="7620">
            <a:solidFill>
              <a:srgbClr val="194A99"/>
            </a:solidFill>
            <a:prstDash val="solid"/>
          </a:ln>
        </p:spPr>
      </p:sp>
      <p:sp>
        <p:nvSpPr>
          <p:cNvPr id="11" name="Text 7"/>
          <p:cNvSpPr/>
          <p:nvPr/>
        </p:nvSpPr>
        <p:spPr>
          <a:xfrm>
            <a:off x="10339268" y="2071330"/>
            <a:ext cx="196810" cy="350163"/>
          </a:xfrm>
          <a:prstGeom prst="rect">
            <a:avLst/>
          </a:prstGeom>
          <a:noFill/>
          <a:ln/>
        </p:spPr>
        <p:txBody>
          <a:bodyPr wrap="none" rtlCol="0" anchor="t"/>
          <a:lstStyle/>
          <a:p>
            <a:pPr marL="0" indent="0" algn="ctr">
              <a:lnSpc>
                <a:spcPts val="2757"/>
              </a:lnSpc>
              <a:buNone/>
            </a:pPr>
            <a:r>
              <a:rPr lang="en-US" sz="2757" dirty="0">
                <a:solidFill>
                  <a:srgbClr val="E2E6E9"/>
                </a:solidFill>
                <a:latin typeface="Asar" pitchFamily="34" charset="0"/>
                <a:ea typeface="Asar" pitchFamily="34" charset="-122"/>
                <a:cs typeface="Asar" pitchFamily="34" charset="-120"/>
              </a:rPr>
              <a:t>2</a:t>
            </a:r>
            <a:endParaRPr lang="en-US" sz="2757" dirty="0"/>
          </a:p>
        </p:txBody>
      </p:sp>
      <p:sp>
        <p:nvSpPr>
          <p:cNvPr id="12" name="Text 8"/>
          <p:cNvSpPr/>
          <p:nvPr/>
        </p:nvSpPr>
        <p:spPr>
          <a:xfrm>
            <a:off x="10933628" y="1983819"/>
            <a:ext cx="2879765" cy="364688"/>
          </a:xfrm>
          <a:prstGeom prst="rect">
            <a:avLst/>
          </a:prstGeom>
          <a:noFill/>
          <a:ln/>
        </p:spPr>
        <p:txBody>
          <a:bodyPr wrap="none" rtlCol="0" anchor="t"/>
          <a:lstStyle/>
          <a:p>
            <a:pPr marL="0" indent="0">
              <a:lnSpc>
                <a:spcPts val="2872"/>
              </a:lnSpc>
              <a:buNone/>
            </a:pPr>
            <a:r>
              <a:rPr lang="en-US" sz="2298" dirty="0">
                <a:solidFill>
                  <a:srgbClr val="E2E6E9"/>
                </a:solidFill>
                <a:latin typeface="Asar" pitchFamily="34" charset="0"/>
                <a:ea typeface="Asar" pitchFamily="34" charset="-122"/>
                <a:cs typeface="Asar" pitchFamily="34" charset="-120"/>
              </a:rPr>
              <a:t>Cooling-Off Periods</a:t>
            </a:r>
            <a:endParaRPr lang="en-US" sz="2298" dirty="0"/>
          </a:p>
        </p:txBody>
      </p:sp>
      <p:sp>
        <p:nvSpPr>
          <p:cNvPr id="13" name="Text 9"/>
          <p:cNvSpPr/>
          <p:nvPr/>
        </p:nvSpPr>
        <p:spPr>
          <a:xfrm>
            <a:off x="10933628" y="2488525"/>
            <a:ext cx="2879765" cy="1493996"/>
          </a:xfrm>
          <a:prstGeom prst="rect">
            <a:avLst/>
          </a:prstGeom>
          <a:noFill/>
          <a:ln/>
        </p:spPr>
        <p:txBody>
          <a:bodyPr wrap="square" rtlCol="0" anchor="t"/>
          <a:lstStyle/>
          <a:p>
            <a:pPr marL="0" indent="0">
              <a:lnSpc>
                <a:spcPts val="2941"/>
              </a:lnSpc>
              <a:buNone/>
            </a:pPr>
            <a:r>
              <a:rPr lang="en-US" sz="1838" dirty="0">
                <a:solidFill>
                  <a:srgbClr val="E2E6E9"/>
                </a:solidFill>
                <a:latin typeface="Asar" pitchFamily="34" charset="0"/>
                <a:ea typeface="Asar" pitchFamily="34" charset="-122"/>
                <a:cs typeface="Asar" pitchFamily="34" charset="-120"/>
              </a:rPr>
              <a:t>Allowances for customers to cancel orders and receive refunds within a set timeframe.</a:t>
            </a:r>
            <a:endParaRPr lang="en-US" sz="1838" dirty="0"/>
          </a:p>
        </p:txBody>
      </p:sp>
      <p:sp>
        <p:nvSpPr>
          <p:cNvPr id="14" name="Shape 10"/>
          <p:cNvSpPr/>
          <p:nvPr/>
        </p:nvSpPr>
        <p:spPr>
          <a:xfrm>
            <a:off x="6303407" y="5216604"/>
            <a:ext cx="525185" cy="525185"/>
          </a:xfrm>
          <a:prstGeom prst="roundRect">
            <a:avLst>
              <a:gd name="adj" fmla="val 18668"/>
            </a:avLst>
          </a:prstGeom>
          <a:solidFill>
            <a:srgbClr val="003180"/>
          </a:solidFill>
          <a:ln w="7620">
            <a:solidFill>
              <a:srgbClr val="194A99"/>
            </a:solidFill>
            <a:prstDash val="solid"/>
          </a:ln>
        </p:spPr>
      </p:sp>
      <p:sp>
        <p:nvSpPr>
          <p:cNvPr id="15" name="Text 11"/>
          <p:cNvSpPr/>
          <p:nvPr/>
        </p:nvSpPr>
        <p:spPr>
          <a:xfrm>
            <a:off x="6468428" y="5304115"/>
            <a:ext cx="195024" cy="350163"/>
          </a:xfrm>
          <a:prstGeom prst="rect">
            <a:avLst/>
          </a:prstGeom>
          <a:noFill/>
          <a:ln/>
        </p:spPr>
        <p:txBody>
          <a:bodyPr wrap="none" rtlCol="0" anchor="t"/>
          <a:lstStyle/>
          <a:p>
            <a:pPr marL="0" indent="0" algn="ctr">
              <a:lnSpc>
                <a:spcPts val="2757"/>
              </a:lnSpc>
              <a:buNone/>
            </a:pPr>
            <a:r>
              <a:rPr lang="en-US" sz="2757" dirty="0">
                <a:solidFill>
                  <a:srgbClr val="E2E6E9"/>
                </a:solidFill>
                <a:latin typeface="Asar" pitchFamily="34" charset="0"/>
                <a:ea typeface="Asar" pitchFamily="34" charset="-122"/>
                <a:cs typeface="Asar" pitchFamily="34" charset="-120"/>
              </a:rPr>
              <a:t>3</a:t>
            </a:r>
            <a:endParaRPr lang="en-US" sz="2757" dirty="0"/>
          </a:p>
        </p:txBody>
      </p:sp>
      <p:sp>
        <p:nvSpPr>
          <p:cNvPr id="16" name="Text 12"/>
          <p:cNvSpPr/>
          <p:nvPr/>
        </p:nvSpPr>
        <p:spPr>
          <a:xfrm>
            <a:off x="7061954" y="5216604"/>
            <a:ext cx="2879765" cy="364688"/>
          </a:xfrm>
          <a:prstGeom prst="rect">
            <a:avLst/>
          </a:prstGeom>
          <a:noFill/>
          <a:ln/>
        </p:spPr>
        <p:txBody>
          <a:bodyPr wrap="none" rtlCol="0" anchor="t"/>
          <a:lstStyle/>
          <a:p>
            <a:pPr marL="0" indent="0">
              <a:lnSpc>
                <a:spcPts val="2872"/>
              </a:lnSpc>
              <a:buNone/>
            </a:pPr>
            <a:r>
              <a:rPr lang="en-US" sz="2298" dirty="0">
                <a:solidFill>
                  <a:srgbClr val="E2E6E9"/>
                </a:solidFill>
                <a:latin typeface="Asar" pitchFamily="34" charset="0"/>
                <a:ea typeface="Asar" pitchFamily="34" charset="-122"/>
                <a:cs typeface="Asar" pitchFamily="34" charset="-120"/>
              </a:rPr>
              <a:t>Dispute Resolution</a:t>
            </a:r>
            <a:endParaRPr lang="en-US" sz="2298" dirty="0"/>
          </a:p>
        </p:txBody>
      </p:sp>
      <p:sp>
        <p:nvSpPr>
          <p:cNvPr id="17" name="Text 13"/>
          <p:cNvSpPr/>
          <p:nvPr/>
        </p:nvSpPr>
        <p:spPr>
          <a:xfrm>
            <a:off x="7061954" y="5721310"/>
            <a:ext cx="2879765" cy="1867495"/>
          </a:xfrm>
          <a:prstGeom prst="rect">
            <a:avLst/>
          </a:prstGeom>
          <a:noFill/>
          <a:ln/>
        </p:spPr>
        <p:txBody>
          <a:bodyPr wrap="square" rtlCol="0" anchor="t"/>
          <a:lstStyle/>
          <a:p>
            <a:pPr marL="0" indent="0">
              <a:lnSpc>
                <a:spcPts val="2941"/>
              </a:lnSpc>
              <a:buNone/>
            </a:pPr>
            <a:r>
              <a:rPr lang="en-US" sz="1838" dirty="0">
                <a:solidFill>
                  <a:srgbClr val="E2E6E9"/>
                </a:solidFill>
                <a:latin typeface="Asar" pitchFamily="34" charset="0"/>
                <a:ea typeface="Asar" pitchFamily="34" charset="-122"/>
                <a:cs typeface="Asar" pitchFamily="34" charset="-120"/>
              </a:rPr>
              <a:t>Accessible mechanisms for consumers to lodge complaints and seek redress for unsatisfactory transactions.</a:t>
            </a:r>
            <a:endParaRPr lang="en-US" sz="1838" dirty="0"/>
          </a:p>
        </p:txBody>
      </p:sp>
      <p:sp>
        <p:nvSpPr>
          <p:cNvPr id="18" name="Shape 14"/>
          <p:cNvSpPr/>
          <p:nvPr/>
        </p:nvSpPr>
        <p:spPr>
          <a:xfrm>
            <a:off x="10175081" y="5216604"/>
            <a:ext cx="525185" cy="525185"/>
          </a:xfrm>
          <a:prstGeom prst="roundRect">
            <a:avLst>
              <a:gd name="adj" fmla="val 18668"/>
            </a:avLst>
          </a:prstGeom>
          <a:solidFill>
            <a:srgbClr val="003180"/>
          </a:solidFill>
          <a:ln w="7620">
            <a:solidFill>
              <a:srgbClr val="194A99"/>
            </a:solidFill>
            <a:prstDash val="solid"/>
          </a:ln>
        </p:spPr>
      </p:sp>
      <p:sp>
        <p:nvSpPr>
          <p:cNvPr id="19" name="Text 15"/>
          <p:cNvSpPr/>
          <p:nvPr/>
        </p:nvSpPr>
        <p:spPr>
          <a:xfrm>
            <a:off x="10339983" y="5304115"/>
            <a:ext cx="195382" cy="350163"/>
          </a:xfrm>
          <a:prstGeom prst="rect">
            <a:avLst/>
          </a:prstGeom>
          <a:noFill/>
          <a:ln/>
        </p:spPr>
        <p:txBody>
          <a:bodyPr wrap="none" rtlCol="0" anchor="t"/>
          <a:lstStyle/>
          <a:p>
            <a:pPr marL="0" indent="0" algn="ctr">
              <a:lnSpc>
                <a:spcPts val="2757"/>
              </a:lnSpc>
              <a:buNone/>
            </a:pPr>
            <a:r>
              <a:rPr lang="en-US" sz="2757" dirty="0">
                <a:solidFill>
                  <a:srgbClr val="E2E6E9"/>
                </a:solidFill>
                <a:latin typeface="Asar" pitchFamily="34" charset="0"/>
                <a:ea typeface="Asar" pitchFamily="34" charset="-122"/>
                <a:cs typeface="Asar" pitchFamily="34" charset="-120"/>
              </a:rPr>
              <a:t>4</a:t>
            </a:r>
            <a:endParaRPr lang="en-US" sz="2757" dirty="0"/>
          </a:p>
        </p:txBody>
      </p:sp>
      <p:sp>
        <p:nvSpPr>
          <p:cNvPr id="20" name="Text 16"/>
          <p:cNvSpPr/>
          <p:nvPr/>
        </p:nvSpPr>
        <p:spPr>
          <a:xfrm>
            <a:off x="10933628" y="5216604"/>
            <a:ext cx="2879765" cy="729377"/>
          </a:xfrm>
          <a:prstGeom prst="rect">
            <a:avLst/>
          </a:prstGeom>
          <a:noFill/>
          <a:ln/>
        </p:spPr>
        <p:txBody>
          <a:bodyPr wrap="square" rtlCol="0" anchor="t"/>
          <a:lstStyle/>
          <a:p>
            <a:pPr marL="0" indent="0">
              <a:lnSpc>
                <a:spcPts val="2872"/>
              </a:lnSpc>
              <a:buNone/>
            </a:pPr>
            <a:r>
              <a:rPr lang="en-US" sz="2298" dirty="0">
                <a:solidFill>
                  <a:srgbClr val="E2E6E9"/>
                </a:solidFill>
                <a:latin typeface="Asar" pitchFamily="34" charset="0"/>
                <a:ea typeface="Asar" pitchFamily="34" charset="-122"/>
                <a:cs typeface="Asar" pitchFamily="34" charset="-120"/>
              </a:rPr>
              <a:t>Product Safety Standards</a:t>
            </a:r>
            <a:endParaRPr lang="en-US" sz="2298" dirty="0"/>
          </a:p>
        </p:txBody>
      </p:sp>
      <p:sp>
        <p:nvSpPr>
          <p:cNvPr id="21" name="Text 17"/>
          <p:cNvSpPr/>
          <p:nvPr/>
        </p:nvSpPr>
        <p:spPr>
          <a:xfrm>
            <a:off x="10933628" y="6085999"/>
            <a:ext cx="2879765" cy="1493996"/>
          </a:xfrm>
          <a:prstGeom prst="rect">
            <a:avLst/>
          </a:prstGeom>
          <a:noFill/>
          <a:ln/>
        </p:spPr>
        <p:txBody>
          <a:bodyPr wrap="square" rtlCol="0" anchor="t"/>
          <a:lstStyle/>
          <a:p>
            <a:pPr marL="0" indent="0">
              <a:lnSpc>
                <a:spcPts val="2941"/>
              </a:lnSpc>
              <a:buNone/>
            </a:pPr>
            <a:r>
              <a:rPr lang="en-US" sz="1838" dirty="0">
                <a:solidFill>
                  <a:srgbClr val="E2E6E9"/>
                </a:solidFill>
                <a:latin typeface="Asar" pitchFamily="34" charset="0"/>
                <a:ea typeface="Asar" pitchFamily="34" charset="-122"/>
                <a:cs typeface="Asar" pitchFamily="34" charset="-120"/>
              </a:rPr>
              <a:t>Regulations ensuring the quality and safety of goods sold online meet established benchmarks.</a:t>
            </a:r>
            <a:endParaRPr lang="en-US" sz="1838"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9151A">
              <a:alpha val="75000"/>
            </a:srgbClr>
          </a:solidFill>
          <a:ln/>
        </p:spPr>
      </p:sp>
      <p:pic>
        <p:nvPicPr>
          <p:cNvPr id="4" name="Image 1" descr="preencoded.png"/>
          <p:cNvPicPr>
            <a:picLocks noChangeAspect="1"/>
          </p:cNvPicPr>
          <p:nvPr/>
        </p:nvPicPr>
        <p:blipFill>
          <a:blip r:embed="rId4"/>
          <a:stretch>
            <a:fillRect/>
          </a:stretch>
        </p:blipFill>
        <p:spPr>
          <a:xfrm>
            <a:off x="9144000" y="0"/>
            <a:ext cx="5486400" cy="8229600"/>
          </a:xfrm>
          <a:prstGeom prst="rect">
            <a:avLst/>
          </a:prstGeom>
        </p:spPr>
      </p:pic>
      <p:sp>
        <p:nvSpPr>
          <p:cNvPr id="5" name="Text 1"/>
          <p:cNvSpPr/>
          <p:nvPr/>
        </p:nvSpPr>
        <p:spPr>
          <a:xfrm>
            <a:off x="496014" y="866060"/>
            <a:ext cx="7758351" cy="612577"/>
          </a:xfrm>
          <a:prstGeom prst="rect">
            <a:avLst/>
          </a:prstGeom>
          <a:noFill/>
          <a:ln/>
        </p:spPr>
        <p:txBody>
          <a:bodyPr wrap="none" rtlCol="0" anchor="t"/>
          <a:lstStyle/>
          <a:p>
            <a:pPr marL="0" indent="0">
              <a:lnSpc>
                <a:spcPts val="4823"/>
              </a:lnSpc>
              <a:buNone/>
            </a:pPr>
            <a:r>
              <a:rPr lang="en-US" sz="3859" u="sng" dirty="0">
                <a:solidFill>
                  <a:srgbClr val="F5F0F0"/>
                </a:solidFill>
                <a:latin typeface="Asar" pitchFamily="34" charset="0"/>
                <a:ea typeface="Asar" pitchFamily="34" charset="-122"/>
                <a:cs typeface="Asar" pitchFamily="34" charset="-120"/>
              </a:rPr>
              <a:t>Data Privacy and Security Regulations</a:t>
            </a:r>
            <a:endParaRPr lang="en-US" sz="3859" u="sng" dirty="0"/>
          </a:p>
        </p:txBody>
      </p:sp>
      <p:sp>
        <p:nvSpPr>
          <p:cNvPr id="6" name="Shape 2"/>
          <p:cNvSpPr/>
          <p:nvPr/>
        </p:nvSpPr>
        <p:spPr>
          <a:xfrm>
            <a:off x="686038" y="2385179"/>
            <a:ext cx="3787973" cy="2084903"/>
          </a:xfrm>
          <a:prstGeom prst="roundRect">
            <a:avLst>
              <a:gd name="adj" fmla="val 3949"/>
            </a:avLst>
          </a:prstGeom>
          <a:solidFill>
            <a:srgbClr val="003180"/>
          </a:solidFill>
          <a:ln w="7620">
            <a:solidFill>
              <a:srgbClr val="194A99"/>
            </a:solidFill>
            <a:prstDash val="solid"/>
          </a:ln>
        </p:spPr>
      </p:sp>
      <p:sp>
        <p:nvSpPr>
          <p:cNvPr id="7" name="Text 3"/>
          <p:cNvSpPr/>
          <p:nvPr/>
        </p:nvSpPr>
        <p:spPr>
          <a:xfrm>
            <a:off x="889635" y="2588776"/>
            <a:ext cx="2564249" cy="306229"/>
          </a:xfrm>
          <a:prstGeom prst="rect">
            <a:avLst/>
          </a:prstGeom>
          <a:noFill/>
          <a:ln/>
        </p:spPr>
        <p:txBody>
          <a:bodyPr wrap="none" rtlCol="0" anchor="t"/>
          <a:lstStyle/>
          <a:p>
            <a:pPr marL="0" indent="0">
              <a:lnSpc>
                <a:spcPts val="2412"/>
              </a:lnSpc>
              <a:buNone/>
            </a:pPr>
            <a:r>
              <a:rPr lang="en-US" sz="1929" dirty="0">
                <a:solidFill>
                  <a:srgbClr val="E2E6E9"/>
                </a:solidFill>
                <a:latin typeface="Asar" pitchFamily="34" charset="0"/>
                <a:ea typeface="Asar" pitchFamily="34" charset="-122"/>
                <a:cs typeface="Asar" pitchFamily="34" charset="-120"/>
              </a:rPr>
              <a:t>Personal Data Protection</a:t>
            </a:r>
            <a:endParaRPr lang="en-US" sz="1929" dirty="0"/>
          </a:p>
        </p:txBody>
      </p:sp>
      <p:sp>
        <p:nvSpPr>
          <p:cNvPr id="8" name="Text 4"/>
          <p:cNvSpPr/>
          <p:nvPr/>
        </p:nvSpPr>
        <p:spPr>
          <a:xfrm>
            <a:off x="889635" y="3012519"/>
            <a:ext cx="3380780" cy="940475"/>
          </a:xfrm>
          <a:prstGeom prst="rect">
            <a:avLst/>
          </a:prstGeom>
          <a:noFill/>
          <a:ln/>
        </p:spPr>
        <p:txBody>
          <a:bodyPr wrap="square" rtlCol="0" anchor="t"/>
          <a:lstStyle/>
          <a:p>
            <a:pPr marL="0" indent="0">
              <a:lnSpc>
                <a:spcPts val="2469"/>
              </a:lnSpc>
              <a:buNone/>
            </a:pPr>
            <a:r>
              <a:rPr lang="en-US" sz="1543" dirty="0">
                <a:solidFill>
                  <a:srgbClr val="E2E6E9"/>
                </a:solidFill>
                <a:latin typeface="Asar" pitchFamily="34" charset="0"/>
                <a:ea typeface="Asar" pitchFamily="34" charset="-122"/>
                <a:cs typeface="Asar" pitchFamily="34" charset="-120"/>
              </a:rPr>
              <a:t>Laws governing the collection, storage, and use of customer information to safeguard individual privacy.</a:t>
            </a:r>
            <a:endParaRPr lang="en-US" sz="1543" dirty="0"/>
          </a:p>
        </p:txBody>
      </p:sp>
      <p:sp>
        <p:nvSpPr>
          <p:cNvPr id="9" name="Shape 5"/>
          <p:cNvSpPr/>
          <p:nvPr/>
        </p:nvSpPr>
        <p:spPr>
          <a:xfrm>
            <a:off x="4669988" y="2385179"/>
            <a:ext cx="3787973" cy="2084903"/>
          </a:xfrm>
          <a:prstGeom prst="roundRect">
            <a:avLst>
              <a:gd name="adj" fmla="val 3949"/>
            </a:avLst>
          </a:prstGeom>
          <a:solidFill>
            <a:srgbClr val="003180"/>
          </a:solidFill>
          <a:ln w="7620">
            <a:solidFill>
              <a:srgbClr val="194A99"/>
            </a:solidFill>
            <a:prstDash val="solid"/>
          </a:ln>
        </p:spPr>
      </p:sp>
      <p:sp>
        <p:nvSpPr>
          <p:cNvPr id="10" name="Text 6"/>
          <p:cNvSpPr/>
          <p:nvPr/>
        </p:nvSpPr>
        <p:spPr>
          <a:xfrm>
            <a:off x="4873585" y="2588776"/>
            <a:ext cx="2480548" cy="306229"/>
          </a:xfrm>
          <a:prstGeom prst="rect">
            <a:avLst/>
          </a:prstGeom>
          <a:noFill/>
          <a:ln/>
        </p:spPr>
        <p:txBody>
          <a:bodyPr wrap="none" rtlCol="0" anchor="t"/>
          <a:lstStyle/>
          <a:p>
            <a:pPr marL="0" indent="0">
              <a:lnSpc>
                <a:spcPts val="2412"/>
              </a:lnSpc>
              <a:buNone/>
            </a:pPr>
            <a:r>
              <a:rPr lang="en-US" sz="1929" dirty="0">
                <a:solidFill>
                  <a:srgbClr val="E2E6E9"/>
                </a:solidFill>
                <a:latin typeface="Asar" pitchFamily="34" charset="0"/>
                <a:ea typeface="Asar" pitchFamily="34" charset="-122"/>
                <a:cs typeface="Asar" pitchFamily="34" charset="-120"/>
              </a:rPr>
              <a:t>Cybersecurity Standards</a:t>
            </a:r>
            <a:endParaRPr lang="en-US" sz="1929" dirty="0"/>
          </a:p>
        </p:txBody>
      </p:sp>
      <p:sp>
        <p:nvSpPr>
          <p:cNvPr id="11" name="Text 7"/>
          <p:cNvSpPr/>
          <p:nvPr/>
        </p:nvSpPr>
        <p:spPr>
          <a:xfrm>
            <a:off x="4873585" y="3012519"/>
            <a:ext cx="3380780" cy="1253966"/>
          </a:xfrm>
          <a:prstGeom prst="rect">
            <a:avLst/>
          </a:prstGeom>
          <a:noFill/>
          <a:ln/>
        </p:spPr>
        <p:txBody>
          <a:bodyPr wrap="square" rtlCol="0" anchor="t"/>
          <a:lstStyle/>
          <a:p>
            <a:pPr marL="0" indent="0">
              <a:lnSpc>
                <a:spcPts val="2469"/>
              </a:lnSpc>
              <a:buNone/>
            </a:pPr>
            <a:r>
              <a:rPr lang="en-US" sz="1543" dirty="0">
                <a:solidFill>
                  <a:srgbClr val="E2E6E9"/>
                </a:solidFill>
                <a:latin typeface="Asar" pitchFamily="34" charset="0"/>
                <a:ea typeface="Asar" pitchFamily="34" charset="-122"/>
                <a:cs typeface="Asar" pitchFamily="34" charset="-120"/>
              </a:rPr>
              <a:t>Requirements for e-commerce platforms to implement robust security measures against data breaches and hacking.</a:t>
            </a:r>
            <a:endParaRPr lang="en-US" sz="1543" dirty="0"/>
          </a:p>
        </p:txBody>
      </p:sp>
      <p:sp>
        <p:nvSpPr>
          <p:cNvPr id="12" name="Shape 8"/>
          <p:cNvSpPr/>
          <p:nvPr/>
        </p:nvSpPr>
        <p:spPr>
          <a:xfrm>
            <a:off x="686038" y="4666059"/>
            <a:ext cx="3787973" cy="2084903"/>
          </a:xfrm>
          <a:prstGeom prst="roundRect">
            <a:avLst>
              <a:gd name="adj" fmla="val 3949"/>
            </a:avLst>
          </a:prstGeom>
          <a:solidFill>
            <a:srgbClr val="003180"/>
          </a:solidFill>
          <a:ln w="7620">
            <a:solidFill>
              <a:srgbClr val="194A99"/>
            </a:solidFill>
            <a:prstDash val="solid"/>
          </a:ln>
        </p:spPr>
      </p:sp>
      <p:sp>
        <p:nvSpPr>
          <p:cNvPr id="13" name="Text 9"/>
          <p:cNvSpPr/>
          <p:nvPr/>
        </p:nvSpPr>
        <p:spPr>
          <a:xfrm>
            <a:off x="889635" y="4869656"/>
            <a:ext cx="2586038" cy="306229"/>
          </a:xfrm>
          <a:prstGeom prst="rect">
            <a:avLst/>
          </a:prstGeom>
          <a:noFill/>
          <a:ln/>
        </p:spPr>
        <p:txBody>
          <a:bodyPr wrap="none" rtlCol="0" anchor="t"/>
          <a:lstStyle/>
          <a:p>
            <a:pPr marL="0" indent="0">
              <a:lnSpc>
                <a:spcPts val="2412"/>
              </a:lnSpc>
              <a:buNone/>
            </a:pPr>
            <a:r>
              <a:rPr lang="en-US" sz="1929" dirty="0">
                <a:solidFill>
                  <a:srgbClr val="E2E6E9"/>
                </a:solidFill>
                <a:latin typeface="Asar" pitchFamily="34" charset="0"/>
                <a:ea typeface="Asar" pitchFamily="34" charset="-122"/>
                <a:cs typeface="Asar" pitchFamily="34" charset="-120"/>
              </a:rPr>
              <a:t>Cross-Border Data Flows</a:t>
            </a:r>
            <a:endParaRPr lang="en-US" sz="1929" dirty="0"/>
          </a:p>
        </p:txBody>
      </p:sp>
      <p:sp>
        <p:nvSpPr>
          <p:cNvPr id="14" name="Text 10"/>
          <p:cNvSpPr/>
          <p:nvPr/>
        </p:nvSpPr>
        <p:spPr>
          <a:xfrm>
            <a:off x="889635" y="5293400"/>
            <a:ext cx="3380780" cy="940475"/>
          </a:xfrm>
          <a:prstGeom prst="rect">
            <a:avLst/>
          </a:prstGeom>
          <a:noFill/>
          <a:ln/>
        </p:spPr>
        <p:txBody>
          <a:bodyPr wrap="square" rtlCol="0" anchor="t"/>
          <a:lstStyle/>
          <a:p>
            <a:pPr marL="0" indent="0">
              <a:lnSpc>
                <a:spcPts val="2469"/>
              </a:lnSpc>
              <a:buNone/>
            </a:pPr>
            <a:r>
              <a:rPr lang="en-US" sz="1543" dirty="0">
                <a:solidFill>
                  <a:srgbClr val="E2E6E9"/>
                </a:solidFill>
                <a:latin typeface="Asar" pitchFamily="34" charset="0"/>
                <a:ea typeface="Asar" pitchFamily="34" charset="-122"/>
                <a:cs typeface="Asar" pitchFamily="34" charset="-120"/>
              </a:rPr>
              <a:t>Regulations on the transfer of customer data between jurisdictions to ensure legal compliance.</a:t>
            </a:r>
            <a:endParaRPr lang="en-US" sz="1543" dirty="0"/>
          </a:p>
        </p:txBody>
      </p:sp>
      <p:sp>
        <p:nvSpPr>
          <p:cNvPr id="15" name="Shape 11"/>
          <p:cNvSpPr/>
          <p:nvPr/>
        </p:nvSpPr>
        <p:spPr>
          <a:xfrm>
            <a:off x="4669988" y="4666059"/>
            <a:ext cx="3787973" cy="2084903"/>
          </a:xfrm>
          <a:prstGeom prst="roundRect">
            <a:avLst>
              <a:gd name="adj" fmla="val 3949"/>
            </a:avLst>
          </a:prstGeom>
          <a:solidFill>
            <a:srgbClr val="003180"/>
          </a:solidFill>
          <a:ln w="7620">
            <a:solidFill>
              <a:srgbClr val="194A99"/>
            </a:solidFill>
            <a:prstDash val="solid"/>
          </a:ln>
        </p:spPr>
      </p:sp>
      <p:sp>
        <p:nvSpPr>
          <p:cNvPr id="16" name="Text 12"/>
          <p:cNvSpPr/>
          <p:nvPr/>
        </p:nvSpPr>
        <p:spPr>
          <a:xfrm>
            <a:off x="4873585" y="4869656"/>
            <a:ext cx="2450068" cy="306229"/>
          </a:xfrm>
          <a:prstGeom prst="rect">
            <a:avLst/>
          </a:prstGeom>
          <a:noFill/>
          <a:ln/>
        </p:spPr>
        <p:txBody>
          <a:bodyPr wrap="none" rtlCol="0" anchor="t"/>
          <a:lstStyle/>
          <a:p>
            <a:pPr marL="0" indent="0">
              <a:lnSpc>
                <a:spcPts val="2412"/>
              </a:lnSpc>
              <a:buNone/>
            </a:pPr>
            <a:r>
              <a:rPr lang="en-US" sz="1929" dirty="0">
                <a:solidFill>
                  <a:srgbClr val="E2E6E9"/>
                </a:solidFill>
                <a:latin typeface="Asar" pitchFamily="34" charset="0"/>
                <a:ea typeface="Asar" pitchFamily="34" charset="-122"/>
                <a:cs typeface="Asar" pitchFamily="34" charset="-120"/>
              </a:rPr>
              <a:t>Breach Notification</a:t>
            </a:r>
            <a:endParaRPr lang="en-US" sz="1929" dirty="0"/>
          </a:p>
        </p:txBody>
      </p:sp>
      <p:sp>
        <p:nvSpPr>
          <p:cNvPr id="17" name="Text 13"/>
          <p:cNvSpPr/>
          <p:nvPr/>
        </p:nvSpPr>
        <p:spPr>
          <a:xfrm>
            <a:off x="4873585" y="5293400"/>
            <a:ext cx="3380780" cy="1253966"/>
          </a:xfrm>
          <a:prstGeom prst="rect">
            <a:avLst/>
          </a:prstGeom>
          <a:noFill/>
          <a:ln/>
        </p:spPr>
        <p:txBody>
          <a:bodyPr wrap="square" rtlCol="0" anchor="t"/>
          <a:lstStyle/>
          <a:p>
            <a:pPr marL="0" indent="0">
              <a:lnSpc>
                <a:spcPts val="2469"/>
              </a:lnSpc>
              <a:buNone/>
            </a:pPr>
            <a:r>
              <a:rPr lang="en-US" sz="1543" dirty="0">
                <a:solidFill>
                  <a:srgbClr val="E2E6E9"/>
                </a:solidFill>
                <a:latin typeface="Asar" pitchFamily="34" charset="0"/>
                <a:ea typeface="Asar" pitchFamily="34" charset="-122"/>
                <a:cs typeface="Asar" pitchFamily="34" charset="-120"/>
              </a:rPr>
              <a:t>Mandatory disclosure policies that compel e-commerce businesses to report security incidents to authorities and affected users.</a:t>
            </a:r>
            <a:endParaRPr lang="en-US" sz="1543"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9151A">
              <a:alpha val="75000"/>
            </a:srgbClr>
          </a:solidFill>
          <a:ln/>
        </p:spPr>
      </p:sp>
      <p:pic>
        <p:nvPicPr>
          <p:cNvPr id="4" name="Image 1" descr="preencoded.png"/>
          <p:cNvPicPr>
            <a:picLocks noChangeAspect="1"/>
          </p:cNvPicPr>
          <p:nvPr/>
        </p:nvPicPr>
        <p:blipFill>
          <a:blip r:embed="rId4"/>
          <a:stretch>
            <a:fillRect/>
          </a:stretch>
        </p:blipFill>
        <p:spPr>
          <a:xfrm>
            <a:off x="0" y="0"/>
            <a:ext cx="5486400" cy="8229600"/>
          </a:xfrm>
          <a:prstGeom prst="rect">
            <a:avLst/>
          </a:prstGeom>
        </p:spPr>
      </p:pic>
      <p:sp>
        <p:nvSpPr>
          <p:cNvPr id="5" name="Text 1"/>
          <p:cNvSpPr/>
          <p:nvPr/>
        </p:nvSpPr>
        <p:spPr>
          <a:xfrm>
            <a:off x="6259354" y="608886"/>
            <a:ext cx="7598092" cy="1380173"/>
          </a:xfrm>
          <a:prstGeom prst="rect">
            <a:avLst/>
          </a:prstGeom>
          <a:noFill/>
          <a:ln/>
        </p:spPr>
        <p:txBody>
          <a:bodyPr wrap="square" rtlCol="0" anchor="t"/>
          <a:lstStyle/>
          <a:p>
            <a:pPr marL="0" indent="0">
              <a:lnSpc>
                <a:spcPts val="5435"/>
              </a:lnSpc>
              <a:buNone/>
            </a:pPr>
            <a:r>
              <a:rPr lang="en-US" sz="4348" u="sng" dirty="0">
                <a:solidFill>
                  <a:srgbClr val="F5F0F0"/>
                </a:solidFill>
                <a:latin typeface="Asar" pitchFamily="34" charset="0"/>
                <a:ea typeface="Asar" pitchFamily="34" charset="-122"/>
                <a:cs typeface="Asar" pitchFamily="34" charset="-120"/>
              </a:rPr>
              <a:t>Taxation and Compliance Requirements</a:t>
            </a:r>
            <a:endParaRPr lang="en-US" sz="4348" u="sng" dirty="0"/>
          </a:p>
        </p:txBody>
      </p:sp>
      <p:pic>
        <p:nvPicPr>
          <p:cNvPr id="6" name="Image 2" descr="preencoded.png"/>
          <p:cNvPicPr>
            <a:picLocks noChangeAspect="1"/>
          </p:cNvPicPr>
          <p:nvPr/>
        </p:nvPicPr>
        <p:blipFill>
          <a:blip r:embed="rId5"/>
          <a:stretch>
            <a:fillRect/>
          </a:stretch>
        </p:blipFill>
        <p:spPr>
          <a:xfrm>
            <a:off x="6259354" y="2320290"/>
            <a:ext cx="1104186" cy="1766768"/>
          </a:xfrm>
          <a:prstGeom prst="rect">
            <a:avLst/>
          </a:prstGeom>
        </p:spPr>
      </p:pic>
      <p:sp>
        <p:nvSpPr>
          <p:cNvPr id="7" name="Text 2"/>
          <p:cNvSpPr/>
          <p:nvPr/>
        </p:nvSpPr>
        <p:spPr>
          <a:xfrm>
            <a:off x="7694771" y="2541032"/>
            <a:ext cx="2807613" cy="345043"/>
          </a:xfrm>
          <a:prstGeom prst="rect">
            <a:avLst/>
          </a:prstGeom>
          <a:noFill/>
          <a:ln/>
        </p:spPr>
        <p:txBody>
          <a:bodyPr wrap="none" rtlCol="0" anchor="t"/>
          <a:lstStyle/>
          <a:p>
            <a:pPr marL="0" indent="0" algn="l">
              <a:lnSpc>
                <a:spcPts val="2717"/>
              </a:lnSpc>
              <a:buNone/>
            </a:pPr>
            <a:r>
              <a:rPr lang="en-US" sz="2174" dirty="0">
                <a:solidFill>
                  <a:srgbClr val="E2E6E9"/>
                </a:solidFill>
                <a:latin typeface="Asar" pitchFamily="34" charset="0"/>
                <a:ea typeface="Asar" pitchFamily="34" charset="-122"/>
                <a:cs typeface="Asar" pitchFamily="34" charset="-120"/>
              </a:rPr>
              <a:t>Value-Added Tax (VAT)</a:t>
            </a:r>
            <a:endParaRPr lang="en-US" sz="2174" dirty="0"/>
          </a:p>
        </p:txBody>
      </p:sp>
      <p:sp>
        <p:nvSpPr>
          <p:cNvPr id="8" name="Text 3"/>
          <p:cNvSpPr/>
          <p:nvPr/>
        </p:nvSpPr>
        <p:spPr>
          <a:xfrm>
            <a:off x="7694771" y="3018473"/>
            <a:ext cx="6162675" cy="706755"/>
          </a:xfrm>
          <a:prstGeom prst="rect">
            <a:avLst/>
          </a:prstGeom>
          <a:noFill/>
          <a:ln/>
        </p:spPr>
        <p:txBody>
          <a:bodyPr wrap="square" rtlCol="0" anchor="t"/>
          <a:lstStyle/>
          <a:p>
            <a:pPr marL="0" indent="0" algn="l">
              <a:lnSpc>
                <a:spcPts val="2782"/>
              </a:lnSpc>
              <a:buNone/>
            </a:pPr>
            <a:r>
              <a:rPr lang="en-US" sz="1739" dirty="0">
                <a:solidFill>
                  <a:srgbClr val="E2E6E9"/>
                </a:solidFill>
                <a:latin typeface="Asar" pitchFamily="34" charset="0"/>
                <a:ea typeface="Asar" pitchFamily="34" charset="-122"/>
                <a:cs typeface="Asar" pitchFamily="34" charset="-120"/>
              </a:rPr>
              <a:t>E-commerce businesses must collect and remit VAT on sales, with rules varying by country.</a:t>
            </a:r>
            <a:endParaRPr lang="en-US" sz="1739" dirty="0"/>
          </a:p>
        </p:txBody>
      </p:sp>
      <p:pic>
        <p:nvPicPr>
          <p:cNvPr id="9" name="Image 3" descr="preencoded.png"/>
          <p:cNvPicPr>
            <a:picLocks noChangeAspect="1"/>
          </p:cNvPicPr>
          <p:nvPr/>
        </p:nvPicPr>
        <p:blipFill>
          <a:blip r:embed="rId6"/>
          <a:stretch>
            <a:fillRect/>
          </a:stretch>
        </p:blipFill>
        <p:spPr>
          <a:xfrm>
            <a:off x="6259354" y="4087058"/>
            <a:ext cx="1104186" cy="1766768"/>
          </a:xfrm>
          <a:prstGeom prst="rect">
            <a:avLst/>
          </a:prstGeom>
        </p:spPr>
      </p:pic>
      <p:sp>
        <p:nvSpPr>
          <p:cNvPr id="10" name="Text 4"/>
          <p:cNvSpPr/>
          <p:nvPr/>
        </p:nvSpPr>
        <p:spPr>
          <a:xfrm>
            <a:off x="7694771" y="4307800"/>
            <a:ext cx="2760702" cy="345043"/>
          </a:xfrm>
          <a:prstGeom prst="rect">
            <a:avLst/>
          </a:prstGeom>
          <a:noFill/>
          <a:ln/>
        </p:spPr>
        <p:txBody>
          <a:bodyPr wrap="none" rtlCol="0" anchor="t"/>
          <a:lstStyle/>
          <a:p>
            <a:pPr marL="0" indent="0" algn="l">
              <a:lnSpc>
                <a:spcPts val="2717"/>
              </a:lnSpc>
              <a:buNone/>
            </a:pPr>
            <a:r>
              <a:rPr lang="en-US" sz="2174" dirty="0">
                <a:solidFill>
                  <a:srgbClr val="E2E6E9"/>
                </a:solidFill>
                <a:latin typeface="Asar" pitchFamily="34" charset="0"/>
                <a:ea typeface="Asar" pitchFamily="34" charset="-122"/>
                <a:cs typeface="Asar" pitchFamily="34" charset="-120"/>
              </a:rPr>
              <a:t>Income Tax Obligations</a:t>
            </a:r>
            <a:endParaRPr lang="en-US" sz="2174" dirty="0"/>
          </a:p>
        </p:txBody>
      </p:sp>
      <p:sp>
        <p:nvSpPr>
          <p:cNvPr id="11" name="Text 5"/>
          <p:cNvSpPr/>
          <p:nvPr/>
        </p:nvSpPr>
        <p:spPr>
          <a:xfrm>
            <a:off x="7694771" y="4785241"/>
            <a:ext cx="6162675" cy="706755"/>
          </a:xfrm>
          <a:prstGeom prst="rect">
            <a:avLst/>
          </a:prstGeom>
          <a:noFill/>
          <a:ln/>
        </p:spPr>
        <p:txBody>
          <a:bodyPr wrap="square" rtlCol="0" anchor="t"/>
          <a:lstStyle/>
          <a:p>
            <a:pPr marL="0" indent="0" algn="l">
              <a:lnSpc>
                <a:spcPts val="2782"/>
              </a:lnSpc>
              <a:buNone/>
            </a:pPr>
            <a:r>
              <a:rPr lang="en-US" sz="1739" dirty="0">
                <a:solidFill>
                  <a:srgbClr val="E2E6E9"/>
                </a:solidFill>
                <a:latin typeface="Asar" pitchFamily="34" charset="0"/>
                <a:ea typeface="Asar" pitchFamily="34" charset="-122"/>
                <a:cs typeface="Asar" pitchFamily="34" charset="-120"/>
              </a:rPr>
              <a:t>Online merchants are subject to national income tax requirements on their business earnings.</a:t>
            </a:r>
            <a:endParaRPr lang="en-US" sz="1739" dirty="0"/>
          </a:p>
        </p:txBody>
      </p:sp>
      <p:pic>
        <p:nvPicPr>
          <p:cNvPr id="12" name="Image 4" descr="preencoded.png"/>
          <p:cNvPicPr>
            <a:picLocks noChangeAspect="1"/>
          </p:cNvPicPr>
          <p:nvPr/>
        </p:nvPicPr>
        <p:blipFill>
          <a:blip r:embed="rId7"/>
          <a:stretch>
            <a:fillRect/>
          </a:stretch>
        </p:blipFill>
        <p:spPr>
          <a:xfrm>
            <a:off x="6259354" y="5853827"/>
            <a:ext cx="1104186" cy="1766768"/>
          </a:xfrm>
          <a:prstGeom prst="rect">
            <a:avLst/>
          </a:prstGeom>
        </p:spPr>
      </p:pic>
      <p:sp>
        <p:nvSpPr>
          <p:cNvPr id="13" name="Text 6"/>
          <p:cNvSpPr/>
          <p:nvPr/>
        </p:nvSpPr>
        <p:spPr>
          <a:xfrm>
            <a:off x="7694771" y="6074569"/>
            <a:ext cx="2760702" cy="345043"/>
          </a:xfrm>
          <a:prstGeom prst="rect">
            <a:avLst/>
          </a:prstGeom>
          <a:noFill/>
          <a:ln/>
        </p:spPr>
        <p:txBody>
          <a:bodyPr wrap="none" rtlCol="0" anchor="t"/>
          <a:lstStyle/>
          <a:p>
            <a:pPr marL="0" indent="0" algn="l">
              <a:lnSpc>
                <a:spcPts val="2717"/>
              </a:lnSpc>
              <a:buNone/>
            </a:pPr>
            <a:r>
              <a:rPr lang="en-US" sz="2174" dirty="0">
                <a:solidFill>
                  <a:srgbClr val="E2E6E9"/>
                </a:solidFill>
                <a:latin typeface="Asar" pitchFamily="34" charset="0"/>
                <a:ea typeface="Asar" pitchFamily="34" charset="-122"/>
                <a:cs typeface="Asar" pitchFamily="34" charset="-120"/>
              </a:rPr>
              <a:t>Customs and Duties</a:t>
            </a:r>
            <a:endParaRPr lang="en-US" sz="2174" dirty="0"/>
          </a:p>
        </p:txBody>
      </p:sp>
      <p:sp>
        <p:nvSpPr>
          <p:cNvPr id="14" name="Text 7"/>
          <p:cNvSpPr/>
          <p:nvPr/>
        </p:nvSpPr>
        <p:spPr>
          <a:xfrm>
            <a:off x="7694771" y="6552009"/>
            <a:ext cx="6162675" cy="706755"/>
          </a:xfrm>
          <a:prstGeom prst="rect">
            <a:avLst/>
          </a:prstGeom>
          <a:noFill/>
          <a:ln/>
        </p:spPr>
        <p:txBody>
          <a:bodyPr wrap="square" rtlCol="0" anchor="t"/>
          <a:lstStyle/>
          <a:p>
            <a:pPr marL="0" indent="0" algn="l">
              <a:lnSpc>
                <a:spcPts val="2782"/>
              </a:lnSpc>
              <a:buNone/>
            </a:pPr>
            <a:r>
              <a:rPr lang="en-US" sz="1739" dirty="0">
                <a:solidFill>
                  <a:srgbClr val="E2E6E9"/>
                </a:solidFill>
                <a:latin typeface="Asar" pitchFamily="34" charset="0"/>
                <a:ea typeface="Asar" pitchFamily="34" charset="-122"/>
                <a:cs typeface="Asar" pitchFamily="34" charset="-120"/>
              </a:rPr>
              <a:t>Cross-border e-commerce shipments may incur tariffs and other import/export charges.</a:t>
            </a:r>
            <a:endParaRPr lang="en-US" sz="1739"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33529"/>
          </a:xfrm>
          <a:prstGeom prst="rect">
            <a:avLst/>
          </a:prstGeom>
          <a:solidFill>
            <a:srgbClr val="09151A">
              <a:alpha val="75000"/>
            </a:srgbClr>
          </a:solidFill>
          <a:ln/>
        </p:spPr>
      </p:sp>
      <p:pic>
        <p:nvPicPr>
          <p:cNvPr id="4" name="Image 1" descr="preencoded.png"/>
          <p:cNvPicPr>
            <a:picLocks noChangeAspect="1"/>
          </p:cNvPicPr>
          <p:nvPr/>
        </p:nvPicPr>
        <p:blipFill>
          <a:blip r:embed="rId4"/>
          <a:stretch>
            <a:fillRect/>
          </a:stretch>
        </p:blipFill>
        <p:spPr>
          <a:xfrm>
            <a:off x="0" y="0"/>
            <a:ext cx="14630400" cy="2967157"/>
          </a:xfrm>
          <a:prstGeom prst="rect">
            <a:avLst/>
          </a:prstGeom>
        </p:spPr>
      </p:pic>
      <p:sp>
        <p:nvSpPr>
          <p:cNvPr id="5" name="Text 1"/>
          <p:cNvSpPr/>
          <p:nvPr/>
        </p:nvSpPr>
        <p:spPr>
          <a:xfrm>
            <a:off x="830818" y="3619857"/>
            <a:ext cx="10918746" cy="741759"/>
          </a:xfrm>
          <a:prstGeom prst="rect">
            <a:avLst/>
          </a:prstGeom>
          <a:noFill/>
          <a:ln/>
        </p:spPr>
        <p:txBody>
          <a:bodyPr wrap="none" rtlCol="0" anchor="t"/>
          <a:lstStyle/>
          <a:p>
            <a:pPr marL="0" indent="0">
              <a:lnSpc>
                <a:spcPts val="5841"/>
              </a:lnSpc>
              <a:buNone/>
            </a:pPr>
            <a:r>
              <a:rPr lang="en-US" sz="4673" u="sng" dirty="0">
                <a:solidFill>
                  <a:srgbClr val="F5F0F0"/>
                </a:solidFill>
                <a:latin typeface="Asar" pitchFamily="34" charset="0"/>
                <a:ea typeface="Asar" pitchFamily="34" charset="-122"/>
                <a:cs typeface="Asar" pitchFamily="34" charset="-120"/>
              </a:rPr>
              <a:t>Intellectual Property Rights in E-Commerce</a:t>
            </a:r>
            <a:endParaRPr lang="en-US" sz="4673" u="sng" dirty="0"/>
          </a:p>
        </p:txBody>
      </p:sp>
      <p:pic>
        <p:nvPicPr>
          <p:cNvPr id="6" name="Image 2" descr="preencoded.png"/>
          <p:cNvPicPr>
            <a:picLocks noChangeAspect="1"/>
          </p:cNvPicPr>
          <p:nvPr/>
        </p:nvPicPr>
        <p:blipFill>
          <a:blip r:embed="rId5"/>
          <a:stretch>
            <a:fillRect/>
          </a:stretch>
        </p:blipFill>
        <p:spPr>
          <a:xfrm>
            <a:off x="830818" y="4717613"/>
            <a:ext cx="593408" cy="593408"/>
          </a:xfrm>
          <a:prstGeom prst="rect">
            <a:avLst/>
          </a:prstGeom>
        </p:spPr>
      </p:pic>
      <p:sp>
        <p:nvSpPr>
          <p:cNvPr id="7" name="Text 2"/>
          <p:cNvSpPr/>
          <p:nvPr/>
        </p:nvSpPr>
        <p:spPr>
          <a:xfrm>
            <a:off x="830818" y="5548313"/>
            <a:ext cx="2967157" cy="370880"/>
          </a:xfrm>
          <a:prstGeom prst="rect">
            <a:avLst/>
          </a:prstGeom>
          <a:noFill/>
          <a:ln/>
        </p:spPr>
        <p:txBody>
          <a:bodyPr wrap="none" rtlCol="0" anchor="t"/>
          <a:lstStyle/>
          <a:p>
            <a:pPr marL="0" indent="0" algn="l">
              <a:lnSpc>
                <a:spcPts val="2921"/>
              </a:lnSpc>
              <a:buNone/>
            </a:pPr>
            <a:r>
              <a:rPr lang="en-US" sz="2336" dirty="0">
                <a:solidFill>
                  <a:srgbClr val="E2E6E9"/>
                </a:solidFill>
                <a:latin typeface="Asar" pitchFamily="34" charset="0"/>
                <a:ea typeface="Asar" pitchFamily="34" charset="-122"/>
                <a:cs typeface="Asar" pitchFamily="34" charset="-120"/>
              </a:rPr>
              <a:t>Trademarks</a:t>
            </a:r>
            <a:endParaRPr lang="en-US" sz="2336" dirty="0"/>
          </a:p>
        </p:txBody>
      </p:sp>
      <p:sp>
        <p:nvSpPr>
          <p:cNvPr id="8" name="Text 3"/>
          <p:cNvSpPr/>
          <p:nvPr/>
        </p:nvSpPr>
        <p:spPr>
          <a:xfrm>
            <a:off x="830818" y="6061591"/>
            <a:ext cx="2975134" cy="1139428"/>
          </a:xfrm>
          <a:prstGeom prst="rect">
            <a:avLst/>
          </a:prstGeom>
          <a:noFill/>
          <a:ln/>
        </p:spPr>
        <p:txBody>
          <a:bodyPr wrap="square" rtlCol="0" anchor="t"/>
          <a:lstStyle/>
          <a:p>
            <a:pPr marL="0" indent="0" algn="l">
              <a:lnSpc>
                <a:spcPts val="2991"/>
              </a:lnSpc>
              <a:buNone/>
            </a:pPr>
            <a:r>
              <a:rPr lang="en-US" sz="1869" dirty="0">
                <a:solidFill>
                  <a:srgbClr val="E2E6E9"/>
                </a:solidFill>
                <a:latin typeface="Asar" pitchFamily="34" charset="0"/>
                <a:ea typeface="Asar" pitchFamily="34" charset="-122"/>
                <a:cs typeface="Asar" pitchFamily="34" charset="-120"/>
              </a:rPr>
              <a:t>Protecting brand names, logos, and other distinctive commercial identifiers.</a:t>
            </a:r>
            <a:endParaRPr lang="en-US" sz="1869" dirty="0"/>
          </a:p>
        </p:txBody>
      </p:sp>
      <p:pic>
        <p:nvPicPr>
          <p:cNvPr id="9" name="Image 3" descr="preencoded.png"/>
          <p:cNvPicPr>
            <a:picLocks noChangeAspect="1"/>
          </p:cNvPicPr>
          <p:nvPr/>
        </p:nvPicPr>
        <p:blipFill>
          <a:blip r:embed="rId6"/>
          <a:stretch>
            <a:fillRect/>
          </a:stretch>
        </p:blipFill>
        <p:spPr>
          <a:xfrm>
            <a:off x="4161949" y="4717613"/>
            <a:ext cx="593408" cy="593408"/>
          </a:xfrm>
          <a:prstGeom prst="rect">
            <a:avLst/>
          </a:prstGeom>
        </p:spPr>
      </p:pic>
      <p:sp>
        <p:nvSpPr>
          <p:cNvPr id="10" name="Text 4"/>
          <p:cNvSpPr/>
          <p:nvPr/>
        </p:nvSpPr>
        <p:spPr>
          <a:xfrm>
            <a:off x="4161949" y="5548313"/>
            <a:ext cx="2967157" cy="370880"/>
          </a:xfrm>
          <a:prstGeom prst="rect">
            <a:avLst/>
          </a:prstGeom>
          <a:noFill/>
          <a:ln/>
        </p:spPr>
        <p:txBody>
          <a:bodyPr wrap="none" rtlCol="0" anchor="t"/>
          <a:lstStyle/>
          <a:p>
            <a:pPr marL="0" indent="0" algn="l">
              <a:lnSpc>
                <a:spcPts val="2921"/>
              </a:lnSpc>
              <a:buNone/>
            </a:pPr>
            <a:r>
              <a:rPr lang="en-US" sz="2336" dirty="0">
                <a:solidFill>
                  <a:srgbClr val="E2E6E9"/>
                </a:solidFill>
                <a:latin typeface="Asar" pitchFamily="34" charset="0"/>
                <a:ea typeface="Asar" pitchFamily="34" charset="-122"/>
                <a:cs typeface="Asar" pitchFamily="34" charset="-120"/>
              </a:rPr>
              <a:t>Copyrights</a:t>
            </a:r>
            <a:endParaRPr lang="en-US" sz="2336" dirty="0"/>
          </a:p>
        </p:txBody>
      </p:sp>
      <p:sp>
        <p:nvSpPr>
          <p:cNvPr id="11" name="Text 5"/>
          <p:cNvSpPr/>
          <p:nvPr/>
        </p:nvSpPr>
        <p:spPr>
          <a:xfrm>
            <a:off x="4161949" y="6061591"/>
            <a:ext cx="2975253" cy="1139428"/>
          </a:xfrm>
          <a:prstGeom prst="rect">
            <a:avLst/>
          </a:prstGeom>
          <a:noFill/>
          <a:ln/>
        </p:spPr>
        <p:txBody>
          <a:bodyPr wrap="square" rtlCol="0" anchor="t"/>
          <a:lstStyle/>
          <a:p>
            <a:pPr marL="0" indent="0" algn="l">
              <a:lnSpc>
                <a:spcPts val="2991"/>
              </a:lnSpc>
              <a:buNone/>
            </a:pPr>
            <a:r>
              <a:rPr lang="en-US" sz="1869" dirty="0">
                <a:solidFill>
                  <a:srgbClr val="E2E6E9"/>
                </a:solidFill>
                <a:latin typeface="Asar" pitchFamily="34" charset="0"/>
                <a:ea typeface="Asar" pitchFamily="34" charset="-122"/>
                <a:cs typeface="Asar" pitchFamily="34" charset="-120"/>
              </a:rPr>
              <a:t>Safeguarding original digital content, images, and creative works sold online.</a:t>
            </a:r>
            <a:endParaRPr lang="en-US" sz="1869" dirty="0"/>
          </a:p>
        </p:txBody>
      </p:sp>
      <p:pic>
        <p:nvPicPr>
          <p:cNvPr id="12" name="Image 4" descr="preencoded.png"/>
          <p:cNvPicPr>
            <a:picLocks noChangeAspect="1"/>
          </p:cNvPicPr>
          <p:nvPr/>
        </p:nvPicPr>
        <p:blipFill>
          <a:blip r:embed="rId7"/>
          <a:stretch>
            <a:fillRect/>
          </a:stretch>
        </p:blipFill>
        <p:spPr>
          <a:xfrm>
            <a:off x="7493198" y="4717613"/>
            <a:ext cx="593408" cy="593408"/>
          </a:xfrm>
          <a:prstGeom prst="rect">
            <a:avLst/>
          </a:prstGeom>
        </p:spPr>
      </p:pic>
      <p:sp>
        <p:nvSpPr>
          <p:cNvPr id="13" name="Text 6"/>
          <p:cNvSpPr/>
          <p:nvPr/>
        </p:nvSpPr>
        <p:spPr>
          <a:xfrm>
            <a:off x="7493198" y="5548313"/>
            <a:ext cx="2967157" cy="370880"/>
          </a:xfrm>
          <a:prstGeom prst="rect">
            <a:avLst/>
          </a:prstGeom>
          <a:noFill/>
          <a:ln/>
        </p:spPr>
        <p:txBody>
          <a:bodyPr wrap="none" rtlCol="0" anchor="t"/>
          <a:lstStyle/>
          <a:p>
            <a:pPr marL="0" indent="0" algn="l">
              <a:lnSpc>
                <a:spcPts val="2921"/>
              </a:lnSpc>
              <a:buNone/>
            </a:pPr>
            <a:r>
              <a:rPr lang="en-US" sz="2336" dirty="0">
                <a:solidFill>
                  <a:srgbClr val="E2E6E9"/>
                </a:solidFill>
                <a:latin typeface="Asar" pitchFamily="34" charset="0"/>
                <a:ea typeface="Asar" pitchFamily="34" charset="-122"/>
                <a:cs typeface="Asar" pitchFamily="34" charset="-120"/>
              </a:rPr>
              <a:t>Patents</a:t>
            </a:r>
            <a:endParaRPr lang="en-US" sz="2336" dirty="0"/>
          </a:p>
        </p:txBody>
      </p:sp>
      <p:sp>
        <p:nvSpPr>
          <p:cNvPr id="14" name="Text 7"/>
          <p:cNvSpPr/>
          <p:nvPr/>
        </p:nvSpPr>
        <p:spPr>
          <a:xfrm>
            <a:off x="7493198" y="6061591"/>
            <a:ext cx="2975134" cy="1519238"/>
          </a:xfrm>
          <a:prstGeom prst="rect">
            <a:avLst/>
          </a:prstGeom>
          <a:noFill/>
          <a:ln/>
        </p:spPr>
        <p:txBody>
          <a:bodyPr wrap="square" rtlCol="0" anchor="t"/>
          <a:lstStyle/>
          <a:p>
            <a:pPr marL="0" indent="0" algn="l">
              <a:lnSpc>
                <a:spcPts val="2991"/>
              </a:lnSpc>
              <a:buNone/>
            </a:pPr>
            <a:r>
              <a:rPr lang="en-US" sz="1869" dirty="0">
                <a:solidFill>
                  <a:srgbClr val="E2E6E9"/>
                </a:solidFill>
                <a:latin typeface="Asar" pitchFamily="34" charset="0"/>
                <a:ea typeface="Asar" pitchFamily="34" charset="-122"/>
                <a:cs typeface="Asar" pitchFamily="34" charset="-120"/>
              </a:rPr>
              <a:t>Securing exclusive rights over innovative e-commerce technologies and business methods.</a:t>
            </a:r>
            <a:endParaRPr lang="en-US" sz="1869" dirty="0"/>
          </a:p>
        </p:txBody>
      </p:sp>
      <p:pic>
        <p:nvPicPr>
          <p:cNvPr id="15" name="Image 5" descr="preencoded.png"/>
          <p:cNvPicPr>
            <a:picLocks noChangeAspect="1"/>
          </p:cNvPicPr>
          <p:nvPr/>
        </p:nvPicPr>
        <p:blipFill>
          <a:blip r:embed="rId8"/>
          <a:stretch>
            <a:fillRect/>
          </a:stretch>
        </p:blipFill>
        <p:spPr>
          <a:xfrm>
            <a:off x="10824329" y="4717613"/>
            <a:ext cx="593408" cy="593408"/>
          </a:xfrm>
          <a:prstGeom prst="rect">
            <a:avLst/>
          </a:prstGeom>
        </p:spPr>
      </p:pic>
      <p:sp>
        <p:nvSpPr>
          <p:cNvPr id="16" name="Text 8"/>
          <p:cNvSpPr/>
          <p:nvPr/>
        </p:nvSpPr>
        <p:spPr>
          <a:xfrm>
            <a:off x="10824329" y="5548313"/>
            <a:ext cx="2967157" cy="370880"/>
          </a:xfrm>
          <a:prstGeom prst="rect">
            <a:avLst/>
          </a:prstGeom>
          <a:noFill/>
          <a:ln/>
        </p:spPr>
        <p:txBody>
          <a:bodyPr wrap="none" rtlCol="0" anchor="t"/>
          <a:lstStyle/>
          <a:p>
            <a:pPr marL="0" indent="0" algn="l">
              <a:lnSpc>
                <a:spcPts val="2921"/>
              </a:lnSpc>
              <a:buNone/>
            </a:pPr>
            <a:r>
              <a:rPr lang="en-US" sz="2336" dirty="0">
                <a:solidFill>
                  <a:srgbClr val="E2E6E9"/>
                </a:solidFill>
                <a:latin typeface="Asar" pitchFamily="34" charset="0"/>
                <a:ea typeface="Asar" pitchFamily="34" charset="-122"/>
                <a:cs typeface="Asar" pitchFamily="34" charset="-120"/>
              </a:rPr>
              <a:t>Trade Secrets</a:t>
            </a:r>
            <a:endParaRPr lang="en-US" sz="2336" dirty="0"/>
          </a:p>
        </p:txBody>
      </p:sp>
      <p:sp>
        <p:nvSpPr>
          <p:cNvPr id="17" name="Text 9"/>
          <p:cNvSpPr/>
          <p:nvPr/>
        </p:nvSpPr>
        <p:spPr>
          <a:xfrm>
            <a:off x="10824329" y="6061591"/>
            <a:ext cx="2975253" cy="1139428"/>
          </a:xfrm>
          <a:prstGeom prst="rect">
            <a:avLst/>
          </a:prstGeom>
          <a:noFill/>
          <a:ln/>
        </p:spPr>
        <p:txBody>
          <a:bodyPr wrap="square" rtlCol="0" anchor="t"/>
          <a:lstStyle/>
          <a:p>
            <a:pPr marL="0" indent="0" algn="l">
              <a:lnSpc>
                <a:spcPts val="2991"/>
              </a:lnSpc>
              <a:buNone/>
            </a:pPr>
            <a:r>
              <a:rPr lang="en-US" sz="1869" dirty="0">
                <a:solidFill>
                  <a:srgbClr val="E2E6E9"/>
                </a:solidFill>
                <a:latin typeface="Asar" pitchFamily="34" charset="0"/>
                <a:ea typeface="Asar" pitchFamily="34" charset="-122"/>
                <a:cs typeface="Asar" pitchFamily="34" charset="-120"/>
              </a:rPr>
              <a:t>Protecting confidential information that provides a competitive advantage.</a:t>
            </a:r>
            <a:endParaRPr lang="en-US" sz="1869"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31148"/>
          </a:xfrm>
          <a:prstGeom prst="rect">
            <a:avLst/>
          </a:prstGeom>
          <a:solidFill>
            <a:srgbClr val="09151A">
              <a:alpha val="75000"/>
            </a:srgbClr>
          </a:solidFill>
          <a:ln/>
        </p:spPr>
      </p:sp>
      <p:pic>
        <p:nvPicPr>
          <p:cNvPr id="4" name="Image 1" descr="preencoded.png"/>
          <p:cNvPicPr>
            <a:picLocks noChangeAspect="1"/>
          </p:cNvPicPr>
          <p:nvPr/>
        </p:nvPicPr>
        <p:blipFill>
          <a:blip r:embed="rId4"/>
          <a:stretch>
            <a:fillRect/>
          </a:stretch>
        </p:blipFill>
        <p:spPr>
          <a:xfrm>
            <a:off x="0" y="0"/>
            <a:ext cx="5486400" cy="8231148"/>
          </a:xfrm>
          <a:prstGeom prst="rect">
            <a:avLst/>
          </a:prstGeom>
        </p:spPr>
      </p:pic>
      <p:sp>
        <p:nvSpPr>
          <p:cNvPr id="5" name="Text 1"/>
          <p:cNvSpPr/>
          <p:nvPr/>
        </p:nvSpPr>
        <p:spPr>
          <a:xfrm>
            <a:off x="6258044" y="606266"/>
            <a:ext cx="7600712" cy="1378029"/>
          </a:xfrm>
          <a:prstGeom prst="rect">
            <a:avLst/>
          </a:prstGeom>
          <a:noFill/>
          <a:ln/>
        </p:spPr>
        <p:txBody>
          <a:bodyPr wrap="square" rtlCol="0" anchor="t"/>
          <a:lstStyle/>
          <a:p>
            <a:pPr marL="0" indent="0">
              <a:lnSpc>
                <a:spcPts val="5426"/>
              </a:lnSpc>
              <a:buNone/>
            </a:pPr>
            <a:r>
              <a:rPr lang="en-US" sz="4340" u="sng" dirty="0">
                <a:solidFill>
                  <a:srgbClr val="F5F0F0"/>
                </a:solidFill>
                <a:latin typeface="Asar" pitchFamily="34" charset="0"/>
                <a:ea typeface="Asar" pitchFamily="34" charset="-122"/>
                <a:cs typeface="Asar" pitchFamily="34" charset="-120"/>
              </a:rPr>
              <a:t>Cross-Border E-Commerce Regulations</a:t>
            </a:r>
            <a:endParaRPr lang="en-US" sz="4340" u="sng" dirty="0"/>
          </a:p>
        </p:txBody>
      </p:sp>
      <p:sp>
        <p:nvSpPr>
          <p:cNvPr id="6" name="Shape 2"/>
          <p:cNvSpPr/>
          <p:nvPr/>
        </p:nvSpPr>
        <p:spPr>
          <a:xfrm>
            <a:off x="6573441" y="2314932"/>
            <a:ext cx="30480" cy="5309949"/>
          </a:xfrm>
          <a:prstGeom prst="roundRect">
            <a:avLst>
              <a:gd name="adj" fmla="val 303831"/>
            </a:avLst>
          </a:prstGeom>
          <a:solidFill>
            <a:srgbClr val="194A99"/>
          </a:solidFill>
          <a:ln/>
        </p:spPr>
      </p:sp>
      <p:sp>
        <p:nvSpPr>
          <p:cNvPr id="7" name="Shape 3"/>
          <p:cNvSpPr/>
          <p:nvPr/>
        </p:nvSpPr>
        <p:spPr>
          <a:xfrm>
            <a:off x="6806208" y="2795707"/>
            <a:ext cx="771644" cy="30480"/>
          </a:xfrm>
          <a:prstGeom prst="roundRect">
            <a:avLst>
              <a:gd name="adj" fmla="val 303831"/>
            </a:avLst>
          </a:prstGeom>
          <a:solidFill>
            <a:srgbClr val="194A99"/>
          </a:solidFill>
          <a:ln/>
        </p:spPr>
      </p:sp>
      <p:sp>
        <p:nvSpPr>
          <p:cNvPr id="8" name="Shape 4"/>
          <p:cNvSpPr/>
          <p:nvPr/>
        </p:nvSpPr>
        <p:spPr>
          <a:xfrm>
            <a:off x="6340673" y="2562939"/>
            <a:ext cx="496014" cy="496014"/>
          </a:xfrm>
          <a:prstGeom prst="roundRect">
            <a:avLst>
              <a:gd name="adj" fmla="val 18670"/>
            </a:avLst>
          </a:prstGeom>
          <a:solidFill>
            <a:srgbClr val="003180"/>
          </a:solidFill>
          <a:ln w="7620">
            <a:solidFill>
              <a:srgbClr val="194A99"/>
            </a:solidFill>
            <a:prstDash val="solid"/>
          </a:ln>
        </p:spPr>
      </p:sp>
      <p:sp>
        <p:nvSpPr>
          <p:cNvPr id="9" name="Text 5"/>
          <p:cNvSpPr/>
          <p:nvPr/>
        </p:nvSpPr>
        <p:spPr>
          <a:xfrm>
            <a:off x="6512600" y="2645569"/>
            <a:ext cx="152162" cy="330756"/>
          </a:xfrm>
          <a:prstGeom prst="rect">
            <a:avLst/>
          </a:prstGeom>
          <a:noFill/>
          <a:ln/>
        </p:spPr>
        <p:txBody>
          <a:bodyPr wrap="none" rtlCol="0" anchor="t"/>
          <a:lstStyle/>
          <a:p>
            <a:pPr marL="0" indent="0" algn="ctr">
              <a:lnSpc>
                <a:spcPts val="2604"/>
              </a:lnSpc>
              <a:buNone/>
            </a:pPr>
            <a:r>
              <a:rPr lang="en-US" sz="2604" dirty="0">
                <a:solidFill>
                  <a:srgbClr val="E2E6E9"/>
                </a:solidFill>
                <a:latin typeface="Asar" pitchFamily="34" charset="0"/>
                <a:ea typeface="Asar" pitchFamily="34" charset="-122"/>
                <a:cs typeface="Asar" pitchFamily="34" charset="-120"/>
              </a:rPr>
              <a:t>1</a:t>
            </a:r>
            <a:endParaRPr lang="en-US" sz="2604" dirty="0"/>
          </a:p>
        </p:txBody>
      </p:sp>
      <p:sp>
        <p:nvSpPr>
          <p:cNvPr id="10" name="Text 6"/>
          <p:cNvSpPr/>
          <p:nvPr/>
        </p:nvSpPr>
        <p:spPr>
          <a:xfrm>
            <a:off x="7801332" y="2535317"/>
            <a:ext cx="2756178" cy="344448"/>
          </a:xfrm>
          <a:prstGeom prst="rect">
            <a:avLst/>
          </a:prstGeom>
          <a:noFill/>
          <a:ln/>
        </p:spPr>
        <p:txBody>
          <a:bodyPr wrap="none" rtlCol="0" anchor="t"/>
          <a:lstStyle/>
          <a:p>
            <a:pPr marL="0" indent="0" algn="l">
              <a:lnSpc>
                <a:spcPts val="2713"/>
              </a:lnSpc>
              <a:buNone/>
            </a:pPr>
            <a:r>
              <a:rPr lang="en-US" sz="2170" dirty="0">
                <a:solidFill>
                  <a:srgbClr val="E2E6E9"/>
                </a:solidFill>
                <a:latin typeface="Asar" pitchFamily="34" charset="0"/>
                <a:ea typeface="Asar" pitchFamily="34" charset="-122"/>
                <a:cs typeface="Asar" pitchFamily="34" charset="-120"/>
              </a:rPr>
              <a:t>Customs Clearance</a:t>
            </a:r>
            <a:endParaRPr lang="en-US" sz="2170" dirty="0"/>
          </a:p>
        </p:txBody>
      </p:sp>
      <p:sp>
        <p:nvSpPr>
          <p:cNvPr id="11" name="Text 7"/>
          <p:cNvSpPr/>
          <p:nvPr/>
        </p:nvSpPr>
        <p:spPr>
          <a:xfrm>
            <a:off x="7801332" y="3012043"/>
            <a:ext cx="6057424" cy="705564"/>
          </a:xfrm>
          <a:prstGeom prst="rect">
            <a:avLst/>
          </a:prstGeom>
          <a:noFill/>
          <a:ln/>
        </p:spPr>
        <p:txBody>
          <a:bodyPr wrap="square" rtlCol="0" anchor="t"/>
          <a:lstStyle/>
          <a:p>
            <a:pPr marL="0" indent="0" algn="l">
              <a:lnSpc>
                <a:spcPts val="2778"/>
              </a:lnSpc>
              <a:buNone/>
            </a:pPr>
            <a:r>
              <a:rPr lang="en-US" sz="1736" dirty="0">
                <a:solidFill>
                  <a:srgbClr val="E2E6E9"/>
                </a:solidFill>
                <a:latin typeface="Asar" pitchFamily="34" charset="0"/>
                <a:ea typeface="Asar" pitchFamily="34" charset="-122"/>
                <a:cs typeface="Asar" pitchFamily="34" charset="-120"/>
              </a:rPr>
              <a:t>Adherence to import/export documentation and duty payment procedures.</a:t>
            </a:r>
            <a:endParaRPr lang="en-US" sz="1736" dirty="0"/>
          </a:p>
        </p:txBody>
      </p:sp>
      <p:sp>
        <p:nvSpPr>
          <p:cNvPr id="12" name="Shape 8"/>
          <p:cNvSpPr/>
          <p:nvPr/>
        </p:nvSpPr>
        <p:spPr>
          <a:xfrm>
            <a:off x="6806208" y="4639151"/>
            <a:ext cx="771644" cy="30480"/>
          </a:xfrm>
          <a:prstGeom prst="roundRect">
            <a:avLst>
              <a:gd name="adj" fmla="val 303831"/>
            </a:avLst>
          </a:prstGeom>
          <a:solidFill>
            <a:srgbClr val="194A99"/>
          </a:solidFill>
          <a:ln/>
        </p:spPr>
      </p:sp>
      <p:sp>
        <p:nvSpPr>
          <p:cNvPr id="13" name="Shape 9"/>
          <p:cNvSpPr/>
          <p:nvPr/>
        </p:nvSpPr>
        <p:spPr>
          <a:xfrm>
            <a:off x="6340673" y="4406384"/>
            <a:ext cx="496014" cy="496014"/>
          </a:xfrm>
          <a:prstGeom prst="roundRect">
            <a:avLst>
              <a:gd name="adj" fmla="val 18670"/>
            </a:avLst>
          </a:prstGeom>
          <a:solidFill>
            <a:srgbClr val="003180"/>
          </a:solidFill>
          <a:ln w="7620">
            <a:solidFill>
              <a:srgbClr val="194A99"/>
            </a:solidFill>
            <a:prstDash val="solid"/>
          </a:ln>
        </p:spPr>
      </p:sp>
      <p:sp>
        <p:nvSpPr>
          <p:cNvPr id="14" name="Text 10"/>
          <p:cNvSpPr/>
          <p:nvPr/>
        </p:nvSpPr>
        <p:spPr>
          <a:xfrm>
            <a:off x="6495693" y="4489013"/>
            <a:ext cx="185857" cy="330756"/>
          </a:xfrm>
          <a:prstGeom prst="rect">
            <a:avLst/>
          </a:prstGeom>
          <a:noFill/>
          <a:ln/>
        </p:spPr>
        <p:txBody>
          <a:bodyPr wrap="none" rtlCol="0" anchor="t"/>
          <a:lstStyle/>
          <a:p>
            <a:pPr marL="0" indent="0" algn="ctr">
              <a:lnSpc>
                <a:spcPts val="2604"/>
              </a:lnSpc>
              <a:buNone/>
            </a:pPr>
            <a:r>
              <a:rPr lang="en-US" sz="2604" dirty="0">
                <a:solidFill>
                  <a:srgbClr val="E2E6E9"/>
                </a:solidFill>
                <a:latin typeface="Asar" pitchFamily="34" charset="0"/>
                <a:ea typeface="Asar" pitchFamily="34" charset="-122"/>
                <a:cs typeface="Asar" pitchFamily="34" charset="-120"/>
              </a:rPr>
              <a:t>2</a:t>
            </a:r>
            <a:endParaRPr lang="en-US" sz="2604" dirty="0"/>
          </a:p>
        </p:txBody>
      </p:sp>
      <p:sp>
        <p:nvSpPr>
          <p:cNvPr id="15" name="Text 11"/>
          <p:cNvSpPr/>
          <p:nvPr/>
        </p:nvSpPr>
        <p:spPr>
          <a:xfrm>
            <a:off x="7801332" y="4378762"/>
            <a:ext cx="2756178" cy="344448"/>
          </a:xfrm>
          <a:prstGeom prst="rect">
            <a:avLst/>
          </a:prstGeom>
          <a:noFill/>
          <a:ln/>
        </p:spPr>
        <p:txBody>
          <a:bodyPr wrap="none" rtlCol="0" anchor="t"/>
          <a:lstStyle/>
          <a:p>
            <a:pPr marL="0" indent="0" algn="l">
              <a:lnSpc>
                <a:spcPts val="2713"/>
              </a:lnSpc>
              <a:buNone/>
            </a:pPr>
            <a:r>
              <a:rPr lang="en-US" sz="2170" dirty="0">
                <a:solidFill>
                  <a:srgbClr val="E2E6E9"/>
                </a:solidFill>
                <a:latin typeface="Asar" pitchFamily="34" charset="0"/>
                <a:ea typeface="Asar" pitchFamily="34" charset="-122"/>
                <a:cs typeface="Asar" pitchFamily="34" charset="-120"/>
              </a:rPr>
              <a:t>Consumer Protection</a:t>
            </a:r>
            <a:endParaRPr lang="en-US" sz="2170" dirty="0"/>
          </a:p>
        </p:txBody>
      </p:sp>
      <p:sp>
        <p:nvSpPr>
          <p:cNvPr id="16" name="Text 12"/>
          <p:cNvSpPr/>
          <p:nvPr/>
        </p:nvSpPr>
        <p:spPr>
          <a:xfrm>
            <a:off x="7801332" y="4855488"/>
            <a:ext cx="6057424" cy="705564"/>
          </a:xfrm>
          <a:prstGeom prst="rect">
            <a:avLst/>
          </a:prstGeom>
          <a:noFill/>
          <a:ln/>
        </p:spPr>
        <p:txBody>
          <a:bodyPr wrap="square" rtlCol="0" anchor="t"/>
          <a:lstStyle/>
          <a:p>
            <a:pPr marL="0" indent="0" algn="l">
              <a:lnSpc>
                <a:spcPts val="2778"/>
              </a:lnSpc>
              <a:buNone/>
            </a:pPr>
            <a:r>
              <a:rPr lang="en-US" sz="1736" dirty="0">
                <a:solidFill>
                  <a:srgbClr val="E2E6E9"/>
                </a:solidFill>
                <a:latin typeface="Asar" pitchFamily="34" charset="0"/>
                <a:ea typeface="Asar" pitchFamily="34" charset="-122"/>
                <a:cs typeface="Asar" pitchFamily="34" charset="-120"/>
              </a:rPr>
              <a:t>Ensuring cross-border online shoppers enjoy the same rights as domestic customers.</a:t>
            </a:r>
            <a:endParaRPr lang="en-US" sz="1736" dirty="0"/>
          </a:p>
        </p:txBody>
      </p:sp>
      <p:sp>
        <p:nvSpPr>
          <p:cNvPr id="17" name="Shape 13"/>
          <p:cNvSpPr/>
          <p:nvPr/>
        </p:nvSpPr>
        <p:spPr>
          <a:xfrm>
            <a:off x="6806208" y="6482596"/>
            <a:ext cx="771644" cy="30480"/>
          </a:xfrm>
          <a:prstGeom prst="roundRect">
            <a:avLst>
              <a:gd name="adj" fmla="val 303831"/>
            </a:avLst>
          </a:prstGeom>
          <a:solidFill>
            <a:srgbClr val="194A99"/>
          </a:solidFill>
          <a:ln/>
        </p:spPr>
      </p:sp>
      <p:sp>
        <p:nvSpPr>
          <p:cNvPr id="18" name="Shape 14"/>
          <p:cNvSpPr/>
          <p:nvPr/>
        </p:nvSpPr>
        <p:spPr>
          <a:xfrm>
            <a:off x="6340673" y="6249829"/>
            <a:ext cx="496014" cy="496014"/>
          </a:xfrm>
          <a:prstGeom prst="roundRect">
            <a:avLst>
              <a:gd name="adj" fmla="val 18670"/>
            </a:avLst>
          </a:prstGeom>
          <a:solidFill>
            <a:srgbClr val="003180"/>
          </a:solidFill>
          <a:ln w="7620">
            <a:solidFill>
              <a:srgbClr val="194A99"/>
            </a:solidFill>
            <a:prstDash val="solid"/>
          </a:ln>
        </p:spPr>
      </p:sp>
      <p:sp>
        <p:nvSpPr>
          <p:cNvPr id="19" name="Text 15"/>
          <p:cNvSpPr/>
          <p:nvPr/>
        </p:nvSpPr>
        <p:spPr>
          <a:xfrm>
            <a:off x="6496526" y="6332458"/>
            <a:ext cx="184190" cy="330756"/>
          </a:xfrm>
          <a:prstGeom prst="rect">
            <a:avLst/>
          </a:prstGeom>
          <a:noFill/>
          <a:ln/>
        </p:spPr>
        <p:txBody>
          <a:bodyPr wrap="none" rtlCol="0" anchor="t"/>
          <a:lstStyle/>
          <a:p>
            <a:pPr marL="0" indent="0" algn="ctr">
              <a:lnSpc>
                <a:spcPts val="2604"/>
              </a:lnSpc>
              <a:buNone/>
            </a:pPr>
            <a:r>
              <a:rPr lang="en-US" sz="2604" dirty="0">
                <a:solidFill>
                  <a:srgbClr val="E2E6E9"/>
                </a:solidFill>
                <a:latin typeface="Asar" pitchFamily="34" charset="0"/>
                <a:ea typeface="Asar" pitchFamily="34" charset="-122"/>
                <a:cs typeface="Asar" pitchFamily="34" charset="-120"/>
              </a:rPr>
              <a:t>3</a:t>
            </a:r>
            <a:endParaRPr lang="en-US" sz="2604" dirty="0"/>
          </a:p>
        </p:txBody>
      </p:sp>
      <p:sp>
        <p:nvSpPr>
          <p:cNvPr id="20" name="Text 16"/>
          <p:cNvSpPr/>
          <p:nvPr/>
        </p:nvSpPr>
        <p:spPr>
          <a:xfrm>
            <a:off x="7801332" y="6222206"/>
            <a:ext cx="3046333" cy="344448"/>
          </a:xfrm>
          <a:prstGeom prst="rect">
            <a:avLst/>
          </a:prstGeom>
          <a:noFill/>
          <a:ln/>
        </p:spPr>
        <p:txBody>
          <a:bodyPr wrap="none" rtlCol="0" anchor="t"/>
          <a:lstStyle/>
          <a:p>
            <a:pPr marL="0" indent="0" algn="l">
              <a:lnSpc>
                <a:spcPts val="2713"/>
              </a:lnSpc>
              <a:buNone/>
            </a:pPr>
            <a:r>
              <a:rPr lang="en-US" sz="2170" dirty="0">
                <a:solidFill>
                  <a:srgbClr val="E2E6E9"/>
                </a:solidFill>
                <a:latin typeface="Asar" pitchFamily="34" charset="0"/>
                <a:ea typeface="Asar" pitchFamily="34" charset="-122"/>
                <a:cs typeface="Asar" pitchFamily="34" charset="-120"/>
              </a:rPr>
              <a:t>Geo-Blocking Restrictions</a:t>
            </a:r>
            <a:endParaRPr lang="en-US" sz="2170" dirty="0"/>
          </a:p>
        </p:txBody>
      </p:sp>
      <p:sp>
        <p:nvSpPr>
          <p:cNvPr id="21" name="Text 17"/>
          <p:cNvSpPr/>
          <p:nvPr/>
        </p:nvSpPr>
        <p:spPr>
          <a:xfrm>
            <a:off x="7801332" y="6698933"/>
            <a:ext cx="6057424" cy="705564"/>
          </a:xfrm>
          <a:prstGeom prst="rect">
            <a:avLst/>
          </a:prstGeom>
          <a:noFill/>
          <a:ln/>
        </p:spPr>
        <p:txBody>
          <a:bodyPr wrap="square" rtlCol="0" anchor="t"/>
          <a:lstStyle/>
          <a:p>
            <a:pPr marL="0" indent="0" algn="l">
              <a:lnSpc>
                <a:spcPts val="2778"/>
              </a:lnSpc>
              <a:buNone/>
            </a:pPr>
            <a:r>
              <a:rPr lang="en-US" sz="1736" dirty="0">
                <a:solidFill>
                  <a:srgbClr val="E2E6E9"/>
                </a:solidFill>
                <a:latin typeface="Asar" pitchFamily="34" charset="0"/>
                <a:ea typeface="Asar" pitchFamily="34" charset="-122"/>
                <a:cs typeface="Asar" pitchFamily="34" charset="-120"/>
              </a:rPr>
              <a:t>Limitations on e-commerce platforms blocking access or discriminating based on customer location.</a:t>
            </a:r>
            <a:endParaRPr lang="en-US" sz="1736"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9151A">
              <a:alpha val="75000"/>
            </a:srgbClr>
          </a:solidFill>
          <a:ln/>
        </p:spPr>
      </p:sp>
      <p:sp>
        <p:nvSpPr>
          <p:cNvPr id="4" name="Text 1"/>
          <p:cNvSpPr/>
          <p:nvPr/>
        </p:nvSpPr>
        <p:spPr>
          <a:xfrm>
            <a:off x="863798" y="1177871"/>
            <a:ext cx="11498104" cy="771287"/>
          </a:xfrm>
          <a:prstGeom prst="rect">
            <a:avLst/>
          </a:prstGeom>
          <a:noFill/>
          <a:ln/>
        </p:spPr>
        <p:txBody>
          <a:bodyPr wrap="none" rtlCol="0" anchor="t"/>
          <a:lstStyle/>
          <a:p>
            <a:pPr marL="0" indent="0">
              <a:lnSpc>
                <a:spcPts val="6074"/>
              </a:lnSpc>
              <a:buNone/>
            </a:pPr>
            <a:r>
              <a:rPr lang="en-US" sz="4859" u="sng" dirty="0">
                <a:solidFill>
                  <a:srgbClr val="F5F0F0"/>
                </a:solidFill>
                <a:latin typeface="Asar" pitchFamily="34" charset="0"/>
                <a:ea typeface="Asar" pitchFamily="34" charset="-122"/>
                <a:cs typeface="Asar" pitchFamily="34" charset="-120"/>
              </a:rPr>
              <a:t>Emerging Trends and Future Considerations</a:t>
            </a:r>
            <a:endParaRPr lang="en-US" sz="4859" u="sng" dirty="0"/>
          </a:p>
        </p:txBody>
      </p:sp>
      <p:sp>
        <p:nvSpPr>
          <p:cNvPr id="5" name="Text 2"/>
          <p:cNvSpPr/>
          <p:nvPr/>
        </p:nvSpPr>
        <p:spPr>
          <a:xfrm>
            <a:off x="863798" y="3592116"/>
            <a:ext cx="3388162" cy="385524"/>
          </a:xfrm>
          <a:prstGeom prst="rect">
            <a:avLst/>
          </a:prstGeom>
          <a:noFill/>
          <a:ln/>
        </p:spPr>
        <p:txBody>
          <a:bodyPr wrap="none" rtlCol="0" anchor="t"/>
          <a:lstStyle/>
          <a:p>
            <a:pPr marL="0" indent="0">
              <a:lnSpc>
                <a:spcPts val="3037"/>
              </a:lnSpc>
              <a:buNone/>
            </a:pPr>
            <a:r>
              <a:rPr lang="en-US" sz="2429" dirty="0">
                <a:solidFill>
                  <a:srgbClr val="F5F0F0"/>
                </a:solidFill>
                <a:latin typeface="Asar" pitchFamily="34" charset="0"/>
                <a:ea typeface="Asar" pitchFamily="34" charset="-122"/>
                <a:cs typeface="Asar" pitchFamily="34" charset="-120"/>
              </a:rPr>
              <a:t>AI-Driven Personalization</a:t>
            </a:r>
            <a:endParaRPr lang="en-US" sz="2429" dirty="0"/>
          </a:p>
        </p:txBody>
      </p:sp>
      <p:sp>
        <p:nvSpPr>
          <p:cNvPr id="6" name="Text 3"/>
          <p:cNvSpPr/>
          <p:nvPr/>
        </p:nvSpPr>
        <p:spPr>
          <a:xfrm>
            <a:off x="863798" y="4224457"/>
            <a:ext cx="3898940" cy="1184434"/>
          </a:xfrm>
          <a:prstGeom prst="rect">
            <a:avLst/>
          </a:prstGeom>
          <a:noFill/>
          <a:ln/>
        </p:spPr>
        <p:txBody>
          <a:bodyPr wrap="square" rtlCol="0" anchor="t"/>
          <a:lstStyle/>
          <a:p>
            <a:pPr marL="0" indent="0">
              <a:lnSpc>
                <a:spcPts val="3110"/>
              </a:lnSpc>
              <a:buNone/>
            </a:pPr>
            <a:r>
              <a:rPr lang="en-US" sz="1944" dirty="0">
                <a:solidFill>
                  <a:srgbClr val="E2E6E9"/>
                </a:solidFill>
                <a:latin typeface="Asar" pitchFamily="34" charset="0"/>
                <a:ea typeface="Asar" pitchFamily="34" charset="-122"/>
                <a:cs typeface="Asar" pitchFamily="34" charset="-120"/>
              </a:rPr>
              <a:t>Increased use of machine learning to tailor online shopping experiences and target marketing.</a:t>
            </a:r>
            <a:endParaRPr lang="en-US" sz="1944" dirty="0"/>
          </a:p>
        </p:txBody>
      </p:sp>
      <p:sp>
        <p:nvSpPr>
          <p:cNvPr id="7" name="Text 4"/>
          <p:cNvSpPr/>
          <p:nvPr/>
        </p:nvSpPr>
        <p:spPr>
          <a:xfrm>
            <a:off x="5372576" y="3592116"/>
            <a:ext cx="3734991" cy="385524"/>
          </a:xfrm>
          <a:prstGeom prst="rect">
            <a:avLst/>
          </a:prstGeom>
          <a:noFill/>
          <a:ln/>
        </p:spPr>
        <p:txBody>
          <a:bodyPr wrap="none" rtlCol="0" anchor="t"/>
          <a:lstStyle/>
          <a:p>
            <a:pPr marL="0" indent="0">
              <a:lnSpc>
                <a:spcPts val="3037"/>
              </a:lnSpc>
              <a:buNone/>
            </a:pPr>
            <a:r>
              <a:rPr lang="en-US" sz="2429" dirty="0">
                <a:solidFill>
                  <a:srgbClr val="F5F0F0"/>
                </a:solidFill>
                <a:latin typeface="Asar" pitchFamily="34" charset="0"/>
                <a:ea typeface="Asar" pitchFamily="34" charset="-122"/>
                <a:cs typeface="Asar" pitchFamily="34" charset="-120"/>
              </a:rPr>
              <a:t>Blockchain for Transparency</a:t>
            </a:r>
            <a:endParaRPr lang="en-US" sz="2429" dirty="0"/>
          </a:p>
        </p:txBody>
      </p:sp>
      <p:sp>
        <p:nvSpPr>
          <p:cNvPr id="8" name="Text 5"/>
          <p:cNvSpPr/>
          <p:nvPr/>
        </p:nvSpPr>
        <p:spPr>
          <a:xfrm>
            <a:off x="5372576" y="4224457"/>
            <a:ext cx="3898940" cy="1579245"/>
          </a:xfrm>
          <a:prstGeom prst="rect">
            <a:avLst/>
          </a:prstGeom>
          <a:noFill/>
          <a:ln/>
        </p:spPr>
        <p:txBody>
          <a:bodyPr wrap="square" rtlCol="0" anchor="t"/>
          <a:lstStyle/>
          <a:p>
            <a:pPr marL="0" indent="0">
              <a:lnSpc>
                <a:spcPts val="3110"/>
              </a:lnSpc>
              <a:buNone/>
            </a:pPr>
            <a:r>
              <a:rPr lang="en-US" sz="1944" dirty="0">
                <a:solidFill>
                  <a:srgbClr val="E2E6E9"/>
                </a:solidFill>
                <a:latin typeface="Asar" pitchFamily="34" charset="0"/>
                <a:ea typeface="Asar" pitchFamily="34" charset="-122"/>
                <a:cs typeface="Asar" pitchFamily="34" charset="-120"/>
              </a:rPr>
              <a:t>Leveraging decentralized ledger technology to enhance supply chain traceability and financial transparency.</a:t>
            </a:r>
            <a:endParaRPr lang="en-US" sz="1944" dirty="0"/>
          </a:p>
        </p:txBody>
      </p:sp>
      <p:sp>
        <p:nvSpPr>
          <p:cNvPr id="9" name="Text 6"/>
          <p:cNvSpPr/>
          <p:nvPr/>
        </p:nvSpPr>
        <p:spPr>
          <a:xfrm>
            <a:off x="9881354" y="3592116"/>
            <a:ext cx="3095744" cy="385524"/>
          </a:xfrm>
          <a:prstGeom prst="rect">
            <a:avLst/>
          </a:prstGeom>
          <a:noFill/>
          <a:ln/>
        </p:spPr>
        <p:txBody>
          <a:bodyPr wrap="none" rtlCol="0" anchor="t"/>
          <a:lstStyle/>
          <a:p>
            <a:pPr marL="0" indent="0">
              <a:lnSpc>
                <a:spcPts val="3037"/>
              </a:lnSpc>
              <a:buNone/>
            </a:pPr>
            <a:r>
              <a:rPr lang="en-US" sz="2429" dirty="0">
                <a:solidFill>
                  <a:srgbClr val="F5F0F0"/>
                </a:solidFill>
                <a:latin typeface="Asar" pitchFamily="34" charset="0"/>
                <a:ea typeface="Asar" pitchFamily="34" charset="-122"/>
                <a:cs typeface="Asar" pitchFamily="34" charset="-120"/>
              </a:rPr>
              <a:t>Sustainability Mandates</a:t>
            </a:r>
            <a:endParaRPr lang="en-US" sz="2429" dirty="0"/>
          </a:p>
        </p:txBody>
      </p:sp>
      <p:sp>
        <p:nvSpPr>
          <p:cNvPr id="10" name="Text 7"/>
          <p:cNvSpPr/>
          <p:nvPr/>
        </p:nvSpPr>
        <p:spPr>
          <a:xfrm>
            <a:off x="9881354" y="4224457"/>
            <a:ext cx="3898940" cy="1579245"/>
          </a:xfrm>
          <a:prstGeom prst="rect">
            <a:avLst/>
          </a:prstGeom>
          <a:noFill/>
          <a:ln/>
        </p:spPr>
        <p:txBody>
          <a:bodyPr wrap="square" rtlCol="0" anchor="t"/>
          <a:lstStyle/>
          <a:p>
            <a:pPr marL="0" indent="0">
              <a:lnSpc>
                <a:spcPts val="3110"/>
              </a:lnSpc>
              <a:buNone/>
            </a:pPr>
            <a:r>
              <a:rPr lang="en-US" sz="1944" dirty="0">
                <a:solidFill>
                  <a:srgbClr val="E2E6E9"/>
                </a:solidFill>
                <a:latin typeface="Asar" pitchFamily="34" charset="0"/>
                <a:ea typeface="Asar" pitchFamily="34" charset="-122"/>
                <a:cs typeface="Asar" pitchFamily="34" charset="-120"/>
              </a:rPr>
              <a:t>Growing regulatory pressure to reduce the environmental impact of e-commerce operations and logistics.</a:t>
            </a:r>
            <a:endParaRPr lang="en-US" sz="1944"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9151A">
              <a:alpha val="75000"/>
            </a:srgbClr>
          </a:solidFill>
          <a:ln/>
        </p:spPr>
      </p:sp>
      <p:sp>
        <p:nvSpPr>
          <p:cNvPr id="4" name="Text 1"/>
          <p:cNvSpPr/>
          <p:nvPr/>
        </p:nvSpPr>
        <p:spPr>
          <a:xfrm>
            <a:off x="3870470" y="6633275"/>
            <a:ext cx="6528894" cy="1007389"/>
          </a:xfrm>
          <a:prstGeom prst="rect">
            <a:avLst/>
          </a:prstGeom>
          <a:noFill/>
          <a:ln/>
        </p:spPr>
        <p:txBody>
          <a:bodyPr wrap="none" rtlCol="0" anchor="t"/>
          <a:lstStyle/>
          <a:p>
            <a:pPr marL="0" indent="0">
              <a:lnSpc>
                <a:spcPts val="6074"/>
              </a:lnSpc>
              <a:buNone/>
            </a:pPr>
            <a:r>
              <a:rPr lang="en-US" sz="7200" dirty="0" smtClean="0">
                <a:solidFill>
                  <a:srgbClr val="F5F0F0"/>
                </a:solidFill>
                <a:latin typeface="MV Boli" pitchFamily="2" charset="0"/>
                <a:ea typeface="Asar" pitchFamily="34" charset="-122"/>
                <a:cs typeface="MV Boli" pitchFamily="2" charset="0"/>
              </a:rPr>
              <a:t>THANK YOU </a:t>
            </a:r>
            <a:endParaRPr lang="en-US" sz="7200" dirty="0">
              <a:latin typeface="MV Boli" pitchFamily="2" charset="0"/>
              <a:cs typeface="MV Boli" pitchFamily="2" charset="0"/>
            </a:endParaRPr>
          </a:p>
        </p:txBody>
      </p:sp>
      <p:sp>
        <p:nvSpPr>
          <p:cNvPr id="11" name="TextBox 10"/>
          <p:cNvSpPr txBox="1"/>
          <p:nvPr/>
        </p:nvSpPr>
        <p:spPr>
          <a:xfrm>
            <a:off x="697424" y="1286359"/>
            <a:ext cx="13932976" cy="4524315"/>
          </a:xfrm>
          <a:prstGeom prst="rect">
            <a:avLst/>
          </a:prstGeom>
          <a:noFill/>
        </p:spPr>
        <p:txBody>
          <a:bodyPr wrap="square" rtlCol="0">
            <a:spAutoFit/>
          </a:bodyPr>
          <a:lstStyle/>
          <a:p>
            <a:r>
              <a:rPr lang="en-US" sz="2400" b="1" u="sng" dirty="0" smtClean="0">
                <a:solidFill>
                  <a:schemeClr val="bg1"/>
                </a:solidFill>
              </a:rPr>
              <a:t>Key Points</a:t>
            </a:r>
            <a:r>
              <a:rPr lang="en-US" sz="2400" b="1" dirty="0" smtClean="0">
                <a:solidFill>
                  <a:schemeClr val="bg1"/>
                </a:solidFill>
              </a:rPr>
              <a:t>:</a:t>
            </a:r>
          </a:p>
          <a:p>
            <a:endParaRPr lang="en-US" sz="2400" dirty="0" smtClean="0">
              <a:solidFill>
                <a:schemeClr val="bg1"/>
              </a:solidFill>
            </a:endParaRPr>
          </a:p>
          <a:p>
            <a:pPr>
              <a:buFont typeface="Arial" pitchFamily="34" charset="0"/>
              <a:buChar char="•"/>
            </a:pPr>
            <a:r>
              <a:rPr lang="en-US" sz="2400" dirty="0" smtClean="0">
                <a:solidFill>
                  <a:schemeClr val="bg1"/>
                </a:solidFill>
              </a:rPr>
              <a:t>E-commerce requires robust regulations to ensure fair trade, consumer protection, and data security.</a:t>
            </a:r>
          </a:p>
          <a:p>
            <a:pPr>
              <a:buFont typeface="Arial" pitchFamily="34" charset="0"/>
              <a:buChar char="•"/>
            </a:pPr>
            <a:r>
              <a:rPr lang="en-US" sz="2400" dirty="0" smtClean="0">
                <a:solidFill>
                  <a:schemeClr val="bg1"/>
                </a:solidFill>
              </a:rPr>
              <a:t>Regulatory frameworks differ globally, regionally, and nationally, posing challenges and opportunities.</a:t>
            </a:r>
          </a:p>
          <a:p>
            <a:pPr>
              <a:buFont typeface="Arial" pitchFamily="34" charset="0"/>
              <a:buChar char="•"/>
            </a:pPr>
            <a:r>
              <a:rPr lang="en-US" sz="2400" dirty="0" smtClean="0">
                <a:solidFill>
                  <a:schemeClr val="bg1"/>
                </a:solidFill>
              </a:rPr>
              <a:t>Effective regulation builds trust and promotes innovation in the digital marketplace.</a:t>
            </a:r>
          </a:p>
          <a:p>
            <a:endParaRPr lang="en-US" sz="2400" dirty="0" smtClean="0">
              <a:solidFill>
                <a:schemeClr val="bg1"/>
              </a:solidFill>
            </a:endParaRPr>
          </a:p>
          <a:p>
            <a:r>
              <a:rPr lang="en-US" sz="2400" b="1" u="sng" dirty="0" smtClean="0">
                <a:solidFill>
                  <a:schemeClr val="bg1"/>
                </a:solidFill>
              </a:rPr>
              <a:t>Future Considerations:</a:t>
            </a:r>
          </a:p>
          <a:p>
            <a:endParaRPr lang="en-US" sz="2400" u="sng" dirty="0" smtClean="0">
              <a:solidFill>
                <a:schemeClr val="bg1"/>
              </a:solidFill>
            </a:endParaRPr>
          </a:p>
          <a:p>
            <a:pPr>
              <a:buFont typeface="Arial" pitchFamily="34" charset="0"/>
              <a:buChar char="•"/>
            </a:pPr>
            <a:r>
              <a:rPr lang="en-US" sz="2400" dirty="0" smtClean="0">
                <a:solidFill>
                  <a:schemeClr val="bg1"/>
                </a:solidFill>
              </a:rPr>
              <a:t>Regulations must evolve to address new trends like AI, block chain, and sustainability.</a:t>
            </a:r>
          </a:p>
          <a:p>
            <a:pPr>
              <a:buFont typeface="Arial" pitchFamily="34" charset="0"/>
              <a:buChar char="•"/>
            </a:pPr>
            <a:r>
              <a:rPr lang="en-US" sz="2400" dirty="0" smtClean="0">
                <a:solidFill>
                  <a:schemeClr val="bg1"/>
                </a:solidFill>
              </a:rPr>
              <a:t>Collaboration between governments, businesses, and international bodies is vital for future regulatory development.</a:t>
            </a:r>
          </a:p>
          <a:p>
            <a:endParaRPr lang="en-US" sz="2400" dirty="0">
              <a:solidFill>
                <a:schemeClr val="bg1"/>
              </a:solidFill>
            </a:endParaRPr>
          </a:p>
        </p:txBody>
      </p:sp>
      <p:sp>
        <p:nvSpPr>
          <p:cNvPr id="12" name="TextBox 11"/>
          <p:cNvSpPr txBox="1"/>
          <p:nvPr/>
        </p:nvSpPr>
        <p:spPr>
          <a:xfrm>
            <a:off x="4353364" y="294468"/>
            <a:ext cx="3940374" cy="794513"/>
          </a:xfrm>
          <a:prstGeom prst="rect">
            <a:avLst/>
          </a:prstGeom>
          <a:noFill/>
        </p:spPr>
        <p:txBody>
          <a:bodyPr wrap="none" rtlCol="0">
            <a:spAutoFit/>
          </a:bodyPr>
          <a:lstStyle/>
          <a:p>
            <a:pPr algn="ctr">
              <a:lnSpc>
                <a:spcPts val="5426"/>
              </a:lnSpc>
            </a:pPr>
            <a:r>
              <a:rPr lang="en-US" sz="5400" u="sng" dirty="0" smtClean="0">
                <a:solidFill>
                  <a:schemeClr val="bg1"/>
                </a:solidFill>
              </a:rPr>
              <a:t>CONCLUSION</a:t>
            </a:r>
            <a:endParaRPr lang="en-US" sz="5400" u="sng" dirty="0">
              <a:solidFill>
                <a:schemeClr val="bg1"/>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TotalTime>
  <Words>717</Words>
  <Application>Microsoft Office PowerPoint</Application>
  <PresentationFormat>Custom</PresentationFormat>
  <Paragraphs>100</Paragraphs>
  <Slides>10</Slides>
  <Notes>10</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Rishuraj</cp:lastModifiedBy>
  <cp:revision>5</cp:revision>
  <dcterms:created xsi:type="dcterms:W3CDTF">2024-08-12T16:21:27Z</dcterms:created>
  <dcterms:modified xsi:type="dcterms:W3CDTF">2025-03-25T04:20:00Z</dcterms:modified>
</cp:coreProperties>
</file>